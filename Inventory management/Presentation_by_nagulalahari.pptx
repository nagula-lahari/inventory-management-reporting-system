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3152"/>
            <a:ext cx="9144000" cy="5070475"/>
          </a:xfrm>
          <a:custGeom>
            <a:avLst/>
            <a:gdLst/>
            <a:ahLst/>
            <a:cxnLst/>
            <a:rect l="l" t="t" r="r" b="b"/>
            <a:pathLst>
              <a:path w="9144000" h="5070475">
                <a:moveTo>
                  <a:pt x="0" y="5070347"/>
                </a:moveTo>
                <a:lnTo>
                  <a:pt x="9144000" y="5070347"/>
                </a:lnTo>
                <a:lnTo>
                  <a:pt x="9144000" y="0"/>
                </a:lnTo>
                <a:lnTo>
                  <a:pt x="0" y="0"/>
                </a:lnTo>
                <a:lnTo>
                  <a:pt x="0" y="5070347"/>
                </a:lnTo>
                <a:close/>
              </a:path>
            </a:pathLst>
          </a:custGeom>
          <a:solidFill>
            <a:srgbClr val="EE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"/>
            <a:ext cx="9144000" cy="73660"/>
          </a:xfrm>
          <a:custGeom>
            <a:avLst/>
            <a:gdLst/>
            <a:ahLst/>
            <a:cxnLst/>
            <a:rect l="l" t="t" r="r" b="b"/>
            <a:pathLst>
              <a:path w="9144000" h="73660">
                <a:moveTo>
                  <a:pt x="9144000" y="0"/>
                </a:moveTo>
                <a:lnTo>
                  <a:pt x="0" y="0"/>
                </a:lnTo>
                <a:lnTo>
                  <a:pt x="0" y="73150"/>
                </a:lnTo>
                <a:lnTo>
                  <a:pt x="9144000" y="73150"/>
                </a:lnTo>
                <a:lnTo>
                  <a:pt x="9144000" y="0"/>
                </a:lnTo>
                <a:close/>
              </a:path>
            </a:pathLst>
          </a:custGeom>
          <a:solidFill>
            <a:srgbClr val="0891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"/>
            <a:ext cx="9144000" cy="73660"/>
          </a:xfrm>
          <a:custGeom>
            <a:avLst/>
            <a:gdLst/>
            <a:ahLst/>
            <a:cxnLst/>
            <a:rect l="l" t="t" r="r" b="b"/>
            <a:pathLst>
              <a:path w="9144000" h="73660">
                <a:moveTo>
                  <a:pt x="0" y="73150"/>
                </a:moveTo>
                <a:lnTo>
                  <a:pt x="9144000" y="73150"/>
                </a:lnTo>
                <a:lnTo>
                  <a:pt x="9144000" y="0"/>
                </a:lnTo>
                <a:lnTo>
                  <a:pt x="0" y="0"/>
                </a:lnTo>
                <a:lnTo>
                  <a:pt x="0" y="73150"/>
                </a:lnTo>
                <a:close/>
              </a:path>
            </a:pathLst>
          </a:custGeom>
          <a:ln w="12699">
            <a:solidFill>
              <a:srgbClr val="0891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95" y="181432"/>
            <a:ext cx="3536315" cy="422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66975" y="1260728"/>
            <a:ext cx="4552950" cy="1440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0"/>
            <a:ext cx="9150350" cy="5156200"/>
            <a:chOff x="0" y="-6350"/>
            <a:chExt cx="9150350" cy="5156200"/>
          </a:xfrm>
        </p:grpSpPr>
        <p:sp>
          <p:nvSpPr>
            <p:cNvPr id="3" name="object 3"/>
            <p:cNvSpPr/>
            <p:nvPr/>
          </p:nvSpPr>
          <p:spPr>
            <a:xfrm>
              <a:off x="6350" y="0"/>
              <a:ext cx="9137650" cy="4331970"/>
            </a:xfrm>
            <a:custGeom>
              <a:avLst/>
              <a:gdLst/>
              <a:ahLst/>
              <a:cxnLst/>
              <a:rect l="l" t="t" r="r" b="b"/>
              <a:pathLst>
                <a:path w="9137650" h="4331970">
                  <a:moveTo>
                    <a:pt x="0" y="0"/>
                  </a:moveTo>
                  <a:lnTo>
                    <a:pt x="0" y="4331970"/>
                  </a:lnTo>
                  <a:lnTo>
                    <a:pt x="9137650" y="4331970"/>
                  </a:lnTo>
                  <a:lnTo>
                    <a:pt x="91376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50" y="4331968"/>
              <a:ext cx="9137650" cy="811530"/>
            </a:xfrm>
            <a:custGeom>
              <a:avLst/>
              <a:gdLst/>
              <a:ahLst/>
              <a:cxnLst/>
              <a:rect l="l" t="t" r="r" b="b"/>
              <a:pathLst>
                <a:path w="9137650" h="811529">
                  <a:moveTo>
                    <a:pt x="9137650" y="0"/>
                  </a:moveTo>
                  <a:lnTo>
                    <a:pt x="0" y="0"/>
                  </a:lnTo>
                  <a:lnTo>
                    <a:pt x="0" y="811531"/>
                  </a:lnTo>
                  <a:lnTo>
                    <a:pt x="9137649" y="811530"/>
                  </a:lnTo>
                  <a:lnTo>
                    <a:pt x="9137650" y="0"/>
                  </a:lnTo>
                  <a:close/>
                </a:path>
              </a:pathLst>
            </a:custGeom>
            <a:solidFill>
              <a:srgbClr val="0915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0" y="4331968"/>
              <a:ext cx="9137650" cy="811530"/>
            </a:xfrm>
            <a:custGeom>
              <a:avLst/>
              <a:gdLst/>
              <a:ahLst/>
              <a:cxnLst/>
              <a:rect l="l" t="t" r="r" b="b"/>
              <a:pathLst>
                <a:path w="9137650" h="811529">
                  <a:moveTo>
                    <a:pt x="9137650" y="0"/>
                  </a:moveTo>
                  <a:lnTo>
                    <a:pt x="0" y="0"/>
                  </a:lnTo>
                  <a:lnTo>
                    <a:pt x="0" y="811531"/>
                  </a:lnTo>
                  <a:lnTo>
                    <a:pt x="9137649" y="811530"/>
                  </a:lnTo>
                </a:path>
              </a:pathLst>
            </a:custGeom>
            <a:ln w="12698">
              <a:solidFill>
                <a:srgbClr val="0915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74540" y="0"/>
              <a:ext cx="45720" cy="4331970"/>
            </a:xfrm>
            <a:custGeom>
              <a:avLst/>
              <a:gdLst/>
              <a:ahLst/>
              <a:cxnLst/>
              <a:rect l="l" t="t" r="r" b="b"/>
              <a:pathLst>
                <a:path w="45720" h="4331970">
                  <a:moveTo>
                    <a:pt x="45718" y="0"/>
                  </a:moveTo>
                  <a:lnTo>
                    <a:pt x="0" y="0"/>
                  </a:lnTo>
                  <a:lnTo>
                    <a:pt x="0" y="4331970"/>
                  </a:lnTo>
                  <a:lnTo>
                    <a:pt x="45718" y="4331970"/>
                  </a:lnTo>
                  <a:lnTo>
                    <a:pt x="45718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74540" y="0"/>
              <a:ext cx="45720" cy="4331970"/>
            </a:xfrm>
            <a:custGeom>
              <a:avLst/>
              <a:gdLst/>
              <a:ahLst/>
              <a:cxnLst/>
              <a:rect l="l" t="t" r="r" b="b"/>
              <a:pathLst>
                <a:path w="45720" h="4331970">
                  <a:moveTo>
                    <a:pt x="0" y="4331970"/>
                  </a:moveTo>
                  <a:lnTo>
                    <a:pt x="45718" y="4331970"/>
                  </a:lnTo>
                  <a:lnTo>
                    <a:pt x="45718" y="0"/>
                  </a:lnTo>
                  <a:lnTo>
                    <a:pt x="0" y="0"/>
                  </a:lnTo>
                  <a:lnTo>
                    <a:pt x="0" y="433197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9426" y="45719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600" y="0"/>
                  </a:moveTo>
                  <a:lnTo>
                    <a:pt x="1323467" y="888"/>
                  </a:lnTo>
                  <a:lnTo>
                    <a:pt x="1275715" y="3301"/>
                  </a:lnTo>
                  <a:lnTo>
                    <a:pt x="1228471" y="7365"/>
                  </a:lnTo>
                  <a:lnTo>
                    <a:pt x="1181607" y="13080"/>
                  </a:lnTo>
                  <a:lnTo>
                    <a:pt x="1135252" y="20319"/>
                  </a:lnTo>
                  <a:lnTo>
                    <a:pt x="1089405" y="29082"/>
                  </a:lnTo>
                  <a:lnTo>
                    <a:pt x="1044194" y="39242"/>
                  </a:lnTo>
                  <a:lnTo>
                    <a:pt x="999617" y="51053"/>
                  </a:lnTo>
                  <a:lnTo>
                    <a:pt x="955548" y="64262"/>
                  </a:lnTo>
                  <a:lnTo>
                    <a:pt x="912114" y="78866"/>
                  </a:lnTo>
                  <a:lnTo>
                    <a:pt x="869315" y="94868"/>
                  </a:lnTo>
                  <a:lnTo>
                    <a:pt x="827277" y="112267"/>
                  </a:lnTo>
                  <a:lnTo>
                    <a:pt x="785876" y="130937"/>
                  </a:lnTo>
                  <a:lnTo>
                    <a:pt x="745235" y="151002"/>
                  </a:lnTo>
                  <a:lnTo>
                    <a:pt x="705484" y="172338"/>
                  </a:lnTo>
                  <a:lnTo>
                    <a:pt x="666369" y="194944"/>
                  </a:lnTo>
                  <a:lnTo>
                    <a:pt x="628142" y="218693"/>
                  </a:lnTo>
                  <a:lnTo>
                    <a:pt x="590803" y="243712"/>
                  </a:lnTo>
                  <a:lnTo>
                    <a:pt x="554354" y="270001"/>
                  </a:lnTo>
                  <a:lnTo>
                    <a:pt x="518668" y="297306"/>
                  </a:lnTo>
                  <a:lnTo>
                    <a:pt x="484124" y="325754"/>
                  </a:lnTo>
                  <a:lnTo>
                    <a:pt x="450342" y="355345"/>
                  </a:lnTo>
                  <a:lnTo>
                    <a:pt x="417702" y="385952"/>
                  </a:lnTo>
                  <a:lnTo>
                    <a:pt x="385952" y="417702"/>
                  </a:lnTo>
                  <a:lnTo>
                    <a:pt x="355346" y="450341"/>
                  </a:lnTo>
                  <a:lnTo>
                    <a:pt x="325754" y="484124"/>
                  </a:lnTo>
                  <a:lnTo>
                    <a:pt x="297306" y="518667"/>
                  </a:lnTo>
                  <a:lnTo>
                    <a:pt x="270001" y="554354"/>
                  </a:lnTo>
                  <a:lnTo>
                    <a:pt x="243713" y="590803"/>
                  </a:lnTo>
                  <a:lnTo>
                    <a:pt x="218694" y="628141"/>
                  </a:lnTo>
                  <a:lnTo>
                    <a:pt x="194945" y="666368"/>
                  </a:lnTo>
                  <a:lnTo>
                    <a:pt x="172338" y="705484"/>
                  </a:lnTo>
                  <a:lnTo>
                    <a:pt x="151002" y="745235"/>
                  </a:lnTo>
                  <a:lnTo>
                    <a:pt x="130937" y="785876"/>
                  </a:lnTo>
                  <a:lnTo>
                    <a:pt x="112268" y="827277"/>
                  </a:lnTo>
                  <a:lnTo>
                    <a:pt x="94869" y="869314"/>
                  </a:lnTo>
                  <a:lnTo>
                    <a:pt x="78866" y="912113"/>
                  </a:lnTo>
                  <a:lnTo>
                    <a:pt x="64262" y="955547"/>
                  </a:lnTo>
                  <a:lnTo>
                    <a:pt x="51053" y="999616"/>
                  </a:lnTo>
                  <a:lnTo>
                    <a:pt x="39243" y="1044193"/>
                  </a:lnTo>
                  <a:lnTo>
                    <a:pt x="29083" y="1089405"/>
                  </a:lnTo>
                  <a:lnTo>
                    <a:pt x="20320" y="1135252"/>
                  </a:lnTo>
                  <a:lnTo>
                    <a:pt x="13081" y="1181607"/>
                  </a:lnTo>
                  <a:lnTo>
                    <a:pt x="7365" y="1228470"/>
                  </a:lnTo>
                  <a:lnTo>
                    <a:pt x="3301" y="1275714"/>
                  </a:lnTo>
                  <a:lnTo>
                    <a:pt x="888" y="1323466"/>
                  </a:lnTo>
                  <a:lnTo>
                    <a:pt x="0" y="1371600"/>
                  </a:lnTo>
                  <a:lnTo>
                    <a:pt x="888" y="1419732"/>
                  </a:lnTo>
                  <a:lnTo>
                    <a:pt x="3301" y="1467484"/>
                  </a:lnTo>
                  <a:lnTo>
                    <a:pt x="7365" y="1514728"/>
                  </a:lnTo>
                  <a:lnTo>
                    <a:pt x="13081" y="1561591"/>
                  </a:lnTo>
                  <a:lnTo>
                    <a:pt x="20320" y="1607946"/>
                  </a:lnTo>
                  <a:lnTo>
                    <a:pt x="29083" y="1653666"/>
                  </a:lnTo>
                  <a:lnTo>
                    <a:pt x="39243" y="1699005"/>
                  </a:lnTo>
                  <a:lnTo>
                    <a:pt x="51053" y="1743582"/>
                  </a:lnTo>
                  <a:lnTo>
                    <a:pt x="64262" y="1787652"/>
                  </a:lnTo>
                  <a:lnTo>
                    <a:pt x="78866" y="1831085"/>
                  </a:lnTo>
                  <a:lnTo>
                    <a:pt x="94869" y="1873884"/>
                  </a:lnTo>
                  <a:lnTo>
                    <a:pt x="112268" y="1915921"/>
                  </a:lnTo>
                  <a:lnTo>
                    <a:pt x="130937" y="1957323"/>
                  </a:lnTo>
                  <a:lnTo>
                    <a:pt x="151002" y="1997963"/>
                  </a:lnTo>
                  <a:lnTo>
                    <a:pt x="172338" y="2037714"/>
                  </a:lnTo>
                  <a:lnTo>
                    <a:pt x="194945" y="2076830"/>
                  </a:lnTo>
                  <a:lnTo>
                    <a:pt x="218694" y="2115057"/>
                  </a:lnTo>
                  <a:lnTo>
                    <a:pt x="243713" y="2152396"/>
                  </a:lnTo>
                  <a:lnTo>
                    <a:pt x="270001" y="2188844"/>
                  </a:lnTo>
                  <a:lnTo>
                    <a:pt x="297306" y="2224531"/>
                  </a:lnTo>
                  <a:lnTo>
                    <a:pt x="325754" y="2259075"/>
                  </a:lnTo>
                  <a:lnTo>
                    <a:pt x="355346" y="2292857"/>
                  </a:lnTo>
                  <a:lnTo>
                    <a:pt x="385952" y="2325497"/>
                  </a:lnTo>
                  <a:lnTo>
                    <a:pt x="417702" y="2357247"/>
                  </a:lnTo>
                  <a:lnTo>
                    <a:pt x="450342" y="2387854"/>
                  </a:lnTo>
                  <a:lnTo>
                    <a:pt x="484124" y="2417444"/>
                  </a:lnTo>
                  <a:lnTo>
                    <a:pt x="518668" y="2445892"/>
                  </a:lnTo>
                  <a:lnTo>
                    <a:pt x="554354" y="2473197"/>
                  </a:lnTo>
                  <a:lnTo>
                    <a:pt x="590803" y="2499486"/>
                  </a:lnTo>
                  <a:lnTo>
                    <a:pt x="628142" y="2524505"/>
                  </a:lnTo>
                  <a:lnTo>
                    <a:pt x="666369" y="2548254"/>
                  </a:lnTo>
                  <a:lnTo>
                    <a:pt x="705484" y="2570860"/>
                  </a:lnTo>
                  <a:lnTo>
                    <a:pt x="745235" y="2592197"/>
                  </a:lnTo>
                  <a:lnTo>
                    <a:pt x="785876" y="2612262"/>
                  </a:lnTo>
                  <a:lnTo>
                    <a:pt x="827277" y="2630931"/>
                  </a:lnTo>
                  <a:lnTo>
                    <a:pt x="869315" y="2648330"/>
                  </a:lnTo>
                  <a:lnTo>
                    <a:pt x="912114" y="2664332"/>
                  </a:lnTo>
                  <a:lnTo>
                    <a:pt x="955548" y="2678937"/>
                  </a:lnTo>
                  <a:lnTo>
                    <a:pt x="999617" y="2692146"/>
                  </a:lnTo>
                  <a:lnTo>
                    <a:pt x="1044194" y="2703829"/>
                  </a:lnTo>
                  <a:lnTo>
                    <a:pt x="1089405" y="2714116"/>
                  </a:lnTo>
                  <a:lnTo>
                    <a:pt x="1135252" y="2722879"/>
                  </a:lnTo>
                  <a:lnTo>
                    <a:pt x="1181607" y="2730118"/>
                  </a:lnTo>
                  <a:lnTo>
                    <a:pt x="1228471" y="2735834"/>
                  </a:lnTo>
                  <a:lnTo>
                    <a:pt x="1275715" y="2739897"/>
                  </a:lnTo>
                  <a:lnTo>
                    <a:pt x="1323467" y="2742310"/>
                  </a:lnTo>
                  <a:lnTo>
                    <a:pt x="1371600" y="2743199"/>
                  </a:lnTo>
                  <a:lnTo>
                    <a:pt x="1419732" y="2742310"/>
                  </a:lnTo>
                  <a:lnTo>
                    <a:pt x="1467484" y="2739897"/>
                  </a:lnTo>
                  <a:lnTo>
                    <a:pt x="1514728" y="2735834"/>
                  </a:lnTo>
                  <a:lnTo>
                    <a:pt x="1561592" y="2730118"/>
                  </a:lnTo>
                  <a:lnTo>
                    <a:pt x="1607947" y="2722879"/>
                  </a:lnTo>
                  <a:lnTo>
                    <a:pt x="1653667" y="2714116"/>
                  </a:lnTo>
                  <a:lnTo>
                    <a:pt x="1698878" y="2703829"/>
                  </a:lnTo>
                  <a:lnTo>
                    <a:pt x="1743582" y="2692146"/>
                  </a:lnTo>
                  <a:lnTo>
                    <a:pt x="1787652" y="2678937"/>
                  </a:lnTo>
                  <a:lnTo>
                    <a:pt x="1831085" y="2664332"/>
                  </a:lnTo>
                  <a:lnTo>
                    <a:pt x="1873884" y="2648330"/>
                  </a:lnTo>
                  <a:lnTo>
                    <a:pt x="1915922" y="2630931"/>
                  </a:lnTo>
                  <a:lnTo>
                    <a:pt x="1957197" y="2612262"/>
                  </a:lnTo>
                  <a:lnTo>
                    <a:pt x="1997837" y="2592197"/>
                  </a:lnTo>
                  <a:lnTo>
                    <a:pt x="2037715" y="2570860"/>
                  </a:lnTo>
                  <a:lnTo>
                    <a:pt x="2076703" y="2548254"/>
                  </a:lnTo>
                  <a:lnTo>
                    <a:pt x="2114930" y="2524505"/>
                  </a:lnTo>
                  <a:lnTo>
                    <a:pt x="2152396" y="2499486"/>
                  </a:lnTo>
                  <a:lnTo>
                    <a:pt x="2188845" y="2473197"/>
                  </a:lnTo>
                  <a:lnTo>
                    <a:pt x="2224404" y="2445892"/>
                  </a:lnTo>
                  <a:lnTo>
                    <a:pt x="2259076" y="2417444"/>
                  </a:lnTo>
                  <a:lnTo>
                    <a:pt x="2292730" y="2387854"/>
                  </a:lnTo>
                  <a:lnTo>
                    <a:pt x="2325497" y="2357247"/>
                  </a:lnTo>
                  <a:lnTo>
                    <a:pt x="2357120" y="2325497"/>
                  </a:lnTo>
                  <a:lnTo>
                    <a:pt x="2387854" y="2292857"/>
                  </a:lnTo>
                  <a:lnTo>
                    <a:pt x="2417318" y="2259075"/>
                  </a:lnTo>
                  <a:lnTo>
                    <a:pt x="2445893" y="2224531"/>
                  </a:lnTo>
                  <a:lnTo>
                    <a:pt x="2473198" y="2188844"/>
                  </a:lnTo>
                  <a:lnTo>
                    <a:pt x="2499359" y="2152396"/>
                  </a:lnTo>
                  <a:lnTo>
                    <a:pt x="2524379" y="2115057"/>
                  </a:lnTo>
                  <a:lnTo>
                    <a:pt x="2548254" y="2076830"/>
                  </a:lnTo>
                  <a:lnTo>
                    <a:pt x="2570860" y="2037714"/>
                  </a:lnTo>
                  <a:lnTo>
                    <a:pt x="2592197" y="1997963"/>
                  </a:lnTo>
                  <a:lnTo>
                    <a:pt x="2612263" y="1957323"/>
                  </a:lnTo>
                  <a:lnTo>
                    <a:pt x="2630931" y="1915921"/>
                  </a:lnTo>
                  <a:lnTo>
                    <a:pt x="2648330" y="1873884"/>
                  </a:lnTo>
                  <a:lnTo>
                    <a:pt x="2664332" y="1831085"/>
                  </a:lnTo>
                  <a:lnTo>
                    <a:pt x="2678938" y="1787652"/>
                  </a:lnTo>
                  <a:lnTo>
                    <a:pt x="2692146" y="1743582"/>
                  </a:lnTo>
                  <a:lnTo>
                    <a:pt x="2703829" y="1699005"/>
                  </a:lnTo>
                  <a:lnTo>
                    <a:pt x="2714117" y="1653666"/>
                  </a:lnTo>
                  <a:lnTo>
                    <a:pt x="2722879" y="1607946"/>
                  </a:lnTo>
                  <a:lnTo>
                    <a:pt x="2730119" y="1561591"/>
                  </a:lnTo>
                  <a:lnTo>
                    <a:pt x="2735833" y="1514728"/>
                  </a:lnTo>
                  <a:lnTo>
                    <a:pt x="2739898" y="1467484"/>
                  </a:lnTo>
                  <a:lnTo>
                    <a:pt x="2742310" y="1419732"/>
                  </a:lnTo>
                  <a:lnTo>
                    <a:pt x="2743200" y="1371600"/>
                  </a:lnTo>
                  <a:lnTo>
                    <a:pt x="2742310" y="1323466"/>
                  </a:lnTo>
                  <a:lnTo>
                    <a:pt x="2739898" y="1275714"/>
                  </a:lnTo>
                  <a:lnTo>
                    <a:pt x="2735833" y="1228470"/>
                  </a:lnTo>
                  <a:lnTo>
                    <a:pt x="2730119" y="1181607"/>
                  </a:lnTo>
                  <a:lnTo>
                    <a:pt x="2722879" y="1135252"/>
                  </a:lnTo>
                  <a:lnTo>
                    <a:pt x="2714117" y="1089405"/>
                  </a:lnTo>
                  <a:lnTo>
                    <a:pt x="2703829" y="1044193"/>
                  </a:lnTo>
                  <a:lnTo>
                    <a:pt x="2692146" y="999616"/>
                  </a:lnTo>
                  <a:lnTo>
                    <a:pt x="2678938" y="955547"/>
                  </a:lnTo>
                  <a:lnTo>
                    <a:pt x="2664332" y="912113"/>
                  </a:lnTo>
                  <a:lnTo>
                    <a:pt x="2648330" y="869314"/>
                  </a:lnTo>
                  <a:lnTo>
                    <a:pt x="2630931" y="827277"/>
                  </a:lnTo>
                  <a:lnTo>
                    <a:pt x="2612263" y="785876"/>
                  </a:lnTo>
                  <a:lnTo>
                    <a:pt x="2592197" y="745235"/>
                  </a:lnTo>
                  <a:lnTo>
                    <a:pt x="2570860" y="705484"/>
                  </a:lnTo>
                  <a:lnTo>
                    <a:pt x="2548254" y="666368"/>
                  </a:lnTo>
                  <a:lnTo>
                    <a:pt x="2524379" y="628141"/>
                  </a:lnTo>
                  <a:lnTo>
                    <a:pt x="2499359" y="590803"/>
                  </a:lnTo>
                  <a:lnTo>
                    <a:pt x="2473198" y="554354"/>
                  </a:lnTo>
                  <a:lnTo>
                    <a:pt x="2445893" y="518667"/>
                  </a:lnTo>
                  <a:lnTo>
                    <a:pt x="2417318" y="484124"/>
                  </a:lnTo>
                  <a:lnTo>
                    <a:pt x="2387854" y="450341"/>
                  </a:lnTo>
                  <a:lnTo>
                    <a:pt x="2357120" y="417702"/>
                  </a:lnTo>
                  <a:lnTo>
                    <a:pt x="2325497" y="385952"/>
                  </a:lnTo>
                  <a:lnTo>
                    <a:pt x="2292730" y="355345"/>
                  </a:lnTo>
                  <a:lnTo>
                    <a:pt x="2259076" y="325754"/>
                  </a:lnTo>
                  <a:lnTo>
                    <a:pt x="2224404" y="297306"/>
                  </a:lnTo>
                  <a:lnTo>
                    <a:pt x="2188845" y="270001"/>
                  </a:lnTo>
                  <a:lnTo>
                    <a:pt x="2152396" y="243712"/>
                  </a:lnTo>
                  <a:lnTo>
                    <a:pt x="2114930" y="218693"/>
                  </a:lnTo>
                  <a:lnTo>
                    <a:pt x="2076703" y="194944"/>
                  </a:lnTo>
                  <a:lnTo>
                    <a:pt x="2037715" y="172338"/>
                  </a:lnTo>
                  <a:lnTo>
                    <a:pt x="1997837" y="151002"/>
                  </a:lnTo>
                  <a:lnTo>
                    <a:pt x="1957197" y="130937"/>
                  </a:lnTo>
                  <a:lnTo>
                    <a:pt x="1915922" y="112267"/>
                  </a:lnTo>
                  <a:lnTo>
                    <a:pt x="1873884" y="94868"/>
                  </a:lnTo>
                  <a:lnTo>
                    <a:pt x="1831085" y="78866"/>
                  </a:lnTo>
                  <a:lnTo>
                    <a:pt x="1787652" y="64262"/>
                  </a:lnTo>
                  <a:lnTo>
                    <a:pt x="1743582" y="51053"/>
                  </a:lnTo>
                  <a:lnTo>
                    <a:pt x="1698878" y="39242"/>
                  </a:lnTo>
                  <a:lnTo>
                    <a:pt x="1653667" y="29082"/>
                  </a:lnTo>
                  <a:lnTo>
                    <a:pt x="1607947" y="20319"/>
                  </a:lnTo>
                  <a:lnTo>
                    <a:pt x="1561592" y="13080"/>
                  </a:lnTo>
                  <a:lnTo>
                    <a:pt x="1514728" y="7365"/>
                  </a:lnTo>
                  <a:lnTo>
                    <a:pt x="1467484" y="3301"/>
                  </a:lnTo>
                  <a:lnTo>
                    <a:pt x="1419732" y="88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0D749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9426" y="45719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lnTo>
                    <a:pt x="888" y="1323466"/>
                  </a:lnTo>
                  <a:lnTo>
                    <a:pt x="3301" y="1275714"/>
                  </a:lnTo>
                  <a:lnTo>
                    <a:pt x="7365" y="1228470"/>
                  </a:lnTo>
                  <a:lnTo>
                    <a:pt x="13081" y="1181607"/>
                  </a:lnTo>
                  <a:lnTo>
                    <a:pt x="20320" y="1135252"/>
                  </a:lnTo>
                  <a:lnTo>
                    <a:pt x="29083" y="1089405"/>
                  </a:lnTo>
                  <a:lnTo>
                    <a:pt x="39243" y="1044193"/>
                  </a:lnTo>
                  <a:lnTo>
                    <a:pt x="51053" y="999616"/>
                  </a:lnTo>
                  <a:lnTo>
                    <a:pt x="64262" y="955547"/>
                  </a:lnTo>
                  <a:lnTo>
                    <a:pt x="78866" y="912113"/>
                  </a:lnTo>
                  <a:lnTo>
                    <a:pt x="94869" y="869314"/>
                  </a:lnTo>
                  <a:lnTo>
                    <a:pt x="112268" y="827277"/>
                  </a:lnTo>
                  <a:lnTo>
                    <a:pt x="130937" y="785876"/>
                  </a:lnTo>
                  <a:lnTo>
                    <a:pt x="151002" y="745235"/>
                  </a:lnTo>
                  <a:lnTo>
                    <a:pt x="172338" y="705484"/>
                  </a:lnTo>
                  <a:lnTo>
                    <a:pt x="194945" y="666368"/>
                  </a:lnTo>
                  <a:lnTo>
                    <a:pt x="218694" y="628141"/>
                  </a:lnTo>
                  <a:lnTo>
                    <a:pt x="243713" y="590803"/>
                  </a:lnTo>
                  <a:lnTo>
                    <a:pt x="270001" y="554354"/>
                  </a:lnTo>
                  <a:lnTo>
                    <a:pt x="297306" y="518667"/>
                  </a:lnTo>
                  <a:lnTo>
                    <a:pt x="325754" y="484124"/>
                  </a:lnTo>
                  <a:lnTo>
                    <a:pt x="355346" y="450341"/>
                  </a:lnTo>
                  <a:lnTo>
                    <a:pt x="385952" y="417702"/>
                  </a:lnTo>
                  <a:lnTo>
                    <a:pt x="417702" y="385952"/>
                  </a:lnTo>
                  <a:lnTo>
                    <a:pt x="450342" y="355345"/>
                  </a:lnTo>
                  <a:lnTo>
                    <a:pt x="484124" y="325754"/>
                  </a:lnTo>
                  <a:lnTo>
                    <a:pt x="518668" y="297306"/>
                  </a:lnTo>
                  <a:lnTo>
                    <a:pt x="554354" y="270001"/>
                  </a:lnTo>
                  <a:lnTo>
                    <a:pt x="590803" y="243712"/>
                  </a:lnTo>
                  <a:lnTo>
                    <a:pt x="628142" y="218693"/>
                  </a:lnTo>
                  <a:lnTo>
                    <a:pt x="666369" y="194944"/>
                  </a:lnTo>
                  <a:lnTo>
                    <a:pt x="705484" y="172338"/>
                  </a:lnTo>
                  <a:lnTo>
                    <a:pt x="745235" y="151002"/>
                  </a:lnTo>
                  <a:lnTo>
                    <a:pt x="785876" y="130937"/>
                  </a:lnTo>
                  <a:lnTo>
                    <a:pt x="827277" y="112267"/>
                  </a:lnTo>
                  <a:lnTo>
                    <a:pt x="869315" y="94868"/>
                  </a:lnTo>
                  <a:lnTo>
                    <a:pt x="912114" y="78866"/>
                  </a:lnTo>
                  <a:lnTo>
                    <a:pt x="955548" y="64262"/>
                  </a:lnTo>
                  <a:lnTo>
                    <a:pt x="999617" y="51053"/>
                  </a:lnTo>
                  <a:lnTo>
                    <a:pt x="1044194" y="39242"/>
                  </a:lnTo>
                  <a:lnTo>
                    <a:pt x="1089405" y="29082"/>
                  </a:lnTo>
                  <a:lnTo>
                    <a:pt x="1135252" y="20319"/>
                  </a:lnTo>
                  <a:lnTo>
                    <a:pt x="1181607" y="13080"/>
                  </a:lnTo>
                  <a:lnTo>
                    <a:pt x="1228471" y="7365"/>
                  </a:lnTo>
                  <a:lnTo>
                    <a:pt x="1275715" y="3301"/>
                  </a:lnTo>
                  <a:lnTo>
                    <a:pt x="1323467" y="888"/>
                  </a:lnTo>
                  <a:lnTo>
                    <a:pt x="1371600" y="0"/>
                  </a:lnTo>
                  <a:lnTo>
                    <a:pt x="1419732" y="888"/>
                  </a:lnTo>
                  <a:lnTo>
                    <a:pt x="1467484" y="3301"/>
                  </a:lnTo>
                  <a:lnTo>
                    <a:pt x="1514728" y="7365"/>
                  </a:lnTo>
                  <a:lnTo>
                    <a:pt x="1561592" y="13080"/>
                  </a:lnTo>
                  <a:lnTo>
                    <a:pt x="1607947" y="20319"/>
                  </a:lnTo>
                  <a:lnTo>
                    <a:pt x="1653667" y="29082"/>
                  </a:lnTo>
                  <a:lnTo>
                    <a:pt x="1698878" y="39242"/>
                  </a:lnTo>
                  <a:lnTo>
                    <a:pt x="1743582" y="51053"/>
                  </a:lnTo>
                  <a:lnTo>
                    <a:pt x="1787652" y="64262"/>
                  </a:lnTo>
                  <a:lnTo>
                    <a:pt x="1831085" y="78866"/>
                  </a:lnTo>
                  <a:lnTo>
                    <a:pt x="1873884" y="94868"/>
                  </a:lnTo>
                  <a:lnTo>
                    <a:pt x="1915922" y="112267"/>
                  </a:lnTo>
                  <a:lnTo>
                    <a:pt x="1957197" y="130937"/>
                  </a:lnTo>
                  <a:lnTo>
                    <a:pt x="1997837" y="151002"/>
                  </a:lnTo>
                  <a:lnTo>
                    <a:pt x="2037715" y="172338"/>
                  </a:lnTo>
                  <a:lnTo>
                    <a:pt x="2076703" y="194944"/>
                  </a:lnTo>
                  <a:lnTo>
                    <a:pt x="2114930" y="218693"/>
                  </a:lnTo>
                  <a:lnTo>
                    <a:pt x="2152396" y="243712"/>
                  </a:lnTo>
                  <a:lnTo>
                    <a:pt x="2188845" y="270001"/>
                  </a:lnTo>
                  <a:lnTo>
                    <a:pt x="2224404" y="297306"/>
                  </a:lnTo>
                  <a:lnTo>
                    <a:pt x="2259076" y="325754"/>
                  </a:lnTo>
                  <a:lnTo>
                    <a:pt x="2292730" y="355345"/>
                  </a:lnTo>
                  <a:lnTo>
                    <a:pt x="2325497" y="385952"/>
                  </a:lnTo>
                  <a:lnTo>
                    <a:pt x="2357120" y="417702"/>
                  </a:lnTo>
                  <a:lnTo>
                    <a:pt x="2387854" y="450341"/>
                  </a:lnTo>
                  <a:lnTo>
                    <a:pt x="2417318" y="484124"/>
                  </a:lnTo>
                  <a:lnTo>
                    <a:pt x="2445893" y="518667"/>
                  </a:lnTo>
                  <a:lnTo>
                    <a:pt x="2473198" y="554354"/>
                  </a:lnTo>
                  <a:lnTo>
                    <a:pt x="2499359" y="590803"/>
                  </a:lnTo>
                  <a:lnTo>
                    <a:pt x="2524379" y="628141"/>
                  </a:lnTo>
                  <a:lnTo>
                    <a:pt x="2548254" y="666368"/>
                  </a:lnTo>
                  <a:lnTo>
                    <a:pt x="2570860" y="705484"/>
                  </a:lnTo>
                  <a:lnTo>
                    <a:pt x="2592197" y="745235"/>
                  </a:lnTo>
                  <a:lnTo>
                    <a:pt x="2612263" y="785876"/>
                  </a:lnTo>
                  <a:lnTo>
                    <a:pt x="2630931" y="827277"/>
                  </a:lnTo>
                  <a:lnTo>
                    <a:pt x="2648330" y="869314"/>
                  </a:lnTo>
                  <a:lnTo>
                    <a:pt x="2664332" y="912113"/>
                  </a:lnTo>
                  <a:lnTo>
                    <a:pt x="2678938" y="955547"/>
                  </a:lnTo>
                  <a:lnTo>
                    <a:pt x="2692146" y="999616"/>
                  </a:lnTo>
                  <a:lnTo>
                    <a:pt x="2703829" y="1044193"/>
                  </a:lnTo>
                  <a:lnTo>
                    <a:pt x="2714117" y="1089405"/>
                  </a:lnTo>
                  <a:lnTo>
                    <a:pt x="2722879" y="1135252"/>
                  </a:lnTo>
                  <a:lnTo>
                    <a:pt x="2730119" y="1181607"/>
                  </a:lnTo>
                  <a:lnTo>
                    <a:pt x="2735833" y="1228470"/>
                  </a:lnTo>
                  <a:lnTo>
                    <a:pt x="2739898" y="1275714"/>
                  </a:lnTo>
                  <a:lnTo>
                    <a:pt x="2742310" y="1323466"/>
                  </a:lnTo>
                  <a:lnTo>
                    <a:pt x="2743200" y="1371600"/>
                  </a:lnTo>
                  <a:lnTo>
                    <a:pt x="2742310" y="1419732"/>
                  </a:lnTo>
                  <a:lnTo>
                    <a:pt x="2739898" y="1467484"/>
                  </a:lnTo>
                  <a:lnTo>
                    <a:pt x="2735833" y="1514728"/>
                  </a:lnTo>
                  <a:lnTo>
                    <a:pt x="2730119" y="1561591"/>
                  </a:lnTo>
                  <a:lnTo>
                    <a:pt x="2722879" y="1607946"/>
                  </a:lnTo>
                  <a:lnTo>
                    <a:pt x="2714117" y="1653666"/>
                  </a:lnTo>
                  <a:lnTo>
                    <a:pt x="2703829" y="1699005"/>
                  </a:lnTo>
                  <a:lnTo>
                    <a:pt x="2692146" y="1743582"/>
                  </a:lnTo>
                  <a:lnTo>
                    <a:pt x="2678938" y="1787652"/>
                  </a:lnTo>
                  <a:lnTo>
                    <a:pt x="2664332" y="1831085"/>
                  </a:lnTo>
                  <a:lnTo>
                    <a:pt x="2648330" y="1873884"/>
                  </a:lnTo>
                  <a:lnTo>
                    <a:pt x="2630931" y="1915921"/>
                  </a:lnTo>
                  <a:lnTo>
                    <a:pt x="2612263" y="1957323"/>
                  </a:lnTo>
                  <a:lnTo>
                    <a:pt x="2592197" y="1997963"/>
                  </a:lnTo>
                  <a:lnTo>
                    <a:pt x="2570860" y="2037714"/>
                  </a:lnTo>
                  <a:lnTo>
                    <a:pt x="2548254" y="2076830"/>
                  </a:lnTo>
                  <a:lnTo>
                    <a:pt x="2524379" y="2115057"/>
                  </a:lnTo>
                  <a:lnTo>
                    <a:pt x="2499359" y="2152396"/>
                  </a:lnTo>
                  <a:lnTo>
                    <a:pt x="2473198" y="2188844"/>
                  </a:lnTo>
                  <a:lnTo>
                    <a:pt x="2445893" y="2224531"/>
                  </a:lnTo>
                  <a:lnTo>
                    <a:pt x="2417318" y="2259075"/>
                  </a:lnTo>
                  <a:lnTo>
                    <a:pt x="2387854" y="2292857"/>
                  </a:lnTo>
                  <a:lnTo>
                    <a:pt x="2357120" y="2325497"/>
                  </a:lnTo>
                  <a:lnTo>
                    <a:pt x="2325497" y="2357247"/>
                  </a:lnTo>
                  <a:lnTo>
                    <a:pt x="2292730" y="2387854"/>
                  </a:lnTo>
                  <a:lnTo>
                    <a:pt x="2259076" y="2417444"/>
                  </a:lnTo>
                  <a:lnTo>
                    <a:pt x="2224404" y="2445892"/>
                  </a:lnTo>
                  <a:lnTo>
                    <a:pt x="2188845" y="2473197"/>
                  </a:lnTo>
                  <a:lnTo>
                    <a:pt x="2152396" y="2499486"/>
                  </a:lnTo>
                  <a:lnTo>
                    <a:pt x="2114930" y="2524505"/>
                  </a:lnTo>
                  <a:lnTo>
                    <a:pt x="2076703" y="2548254"/>
                  </a:lnTo>
                  <a:lnTo>
                    <a:pt x="2037715" y="2570860"/>
                  </a:lnTo>
                  <a:lnTo>
                    <a:pt x="1997837" y="2592197"/>
                  </a:lnTo>
                  <a:lnTo>
                    <a:pt x="1957197" y="2612262"/>
                  </a:lnTo>
                  <a:lnTo>
                    <a:pt x="1915922" y="2630931"/>
                  </a:lnTo>
                  <a:lnTo>
                    <a:pt x="1873884" y="2648330"/>
                  </a:lnTo>
                  <a:lnTo>
                    <a:pt x="1831085" y="2664332"/>
                  </a:lnTo>
                  <a:lnTo>
                    <a:pt x="1787652" y="2678937"/>
                  </a:lnTo>
                  <a:lnTo>
                    <a:pt x="1743582" y="2692146"/>
                  </a:lnTo>
                  <a:lnTo>
                    <a:pt x="1698878" y="2703829"/>
                  </a:lnTo>
                  <a:lnTo>
                    <a:pt x="1653667" y="2714116"/>
                  </a:lnTo>
                  <a:lnTo>
                    <a:pt x="1607947" y="2722879"/>
                  </a:lnTo>
                  <a:lnTo>
                    <a:pt x="1561592" y="2730118"/>
                  </a:lnTo>
                  <a:lnTo>
                    <a:pt x="1514728" y="2735834"/>
                  </a:lnTo>
                  <a:lnTo>
                    <a:pt x="1467484" y="2739897"/>
                  </a:lnTo>
                  <a:lnTo>
                    <a:pt x="1419732" y="2742310"/>
                  </a:lnTo>
                  <a:lnTo>
                    <a:pt x="1371600" y="2743199"/>
                  </a:lnTo>
                  <a:lnTo>
                    <a:pt x="1323467" y="2742310"/>
                  </a:lnTo>
                  <a:lnTo>
                    <a:pt x="1275715" y="2739897"/>
                  </a:lnTo>
                  <a:lnTo>
                    <a:pt x="1228471" y="2735834"/>
                  </a:lnTo>
                  <a:lnTo>
                    <a:pt x="1181607" y="2730118"/>
                  </a:lnTo>
                  <a:lnTo>
                    <a:pt x="1135252" y="2722879"/>
                  </a:lnTo>
                  <a:lnTo>
                    <a:pt x="1089405" y="2714116"/>
                  </a:lnTo>
                  <a:lnTo>
                    <a:pt x="1044194" y="2703829"/>
                  </a:lnTo>
                  <a:lnTo>
                    <a:pt x="999617" y="2692146"/>
                  </a:lnTo>
                  <a:lnTo>
                    <a:pt x="955548" y="2678937"/>
                  </a:lnTo>
                  <a:lnTo>
                    <a:pt x="912114" y="2664332"/>
                  </a:lnTo>
                  <a:lnTo>
                    <a:pt x="869315" y="2648330"/>
                  </a:lnTo>
                  <a:lnTo>
                    <a:pt x="827277" y="2630931"/>
                  </a:lnTo>
                  <a:lnTo>
                    <a:pt x="785876" y="2612262"/>
                  </a:lnTo>
                  <a:lnTo>
                    <a:pt x="745235" y="2592197"/>
                  </a:lnTo>
                  <a:lnTo>
                    <a:pt x="705484" y="2570860"/>
                  </a:lnTo>
                  <a:lnTo>
                    <a:pt x="666369" y="2548254"/>
                  </a:lnTo>
                  <a:lnTo>
                    <a:pt x="628142" y="2524505"/>
                  </a:lnTo>
                  <a:lnTo>
                    <a:pt x="590803" y="2499486"/>
                  </a:lnTo>
                  <a:lnTo>
                    <a:pt x="554354" y="2473197"/>
                  </a:lnTo>
                  <a:lnTo>
                    <a:pt x="518668" y="2445892"/>
                  </a:lnTo>
                  <a:lnTo>
                    <a:pt x="484124" y="2417444"/>
                  </a:lnTo>
                  <a:lnTo>
                    <a:pt x="450342" y="2387854"/>
                  </a:lnTo>
                  <a:lnTo>
                    <a:pt x="417702" y="2357247"/>
                  </a:lnTo>
                  <a:lnTo>
                    <a:pt x="385952" y="2325497"/>
                  </a:lnTo>
                  <a:lnTo>
                    <a:pt x="355346" y="2292857"/>
                  </a:lnTo>
                  <a:lnTo>
                    <a:pt x="325754" y="2259075"/>
                  </a:lnTo>
                  <a:lnTo>
                    <a:pt x="297306" y="2224531"/>
                  </a:lnTo>
                  <a:lnTo>
                    <a:pt x="270001" y="2188844"/>
                  </a:lnTo>
                  <a:lnTo>
                    <a:pt x="243713" y="2152396"/>
                  </a:lnTo>
                  <a:lnTo>
                    <a:pt x="218694" y="2115057"/>
                  </a:lnTo>
                  <a:lnTo>
                    <a:pt x="194945" y="2076830"/>
                  </a:lnTo>
                  <a:lnTo>
                    <a:pt x="172338" y="2037714"/>
                  </a:lnTo>
                  <a:lnTo>
                    <a:pt x="151002" y="1997963"/>
                  </a:lnTo>
                  <a:lnTo>
                    <a:pt x="130937" y="1957323"/>
                  </a:lnTo>
                  <a:lnTo>
                    <a:pt x="112268" y="1915921"/>
                  </a:lnTo>
                  <a:lnTo>
                    <a:pt x="94869" y="1873884"/>
                  </a:lnTo>
                  <a:lnTo>
                    <a:pt x="78866" y="1831085"/>
                  </a:lnTo>
                  <a:lnTo>
                    <a:pt x="64262" y="1787652"/>
                  </a:lnTo>
                  <a:lnTo>
                    <a:pt x="51053" y="1743582"/>
                  </a:lnTo>
                  <a:lnTo>
                    <a:pt x="39243" y="1699005"/>
                  </a:lnTo>
                  <a:lnTo>
                    <a:pt x="29083" y="1653666"/>
                  </a:lnTo>
                  <a:lnTo>
                    <a:pt x="20320" y="1607946"/>
                  </a:lnTo>
                  <a:lnTo>
                    <a:pt x="13081" y="1561591"/>
                  </a:lnTo>
                  <a:lnTo>
                    <a:pt x="7365" y="1514728"/>
                  </a:lnTo>
                  <a:lnTo>
                    <a:pt x="3301" y="1467484"/>
                  </a:lnTo>
                  <a:lnTo>
                    <a:pt x="888" y="1419732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74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45451" y="27660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777" y="1777"/>
                  </a:lnTo>
                  <a:lnTo>
                    <a:pt x="588772" y="6857"/>
                  </a:lnTo>
                  <a:lnTo>
                    <a:pt x="541781" y="15112"/>
                  </a:lnTo>
                  <a:lnTo>
                    <a:pt x="495934" y="26669"/>
                  </a:lnTo>
                  <a:lnTo>
                    <a:pt x="451357" y="41147"/>
                  </a:lnTo>
                  <a:lnTo>
                    <a:pt x="408177" y="58546"/>
                  </a:lnTo>
                  <a:lnTo>
                    <a:pt x="366522" y="78739"/>
                  </a:lnTo>
                  <a:lnTo>
                    <a:pt x="326517" y="101600"/>
                  </a:lnTo>
                  <a:lnTo>
                    <a:pt x="288290" y="127000"/>
                  </a:lnTo>
                  <a:lnTo>
                    <a:pt x="251841" y="154812"/>
                  </a:lnTo>
                  <a:lnTo>
                    <a:pt x="217297" y="184912"/>
                  </a:lnTo>
                  <a:lnTo>
                    <a:pt x="184912" y="217296"/>
                  </a:lnTo>
                  <a:lnTo>
                    <a:pt x="154813" y="251840"/>
                  </a:lnTo>
                  <a:lnTo>
                    <a:pt x="127000" y="288289"/>
                  </a:lnTo>
                  <a:lnTo>
                    <a:pt x="101600" y="326516"/>
                  </a:lnTo>
                  <a:lnTo>
                    <a:pt x="78740" y="366521"/>
                  </a:lnTo>
                  <a:lnTo>
                    <a:pt x="58547" y="408177"/>
                  </a:lnTo>
                  <a:lnTo>
                    <a:pt x="41148" y="451357"/>
                  </a:lnTo>
                  <a:lnTo>
                    <a:pt x="26670" y="495934"/>
                  </a:lnTo>
                  <a:lnTo>
                    <a:pt x="15113" y="541782"/>
                  </a:lnTo>
                  <a:lnTo>
                    <a:pt x="6857" y="588771"/>
                  </a:lnTo>
                  <a:lnTo>
                    <a:pt x="1777" y="636777"/>
                  </a:lnTo>
                  <a:lnTo>
                    <a:pt x="0" y="685800"/>
                  </a:lnTo>
                  <a:lnTo>
                    <a:pt x="1777" y="734821"/>
                  </a:lnTo>
                  <a:lnTo>
                    <a:pt x="6857" y="782827"/>
                  </a:lnTo>
                  <a:lnTo>
                    <a:pt x="15113" y="829817"/>
                  </a:lnTo>
                  <a:lnTo>
                    <a:pt x="26670" y="875664"/>
                  </a:lnTo>
                  <a:lnTo>
                    <a:pt x="41148" y="920241"/>
                  </a:lnTo>
                  <a:lnTo>
                    <a:pt x="58547" y="963421"/>
                  </a:lnTo>
                  <a:lnTo>
                    <a:pt x="78740" y="1005077"/>
                  </a:lnTo>
                  <a:lnTo>
                    <a:pt x="101600" y="1045082"/>
                  </a:lnTo>
                  <a:lnTo>
                    <a:pt x="127000" y="1083309"/>
                  </a:lnTo>
                  <a:lnTo>
                    <a:pt x="154813" y="1119797"/>
                  </a:lnTo>
                  <a:lnTo>
                    <a:pt x="184912" y="1154264"/>
                  </a:lnTo>
                  <a:lnTo>
                    <a:pt x="217297" y="1186637"/>
                  </a:lnTo>
                  <a:lnTo>
                    <a:pt x="251841" y="1216799"/>
                  </a:lnTo>
                  <a:lnTo>
                    <a:pt x="288290" y="1244650"/>
                  </a:lnTo>
                  <a:lnTo>
                    <a:pt x="326517" y="1270050"/>
                  </a:lnTo>
                  <a:lnTo>
                    <a:pt x="366522" y="1292898"/>
                  </a:lnTo>
                  <a:lnTo>
                    <a:pt x="408177" y="1313091"/>
                  </a:lnTo>
                  <a:lnTo>
                    <a:pt x="451357" y="1330477"/>
                  </a:lnTo>
                  <a:lnTo>
                    <a:pt x="495934" y="1344968"/>
                  </a:lnTo>
                  <a:lnTo>
                    <a:pt x="541781" y="1356448"/>
                  </a:lnTo>
                  <a:lnTo>
                    <a:pt x="588772" y="1364792"/>
                  </a:lnTo>
                  <a:lnTo>
                    <a:pt x="636777" y="1369872"/>
                  </a:lnTo>
                  <a:lnTo>
                    <a:pt x="685800" y="1371599"/>
                  </a:lnTo>
                  <a:lnTo>
                    <a:pt x="734822" y="1369872"/>
                  </a:lnTo>
                  <a:lnTo>
                    <a:pt x="782827" y="1364792"/>
                  </a:lnTo>
                  <a:lnTo>
                    <a:pt x="829818" y="1356448"/>
                  </a:lnTo>
                  <a:lnTo>
                    <a:pt x="875665" y="1344968"/>
                  </a:lnTo>
                  <a:lnTo>
                    <a:pt x="920242" y="1330477"/>
                  </a:lnTo>
                  <a:lnTo>
                    <a:pt x="963422" y="1313091"/>
                  </a:lnTo>
                  <a:lnTo>
                    <a:pt x="1005077" y="1292898"/>
                  </a:lnTo>
                  <a:lnTo>
                    <a:pt x="1045082" y="1270050"/>
                  </a:lnTo>
                  <a:lnTo>
                    <a:pt x="1083437" y="1244650"/>
                  </a:lnTo>
                  <a:lnTo>
                    <a:pt x="1119885" y="1216799"/>
                  </a:lnTo>
                  <a:lnTo>
                    <a:pt x="1154302" y="1186637"/>
                  </a:lnTo>
                  <a:lnTo>
                    <a:pt x="1186688" y="1154264"/>
                  </a:lnTo>
                  <a:lnTo>
                    <a:pt x="1216787" y="1119797"/>
                  </a:lnTo>
                  <a:lnTo>
                    <a:pt x="1244727" y="1083309"/>
                  </a:lnTo>
                  <a:lnTo>
                    <a:pt x="1270127" y="1045082"/>
                  </a:lnTo>
                  <a:lnTo>
                    <a:pt x="1292987" y="1005077"/>
                  </a:lnTo>
                  <a:lnTo>
                    <a:pt x="1313052" y="963421"/>
                  </a:lnTo>
                  <a:lnTo>
                    <a:pt x="1330452" y="920241"/>
                  </a:lnTo>
                  <a:lnTo>
                    <a:pt x="1344929" y="875664"/>
                  </a:lnTo>
                  <a:lnTo>
                    <a:pt x="1356487" y="829817"/>
                  </a:lnTo>
                  <a:lnTo>
                    <a:pt x="1364742" y="782827"/>
                  </a:lnTo>
                  <a:lnTo>
                    <a:pt x="1369822" y="734821"/>
                  </a:lnTo>
                  <a:lnTo>
                    <a:pt x="1371600" y="685800"/>
                  </a:lnTo>
                  <a:lnTo>
                    <a:pt x="1369822" y="636777"/>
                  </a:lnTo>
                  <a:lnTo>
                    <a:pt x="1364742" y="588771"/>
                  </a:lnTo>
                  <a:lnTo>
                    <a:pt x="1356487" y="541782"/>
                  </a:lnTo>
                  <a:lnTo>
                    <a:pt x="1344929" y="495934"/>
                  </a:lnTo>
                  <a:lnTo>
                    <a:pt x="1330452" y="451357"/>
                  </a:lnTo>
                  <a:lnTo>
                    <a:pt x="1313052" y="408177"/>
                  </a:lnTo>
                  <a:lnTo>
                    <a:pt x="1292987" y="366521"/>
                  </a:lnTo>
                  <a:lnTo>
                    <a:pt x="1270127" y="326516"/>
                  </a:lnTo>
                  <a:lnTo>
                    <a:pt x="1244727" y="288289"/>
                  </a:lnTo>
                  <a:lnTo>
                    <a:pt x="1216787" y="251840"/>
                  </a:lnTo>
                  <a:lnTo>
                    <a:pt x="1186688" y="217296"/>
                  </a:lnTo>
                  <a:lnTo>
                    <a:pt x="1154302" y="184912"/>
                  </a:lnTo>
                  <a:lnTo>
                    <a:pt x="1119885" y="154812"/>
                  </a:lnTo>
                  <a:lnTo>
                    <a:pt x="1083437" y="127000"/>
                  </a:lnTo>
                  <a:lnTo>
                    <a:pt x="1045082" y="101600"/>
                  </a:lnTo>
                  <a:lnTo>
                    <a:pt x="1005077" y="78739"/>
                  </a:lnTo>
                  <a:lnTo>
                    <a:pt x="963422" y="58546"/>
                  </a:lnTo>
                  <a:lnTo>
                    <a:pt x="920242" y="41147"/>
                  </a:lnTo>
                  <a:lnTo>
                    <a:pt x="875665" y="26669"/>
                  </a:lnTo>
                  <a:lnTo>
                    <a:pt x="829818" y="15112"/>
                  </a:lnTo>
                  <a:lnTo>
                    <a:pt x="782827" y="6857"/>
                  </a:lnTo>
                  <a:lnTo>
                    <a:pt x="734822" y="177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891B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45451" y="27660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77" y="636777"/>
                  </a:lnTo>
                  <a:lnTo>
                    <a:pt x="6857" y="588771"/>
                  </a:lnTo>
                  <a:lnTo>
                    <a:pt x="15113" y="541782"/>
                  </a:lnTo>
                  <a:lnTo>
                    <a:pt x="26670" y="495934"/>
                  </a:lnTo>
                  <a:lnTo>
                    <a:pt x="41148" y="451357"/>
                  </a:lnTo>
                  <a:lnTo>
                    <a:pt x="58547" y="408177"/>
                  </a:lnTo>
                  <a:lnTo>
                    <a:pt x="78740" y="366521"/>
                  </a:lnTo>
                  <a:lnTo>
                    <a:pt x="101600" y="326516"/>
                  </a:lnTo>
                  <a:lnTo>
                    <a:pt x="127000" y="288289"/>
                  </a:lnTo>
                  <a:lnTo>
                    <a:pt x="154813" y="251840"/>
                  </a:lnTo>
                  <a:lnTo>
                    <a:pt x="184912" y="217296"/>
                  </a:lnTo>
                  <a:lnTo>
                    <a:pt x="217297" y="184912"/>
                  </a:lnTo>
                  <a:lnTo>
                    <a:pt x="251841" y="154812"/>
                  </a:lnTo>
                  <a:lnTo>
                    <a:pt x="288290" y="127000"/>
                  </a:lnTo>
                  <a:lnTo>
                    <a:pt x="326517" y="101600"/>
                  </a:lnTo>
                  <a:lnTo>
                    <a:pt x="366522" y="78739"/>
                  </a:lnTo>
                  <a:lnTo>
                    <a:pt x="408177" y="58546"/>
                  </a:lnTo>
                  <a:lnTo>
                    <a:pt x="451357" y="41147"/>
                  </a:lnTo>
                  <a:lnTo>
                    <a:pt x="495934" y="26669"/>
                  </a:lnTo>
                  <a:lnTo>
                    <a:pt x="541781" y="15112"/>
                  </a:lnTo>
                  <a:lnTo>
                    <a:pt x="588772" y="6857"/>
                  </a:lnTo>
                  <a:lnTo>
                    <a:pt x="636777" y="1777"/>
                  </a:lnTo>
                  <a:lnTo>
                    <a:pt x="685800" y="0"/>
                  </a:lnTo>
                  <a:lnTo>
                    <a:pt x="734822" y="1777"/>
                  </a:lnTo>
                  <a:lnTo>
                    <a:pt x="782827" y="6857"/>
                  </a:lnTo>
                  <a:lnTo>
                    <a:pt x="829818" y="15112"/>
                  </a:lnTo>
                  <a:lnTo>
                    <a:pt x="875665" y="26669"/>
                  </a:lnTo>
                  <a:lnTo>
                    <a:pt x="920242" y="41147"/>
                  </a:lnTo>
                  <a:lnTo>
                    <a:pt x="963422" y="58546"/>
                  </a:lnTo>
                  <a:lnTo>
                    <a:pt x="1005077" y="78739"/>
                  </a:lnTo>
                  <a:lnTo>
                    <a:pt x="1045082" y="101600"/>
                  </a:lnTo>
                  <a:lnTo>
                    <a:pt x="1083437" y="127000"/>
                  </a:lnTo>
                  <a:lnTo>
                    <a:pt x="1119885" y="154812"/>
                  </a:lnTo>
                  <a:lnTo>
                    <a:pt x="1154302" y="184912"/>
                  </a:lnTo>
                  <a:lnTo>
                    <a:pt x="1186688" y="217296"/>
                  </a:lnTo>
                  <a:lnTo>
                    <a:pt x="1216787" y="251840"/>
                  </a:lnTo>
                  <a:lnTo>
                    <a:pt x="1244727" y="288289"/>
                  </a:lnTo>
                  <a:lnTo>
                    <a:pt x="1270127" y="326516"/>
                  </a:lnTo>
                  <a:lnTo>
                    <a:pt x="1292987" y="366521"/>
                  </a:lnTo>
                  <a:lnTo>
                    <a:pt x="1313052" y="408177"/>
                  </a:lnTo>
                  <a:lnTo>
                    <a:pt x="1330452" y="451357"/>
                  </a:lnTo>
                  <a:lnTo>
                    <a:pt x="1344929" y="495934"/>
                  </a:lnTo>
                  <a:lnTo>
                    <a:pt x="1356487" y="541782"/>
                  </a:lnTo>
                  <a:lnTo>
                    <a:pt x="1364742" y="588771"/>
                  </a:lnTo>
                  <a:lnTo>
                    <a:pt x="1369822" y="636777"/>
                  </a:lnTo>
                  <a:lnTo>
                    <a:pt x="1371600" y="685800"/>
                  </a:lnTo>
                  <a:lnTo>
                    <a:pt x="1369822" y="734821"/>
                  </a:lnTo>
                  <a:lnTo>
                    <a:pt x="1364742" y="782827"/>
                  </a:lnTo>
                  <a:lnTo>
                    <a:pt x="1356487" y="829817"/>
                  </a:lnTo>
                  <a:lnTo>
                    <a:pt x="1344929" y="875664"/>
                  </a:lnTo>
                  <a:lnTo>
                    <a:pt x="1330452" y="920241"/>
                  </a:lnTo>
                  <a:lnTo>
                    <a:pt x="1313052" y="963421"/>
                  </a:lnTo>
                  <a:lnTo>
                    <a:pt x="1292987" y="1005077"/>
                  </a:lnTo>
                  <a:lnTo>
                    <a:pt x="1270127" y="1045082"/>
                  </a:lnTo>
                  <a:lnTo>
                    <a:pt x="1244727" y="1083309"/>
                  </a:lnTo>
                  <a:lnTo>
                    <a:pt x="1216787" y="1119797"/>
                  </a:lnTo>
                  <a:lnTo>
                    <a:pt x="1186688" y="1154264"/>
                  </a:lnTo>
                  <a:lnTo>
                    <a:pt x="1154302" y="1186637"/>
                  </a:lnTo>
                  <a:lnTo>
                    <a:pt x="1119885" y="1216799"/>
                  </a:lnTo>
                  <a:lnTo>
                    <a:pt x="1083437" y="1244650"/>
                  </a:lnTo>
                  <a:lnTo>
                    <a:pt x="1045082" y="1270050"/>
                  </a:lnTo>
                  <a:lnTo>
                    <a:pt x="1005077" y="1292898"/>
                  </a:lnTo>
                  <a:lnTo>
                    <a:pt x="963422" y="1313091"/>
                  </a:lnTo>
                  <a:lnTo>
                    <a:pt x="920242" y="1330477"/>
                  </a:lnTo>
                  <a:lnTo>
                    <a:pt x="875665" y="1344968"/>
                  </a:lnTo>
                  <a:lnTo>
                    <a:pt x="829818" y="1356448"/>
                  </a:lnTo>
                  <a:lnTo>
                    <a:pt x="782827" y="1364792"/>
                  </a:lnTo>
                  <a:lnTo>
                    <a:pt x="734822" y="1369872"/>
                  </a:lnTo>
                  <a:lnTo>
                    <a:pt x="685800" y="1371599"/>
                  </a:lnTo>
                  <a:lnTo>
                    <a:pt x="636777" y="1369872"/>
                  </a:lnTo>
                  <a:lnTo>
                    <a:pt x="588772" y="1364792"/>
                  </a:lnTo>
                  <a:lnTo>
                    <a:pt x="541781" y="1356448"/>
                  </a:lnTo>
                  <a:lnTo>
                    <a:pt x="495934" y="1344968"/>
                  </a:lnTo>
                  <a:lnTo>
                    <a:pt x="451357" y="1330477"/>
                  </a:lnTo>
                  <a:lnTo>
                    <a:pt x="408177" y="1313091"/>
                  </a:lnTo>
                  <a:lnTo>
                    <a:pt x="366522" y="1292898"/>
                  </a:lnTo>
                  <a:lnTo>
                    <a:pt x="326517" y="1270050"/>
                  </a:lnTo>
                  <a:lnTo>
                    <a:pt x="288290" y="1244650"/>
                  </a:lnTo>
                  <a:lnTo>
                    <a:pt x="251841" y="1216799"/>
                  </a:lnTo>
                  <a:lnTo>
                    <a:pt x="217297" y="1186637"/>
                  </a:lnTo>
                  <a:lnTo>
                    <a:pt x="184912" y="1154264"/>
                  </a:lnTo>
                  <a:lnTo>
                    <a:pt x="154813" y="1119797"/>
                  </a:lnTo>
                  <a:lnTo>
                    <a:pt x="127000" y="1083309"/>
                  </a:lnTo>
                  <a:lnTo>
                    <a:pt x="101600" y="1045082"/>
                  </a:lnTo>
                  <a:lnTo>
                    <a:pt x="78740" y="1005077"/>
                  </a:lnTo>
                  <a:lnTo>
                    <a:pt x="58547" y="963421"/>
                  </a:lnTo>
                  <a:lnTo>
                    <a:pt x="41148" y="920241"/>
                  </a:lnTo>
                  <a:lnTo>
                    <a:pt x="26670" y="875664"/>
                  </a:lnTo>
                  <a:lnTo>
                    <a:pt x="15113" y="829817"/>
                  </a:lnTo>
                  <a:lnTo>
                    <a:pt x="6857" y="782827"/>
                  </a:lnTo>
                  <a:lnTo>
                    <a:pt x="1777" y="734821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2755" y="664590"/>
            <a:ext cx="156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E</a:t>
            </a:r>
            <a:r>
              <a:rPr sz="1200" b="1" spc="19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N</a:t>
            </a:r>
            <a:r>
              <a:rPr sz="1200" b="1" spc="20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T</a:t>
            </a:r>
            <a:r>
              <a:rPr sz="1200" b="1" spc="204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E</a:t>
            </a:r>
            <a:r>
              <a:rPr sz="1200" b="1" spc="19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R</a:t>
            </a:r>
            <a:r>
              <a:rPr sz="1200" b="1" spc="20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P</a:t>
            </a:r>
            <a:r>
              <a:rPr sz="1200" b="1" spc="19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R</a:t>
            </a:r>
            <a:r>
              <a:rPr sz="1200" b="1" spc="18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I</a:t>
            </a:r>
            <a:r>
              <a:rPr sz="1200" b="1" spc="19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S</a:t>
            </a:r>
            <a:r>
              <a:rPr sz="1200" b="1" spc="18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0891B0"/>
                </a:solidFill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2755" y="1194942"/>
            <a:ext cx="2433320" cy="1579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</a:rPr>
              <a:t>Inventory </a:t>
            </a:r>
            <a:r>
              <a:rPr sz="3400" spc="-25" dirty="0">
                <a:solidFill>
                  <a:srgbClr val="FFFFFF"/>
                </a:solidFill>
              </a:rPr>
              <a:t>Management </a:t>
            </a:r>
            <a:r>
              <a:rPr sz="3400" spc="-10" dirty="0">
                <a:solidFill>
                  <a:srgbClr val="FFFFFF"/>
                </a:solidFill>
              </a:rPr>
              <a:t>System</a:t>
            </a:r>
            <a:endParaRPr sz="3400"/>
          </a:p>
        </p:txBody>
      </p:sp>
      <p:grpSp>
        <p:nvGrpSpPr>
          <p:cNvPr id="14" name="object 14"/>
          <p:cNvGrpSpPr/>
          <p:nvPr/>
        </p:nvGrpSpPr>
        <p:grpSpPr>
          <a:xfrm>
            <a:off x="359409" y="3056889"/>
            <a:ext cx="1109980" cy="58419"/>
            <a:chOff x="359409" y="3056889"/>
            <a:chExt cx="1109980" cy="58419"/>
          </a:xfrm>
        </p:grpSpPr>
        <p:sp>
          <p:nvSpPr>
            <p:cNvPr id="15" name="object 15"/>
            <p:cNvSpPr/>
            <p:nvPr/>
          </p:nvSpPr>
          <p:spPr>
            <a:xfrm>
              <a:off x="365759" y="3063239"/>
              <a:ext cx="1097280" cy="45720"/>
            </a:xfrm>
            <a:custGeom>
              <a:avLst/>
              <a:gdLst/>
              <a:ahLst/>
              <a:cxnLst/>
              <a:rect l="l" t="t" r="r" b="b"/>
              <a:pathLst>
                <a:path w="1097280" h="45719">
                  <a:moveTo>
                    <a:pt x="109728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1097280" y="4571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3063239"/>
              <a:ext cx="1097280" cy="45720"/>
            </a:xfrm>
            <a:custGeom>
              <a:avLst/>
              <a:gdLst/>
              <a:ahLst/>
              <a:cxnLst/>
              <a:rect l="l" t="t" r="r" b="b"/>
              <a:pathLst>
                <a:path w="1097280" h="45719">
                  <a:moveTo>
                    <a:pt x="0" y="45719"/>
                  </a:moveTo>
                  <a:lnTo>
                    <a:pt x="1097280" y="4571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2755" y="3240785"/>
            <a:ext cx="23228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04B6D2"/>
                </a:solidFill>
                <a:latin typeface="Times New Roman"/>
                <a:cs typeface="Times New Roman"/>
              </a:rPr>
              <a:t>Organisation</a:t>
            </a:r>
            <a:r>
              <a:rPr sz="1300" spc="-1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4B6D2"/>
                </a:solidFill>
                <a:latin typeface="Times New Roman"/>
                <a:cs typeface="Times New Roman"/>
              </a:rPr>
              <a:t>:</a:t>
            </a:r>
            <a:r>
              <a:rPr sz="1300" spc="-4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4B6D2"/>
                </a:solidFill>
                <a:latin typeface="Times New Roman"/>
                <a:cs typeface="Times New Roman"/>
              </a:rPr>
              <a:t>Infosys</a:t>
            </a:r>
            <a:r>
              <a:rPr sz="1300" spc="2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4B6D2"/>
                </a:solidFill>
                <a:latin typeface="Times New Roman"/>
                <a:cs typeface="Times New Roman"/>
              </a:rPr>
              <a:t>Springboard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2755" y="3590925"/>
            <a:ext cx="26631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Full-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Stack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Web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Application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|</a:t>
            </a:r>
            <a:r>
              <a:rPr sz="110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Academic</a:t>
            </a:r>
            <a:r>
              <a:rPr sz="110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Project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77309" y="3492246"/>
            <a:ext cx="23298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415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92A1B8"/>
                </a:solidFill>
                <a:latin typeface="Times New Roman"/>
                <a:cs typeface="Times New Roman"/>
              </a:rPr>
              <a:t>Presented</a:t>
            </a:r>
            <a:r>
              <a:rPr sz="13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92A1B8"/>
                </a:solidFill>
                <a:latin typeface="Times New Roman"/>
                <a:cs typeface="Times New Roman"/>
              </a:rPr>
              <a:t>by:</a:t>
            </a:r>
            <a:r>
              <a:rPr lang="en-US" sz="1300" spc="-25" dirty="0">
                <a:solidFill>
                  <a:srgbClr val="92A1B8"/>
                </a:solidFill>
                <a:latin typeface="Times New Roman"/>
                <a:cs typeface="Times New Roman"/>
              </a:rPr>
              <a:t> Nagula Lahari</a:t>
            </a:r>
            <a:r>
              <a:rPr sz="1300" spc="-10" dirty="0">
                <a:solidFill>
                  <a:srgbClr val="92A1B8"/>
                </a:solidFill>
                <a:latin typeface="Times New Roman"/>
                <a:cs typeface="Times New Roman"/>
              </a:rPr>
              <a:t>,</a:t>
            </a:r>
            <a:r>
              <a:rPr sz="13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92A1B8"/>
                </a:solidFill>
                <a:latin typeface="Times New Roman"/>
                <a:cs typeface="Times New Roman"/>
              </a:rPr>
              <a:t>Batch</a:t>
            </a:r>
            <a:r>
              <a:rPr sz="13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92A1B8"/>
                </a:solidFill>
                <a:latin typeface="Times New Roman"/>
                <a:cs typeface="Times New Roman"/>
              </a:rPr>
              <a:t>13</a:t>
            </a: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Computer </a:t>
            </a:r>
            <a:r>
              <a:rPr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13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9309" y="4594352"/>
            <a:ext cx="191452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Enterprise-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Grade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Solution</a:t>
            </a:r>
            <a:r>
              <a:rPr sz="1100" spc="2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|</a:t>
            </a:r>
            <a:r>
              <a:rPr sz="1100" spc="37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2025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20986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Project</a:t>
            </a:r>
            <a:r>
              <a:rPr sz="1300" i="1" spc="-1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Overview</a:t>
            </a:r>
            <a:r>
              <a:rPr sz="1300" i="1" spc="-6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&amp;</a:t>
            </a:r>
            <a:r>
              <a:rPr sz="1300" i="1" spc="-2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Navigation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970" y="1090930"/>
            <a:ext cx="424180" cy="33274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235" y="1136396"/>
            <a:ext cx="21901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Introduction</a:t>
            </a:r>
            <a:r>
              <a:rPr sz="13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Project</a:t>
            </a:r>
            <a:r>
              <a:rPr sz="13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Overview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970" y="1593850"/>
            <a:ext cx="424180" cy="33274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235" y="1639950"/>
            <a:ext cx="12693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Problem</a:t>
            </a:r>
            <a:r>
              <a:rPr sz="13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Statement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382" y="2095182"/>
            <a:ext cx="427355" cy="335915"/>
          </a:xfrm>
          <a:prstGeom prst="rect">
            <a:avLst/>
          </a:prstGeom>
          <a:solidFill>
            <a:srgbClr val="0891B0"/>
          </a:solidFill>
          <a:ln w="3175">
            <a:solidFill>
              <a:srgbClr val="0891B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235" y="2142870"/>
            <a:ext cx="164718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Why</a:t>
            </a:r>
            <a:r>
              <a:rPr sz="13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Build</a:t>
            </a:r>
            <a:r>
              <a:rPr sz="13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This</a:t>
            </a:r>
            <a:r>
              <a:rPr sz="13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Project?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382" y="2598102"/>
            <a:ext cx="427355" cy="335915"/>
          </a:xfrm>
          <a:prstGeom prst="rect">
            <a:avLst/>
          </a:prstGeom>
          <a:solidFill>
            <a:srgbClr val="0891B0"/>
          </a:solidFill>
          <a:ln w="3175">
            <a:solidFill>
              <a:srgbClr val="0891B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235" y="2645740"/>
            <a:ext cx="17786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0" dirty="0">
                <a:solidFill>
                  <a:srgbClr val="1E2939"/>
                </a:solidFill>
                <a:latin typeface="Times New Roman"/>
                <a:cs typeface="Times New Roman"/>
              </a:rPr>
              <a:t>Technology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Stack</a:t>
            </a:r>
            <a:r>
              <a:rPr sz="13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Roles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382" y="3101022"/>
            <a:ext cx="427355" cy="335915"/>
          </a:xfrm>
          <a:prstGeom prst="rect">
            <a:avLst/>
          </a:prstGeom>
          <a:solidFill>
            <a:srgbClr val="0891B0"/>
          </a:solidFill>
          <a:ln w="3175">
            <a:solidFill>
              <a:srgbClr val="0891B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235" y="3149345"/>
            <a:ext cx="2144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System</a:t>
            </a:r>
            <a:r>
              <a:rPr sz="13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Architecture</a:t>
            </a:r>
            <a:r>
              <a:rPr sz="13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8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Diagram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382" y="3603942"/>
            <a:ext cx="427355" cy="335915"/>
          </a:xfrm>
          <a:prstGeom prst="rect">
            <a:avLst/>
          </a:prstGeom>
          <a:solidFill>
            <a:srgbClr val="0891B0"/>
          </a:solidFill>
          <a:ln w="3175">
            <a:solidFill>
              <a:srgbClr val="0891B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235" y="3652773"/>
            <a:ext cx="22040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0" dirty="0">
                <a:solidFill>
                  <a:srgbClr val="1E2939"/>
                </a:solidFill>
                <a:latin typeface="Times New Roman"/>
                <a:cs typeface="Times New Roman"/>
              </a:rPr>
              <a:t>Layered</a:t>
            </a:r>
            <a:r>
              <a:rPr sz="13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Architecture</a:t>
            </a:r>
            <a:r>
              <a:rPr sz="13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Breakdown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6382" y="4106862"/>
            <a:ext cx="427355" cy="335915"/>
          </a:xfrm>
          <a:prstGeom prst="rect">
            <a:avLst/>
          </a:prstGeom>
          <a:solidFill>
            <a:srgbClr val="0891B0"/>
          </a:solidFill>
          <a:ln w="3175">
            <a:solidFill>
              <a:srgbClr val="0891B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235" y="4155744"/>
            <a:ext cx="11093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Controller</a:t>
            </a:r>
            <a:r>
              <a:rPr sz="13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1E2939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48529" y="1090930"/>
            <a:ext cx="424180" cy="332740"/>
          </a:xfrm>
          <a:prstGeom prst="rect">
            <a:avLst/>
          </a:prstGeom>
          <a:solidFill>
            <a:srgbClr val="0D7490"/>
          </a:solidFill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6370" y="1136396"/>
            <a:ext cx="24612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Service</a:t>
            </a:r>
            <a:r>
              <a:rPr sz="13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Layer</a:t>
            </a:r>
            <a:r>
              <a:rPr sz="1300" spc="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1E2939"/>
                </a:solidFill>
                <a:latin typeface="Times New Roman"/>
                <a:cs typeface="Times New Roman"/>
              </a:rPr>
              <a:t>Transaction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 Module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8529" y="1593850"/>
            <a:ext cx="424180" cy="332740"/>
          </a:xfrm>
          <a:prstGeom prst="rect">
            <a:avLst/>
          </a:prstGeom>
          <a:solidFill>
            <a:srgbClr val="0D7490"/>
          </a:solidFill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46370" y="1639950"/>
            <a:ext cx="25374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Simulation</a:t>
            </a:r>
            <a:r>
              <a:rPr sz="13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Module</a:t>
            </a:r>
            <a:r>
              <a:rPr sz="13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8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Execution</a:t>
            </a:r>
            <a:r>
              <a:rPr sz="13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1E2939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46942" y="2095182"/>
            <a:ext cx="427355" cy="335915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6370" y="2142870"/>
            <a:ext cx="23228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0" dirty="0">
                <a:solidFill>
                  <a:srgbClr val="1E2939"/>
                </a:solidFill>
                <a:latin typeface="Times New Roman"/>
                <a:cs typeface="Times New Roman"/>
              </a:rPr>
              <a:t>Project</a:t>
            </a:r>
            <a:r>
              <a:rPr sz="13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Achievements</a:t>
            </a:r>
            <a:r>
              <a:rPr sz="13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Outcomes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6942" y="2598102"/>
            <a:ext cx="427355" cy="335915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6370" y="2645740"/>
            <a:ext cx="16624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1E2939"/>
                </a:solidFill>
                <a:latin typeface="Times New Roman"/>
                <a:cs typeface="Times New Roman"/>
              </a:rPr>
              <a:t>Real-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World</a:t>
            </a:r>
            <a:r>
              <a:rPr sz="1300" spc="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Applications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6942" y="3101022"/>
            <a:ext cx="427355" cy="335915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46370" y="3149345"/>
            <a:ext cx="17037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Conclusion</a:t>
            </a:r>
            <a:r>
              <a:rPr sz="13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9"/>
                </a:solidFill>
                <a:latin typeface="Times New Roman"/>
                <a:cs typeface="Times New Roman"/>
              </a:rPr>
              <a:t>Thank</a:t>
            </a:r>
            <a:r>
              <a:rPr sz="13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1E2939"/>
                </a:solidFill>
                <a:latin typeface="Times New Roman"/>
                <a:cs typeface="Times New Roman"/>
              </a:rPr>
              <a:t>You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27673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Enterprise</a:t>
            </a:r>
            <a:r>
              <a:rPr sz="1300" i="1" spc="-3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Inventory</a:t>
            </a:r>
            <a:r>
              <a:rPr sz="1300" i="1" spc="-2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Management</a:t>
            </a:r>
            <a:r>
              <a:rPr sz="1300" i="1" spc="3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69263"/>
            <a:ext cx="5333365" cy="3778885"/>
            <a:chOff x="137160" y="969263"/>
            <a:chExt cx="5333365" cy="3778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69263"/>
              <a:ext cx="5333238" cy="37787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463040"/>
              <a:ext cx="5120640" cy="3154680"/>
            </a:xfrm>
            <a:custGeom>
              <a:avLst/>
              <a:gdLst/>
              <a:ahLst/>
              <a:cxnLst/>
              <a:rect l="l" t="t" r="r" b="b"/>
              <a:pathLst>
                <a:path w="5120640" h="3154679">
                  <a:moveTo>
                    <a:pt x="5120640" y="0"/>
                  </a:moveTo>
                  <a:lnTo>
                    <a:pt x="0" y="0"/>
                  </a:lnTo>
                  <a:lnTo>
                    <a:pt x="0" y="3154680"/>
                  </a:lnTo>
                  <a:lnTo>
                    <a:pt x="5120640" y="3154680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51559"/>
              <a:ext cx="5120640" cy="3566160"/>
            </a:xfrm>
            <a:custGeom>
              <a:avLst/>
              <a:gdLst/>
              <a:ahLst/>
              <a:cxnLst/>
              <a:rect l="l" t="t" r="r" b="b"/>
              <a:pathLst>
                <a:path w="5120640" h="3566160">
                  <a:moveTo>
                    <a:pt x="0" y="3566160"/>
                  </a:moveTo>
                  <a:lnTo>
                    <a:pt x="5120640" y="3566160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356616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51559"/>
              <a:ext cx="5120640" cy="411480"/>
            </a:xfrm>
            <a:custGeom>
              <a:avLst/>
              <a:gdLst/>
              <a:ahLst/>
              <a:cxnLst/>
              <a:rect l="l" t="t" r="r" b="b"/>
              <a:pathLst>
                <a:path w="5120640" h="411480">
                  <a:moveTo>
                    <a:pt x="5120640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5120640" y="4114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51559"/>
              <a:ext cx="5120640" cy="411480"/>
            </a:xfrm>
            <a:custGeom>
              <a:avLst/>
              <a:gdLst/>
              <a:ahLst/>
              <a:cxnLst/>
              <a:rect l="l" t="t" r="r" b="b"/>
              <a:pathLst>
                <a:path w="5120640" h="411480">
                  <a:moveTo>
                    <a:pt x="0" y="411479"/>
                  </a:moveTo>
                  <a:lnTo>
                    <a:pt x="5120640" y="411479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035" y="1126997"/>
            <a:ext cx="13449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14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554" y="969225"/>
            <a:ext cx="8576945" cy="2933065"/>
            <a:chOff x="368554" y="969225"/>
            <a:chExt cx="8576945" cy="293306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554" y="1749298"/>
              <a:ext cx="177292" cy="177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2407666"/>
              <a:ext cx="177292" cy="1772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3066033"/>
              <a:ext cx="177292" cy="1772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3724401"/>
              <a:ext cx="177292" cy="1772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969225"/>
              <a:ext cx="3458717" cy="9624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678424" y="1051560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3191255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3191255" y="749808"/>
                  </a:lnTo>
                  <a:lnTo>
                    <a:pt x="3191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3559" y="1051560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8"/>
                  </a:moveTo>
                  <a:lnTo>
                    <a:pt x="3246119" y="749808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23559" y="105156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2" y="749808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23559" y="105156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2" y="749808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8787" y="1629917"/>
            <a:ext cx="441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A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robust,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E2939"/>
                </a:solidFill>
                <a:latin typeface="Times New Roman"/>
                <a:cs typeface="Times New Roman"/>
              </a:rPr>
              <a:t>full-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stack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Enterprise</a:t>
            </a:r>
            <a:r>
              <a:rPr sz="12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Inventory</a:t>
            </a:r>
            <a:r>
              <a:rPr sz="12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Management</a:t>
            </a:r>
            <a:r>
              <a:rPr sz="12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System</a:t>
            </a:r>
            <a:r>
              <a:rPr sz="12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built</a:t>
            </a:r>
            <a:r>
              <a:rPr sz="12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E2939"/>
                </a:solidFill>
                <a:latin typeface="Times New Roman"/>
                <a:cs typeface="Times New Roman"/>
              </a:rPr>
              <a:t>with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Java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Spring</a:t>
            </a:r>
            <a:r>
              <a:rPr sz="12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Boot</a:t>
            </a:r>
            <a:r>
              <a:rPr sz="12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2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Thymeleaf</a:t>
            </a:r>
            <a:r>
              <a:rPr sz="1200" spc="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that</a:t>
            </a:r>
            <a:r>
              <a:rPr sz="12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streamlines</a:t>
            </a:r>
            <a:r>
              <a:rPr sz="12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business</a:t>
            </a:r>
            <a:r>
              <a:rPr sz="12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8787" y="2288285"/>
            <a:ext cx="4425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Handles</a:t>
            </a:r>
            <a:r>
              <a:rPr sz="12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E2939"/>
                </a:solidFill>
                <a:latin typeface="Times New Roman"/>
                <a:cs typeface="Times New Roman"/>
              </a:rPr>
              <a:t>end-to-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end</a:t>
            </a:r>
            <a:r>
              <a:rPr sz="12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inventory</a:t>
            </a:r>
            <a:r>
              <a:rPr sz="12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lifecycle:</a:t>
            </a:r>
            <a:r>
              <a:rPr sz="1200" spc="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product</a:t>
            </a:r>
            <a:r>
              <a:rPr sz="12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creation,</a:t>
            </a:r>
            <a:r>
              <a:rPr sz="12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stock</a:t>
            </a:r>
            <a:r>
              <a:rPr sz="12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tracking, </a:t>
            </a:r>
            <a:r>
              <a:rPr sz="1200" spc="-10" dirty="0">
                <a:solidFill>
                  <a:srgbClr val="242424"/>
                </a:solidFill>
                <a:latin typeface="Times New Roman"/>
                <a:cs typeface="Times New Roman"/>
              </a:rPr>
              <a:t>product</a:t>
            </a:r>
            <a:r>
              <a:rPr sz="1200" spc="-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42424"/>
                </a:solidFill>
                <a:latin typeface="Times New Roman"/>
                <a:cs typeface="Times New Roman"/>
              </a:rPr>
              <a:t>management,</a:t>
            </a:r>
            <a:r>
              <a:rPr sz="12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42424"/>
                </a:solidFill>
                <a:latin typeface="Times New Roman"/>
                <a:cs typeface="Times New Roman"/>
              </a:rPr>
              <a:t>stock</a:t>
            </a:r>
            <a:r>
              <a:rPr sz="1200" spc="-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42424"/>
                </a:solidFill>
                <a:latin typeface="Times New Roman"/>
                <a:cs typeface="Times New Roman"/>
              </a:rPr>
              <a:t>tracking,</a:t>
            </a:r>
            <a:r>
              <a:rPr sz="12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42424"/>
                </a:solidFill>
                <a:latin typeface="Times New Roman"/>
                <a:cs typeface="Times New Roman"/>
              </a:rPr>
              <a:t>reporting</a:t>
            </a:r>
            <a:r>
              <a:rPr sz="1200" spc="-4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42424"/>
                </a:solidFill>
                <a:latin typeface="Times New Roman"/>
                <a:cs typeface="Times New Roman"/>
              </a:rPr>
              <a:t>and</a:t>
            </a:r>
            <a:r>
              <a:rPr sz="1200" spc="-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Times New Roman"/>
                <a:cs typeface="Times New Roman"/>
              </a:rPr>
              <a:t>dashboard</a:t>
            </a:r>
            <a:r>
              <a:rPr sz="1200" spc="-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Times New Roman"/>
                <a:cs typeface="Times New Roman"/>
              </a:rPr>
              <a:t>analytics.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8787" y="2947161"/>
            <a:ext cx="431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Designed</a:t>
            </a:r>
            <a:r>
              <a:rPr sz="12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for</a:t>
            </a:r>
            <a:r>
              <a:rPr sz="12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30" dirty="0">
                <a:solidFill>
                  <a:srgbClr val="1E2939"/>
                </a:solidFill>
                <a:latin typeface="Times New Roman"/>
                <a:cs typeface="Times New Roman"/>
              </a:rPr>
              <a:t>real-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world enterprise</a:t>
            </a:r>
            <a:r>
              <a:rPr sz="12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use</a:t>
            </a:r>
            <a:r>
              <a:rPr sz="12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with</a:t>
            </a:r>
            <a:r>
              <a:rPr sz="12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MVC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architecture,</a:t>
            </a:r>
            <a:r>
              <a:rPr sz="1200" spc="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layered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service</a:t>
            </a:r>
            <a:r>
              <a:rPr sz="12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design,</a:t>
            </a:r>
            <a:r>
              <a:rPr sz="12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2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database</a:t>
            </a:r>
            <a:r>
              <a:rPr sz="12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integrity.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8787" y="3606165"/>
            <a:ext cx="4604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The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system</a:t>
            </a:r>
            <a:r>
              <a:rPr sz="12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simulates</a:t>
            </a:r>
            <a:r>
              <a:rPr sz="12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realistic</a:t>
            </a:r>
            <a:r>
              <a:rPr sz="12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business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scenarios</a:t>
            </a:r>
            <a:r>
              <a:rPr sz="12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including</a:t>
            </a:r>
            <a:r>
              <a:rPr sz="12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stock</a:t>
            </a:r>
            <a:r>
              <a:rPr sz="12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depletion,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reorder</a:t>
            </a:r>
            <a:r>
              <a:rPr sz="12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triggers,</a:t>
            </a:r>
            <a:r>
              <a:rPr sz="12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2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risk</a:t>
            </a:r>
            <a:r>
              <a:rPr sz="12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9"/>
                </a:solidFill>
                <a:latin typeface="Times New Roman"/>
                <a:cs typeface="Times New Roman"/>
              </a:rPr>
              <a:t>threshold</a:t>
            </a:r>
            <a:r>
              <a:rPr sz="12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9"/>
                </a:solidFill>
                <a:latin typeface="Times New Roman"/>
                <a:cs typeface="Times New Roman"/>
              </a:rPr>
              <a:t>alerts.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84772" y="1073013"/>
            <a:ext cx="3178810" cy="6172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560"/>
              </a:spcBef>
            </a:pPr>
            <a:r>
              <a:rPr sz="2200" b="1" spc="-25" dirty="0">
                <a:solidFill>
                  <a:srgbClr val="0891B0"/>
                </a:solidFill>
                <a:latin typeface="Times New Roman"/>
                <a:cs typeface="Times New Roman"/>
              </a:rPr>
              <a:t>MVC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235"/>
              </a:spcBef>
            </a:pP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Architecture</a:t>
            </a:r>
            <a:r>
              <a:rPr sz="110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Pattern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86400" y="1865337"/>
            <a:ext cx="3458845" cy="962660"/>
            <a:chOff x="5486400" y="1865337"/>
            <a:chExt cx="3458845" cy="96266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1865337"/>
              <a:ext cx="3458717" cy="9624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678423" y="1947671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3191255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3191255" y="749807"/>
                  </a:lnTo>
                  <a:lnTo>
                    <a:pt x="3191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23560" y="1947671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7"/>
                  </a:moveTo>
                  <a:lnTo>
                    <a:pt x="3246119" y="749807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23560" y="194767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2" y="749807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23560" y="194767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2" y="749807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8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684772" y="1968374"/>
            <a:ext cx="3178810" cy="61849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565"/>
              </a:spcBef>
            </a:pPr>
            <a:r>
              <a:rPr sz="2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Spring</a:t>
            </a:r>
            <a:r>
              <a:rPr sz="2200" b="1" spc="-85" dirty="0">
                <a:solidFill>
                  <a:srgbClr val="895CF6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895CF6"/>
                </a:solidFill>
                <a:latin typeface="Times New Roman"/>
                <a:cs typeface="Times New Roman"/>
              </a:rPr>
              <a:t>MVC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24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API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Design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Style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86400" y="2816313"/>
            <a:ext cx="3458845" cy="962660"/>
            <a:chOff x="5486400" y="2816313"/>
            <a:chExt cx="3458845" cy="96266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2816313"/>
              <a:ext cx="3458717" cy="9624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678423" y="2898648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3191255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3191255" y="749807"/>
                  </a:lnTo>
                  <a:lnTo>
                    <a:pt x="3191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23560" y="2898648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7"/>
                  </a:moveTo>
                  <a:lnTo>
                    <a:pt x="3246119" y="749807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23560" y="2898648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2" y="749807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23560" y="2898648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2" y="749807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8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684772" y="2920990"/>
            <a:ext cx="3178810" cy="6172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560"/>
              </a:spcBef>
            </a:pPr>
            <a:r>
              <a:rPr sz="2200" b="1" spc="-20" dirty="0">
                <a:solidFill>
                  <a:srgbClr val="0EB881"/>
                </a:solidFill>
                <a:latin typeface="Times New Roman"/>
                <a:cs typeface="Times New Roman"/>
              </a:rPr>
              <a:t>ACID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235"/>
              </a:spcBef>
            </a:pP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Transaction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Compliance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86400" y="3781031"/>
            <a:ext cx="3458845" cy="962660"/>
            <a:chOff x="5486400" y="3781031"/>
            <a:chExt cx="3458845" cy="962660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6400" y="3781031"/>
              <a:ext cx="3458717" cy="96244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23560" y="3863555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4178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178" y="749808"/>
                  </a:lnTo>
                  <a:lnTo>
                    <a:pt x="4178" y="0"/>
                  </a:lnTo>
                  <a:close/>
                </a:path>
                <a:path w="3246120" h="749935">
                  <a:moveTo>
                    <a:pt x="3246120" y="0"/>
                  </a:moveTo>
                  <a:lnTo>
                    <a:pt x="59055" y="0"/>
                  </a:lnTo>
                  <a:lnTo>
                    <a:pt x="59055" y="749808"/>
                  </a:lnTo>
                  <a:lnTo>
                    <a:pt x="3246120" y="749808"/>
                  </a:lnTo>
                  <a:lnTo>
                    <a:pt x="3246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23560" y="3863555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8"/>
                  </a:moveTo>
                  <a:lnTo>
                    <a:pt x="3246119" y="749808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27751" y="38679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2" y="749808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27751" y="38679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2" y="749808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688963" y="3762874"/>
            <a:ext cx="3174365" cy="6172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560"/>
              </a:spcBef>
            </a:pPr>
            <a:r>
              <a:rPr sz="2200" b="1" spc="-25" dirty="0">
                <a:solidFill>
                  <a:srgbClr val="F59E09"/>
                </a:solidFill>
                <a:latin typeface="Times New Roman"/>
                <a:cs typeface="Times New Roman"/>
              </a:rPr>
              <a:t>OOP</a:t>
            </a:r>
            <a:endParaRPr sz="22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Java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Design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114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32651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20" dirty="0">
                <a:solidFill>
                  <a:srgbClr val="0891B0"/>
                </a:solidFill>
                <a:latin typeface="Times New Roman"/>
                <a:cs typeface="Times New Roman"/>
              </a:rPr>
              <a:t>Challenges</a:t>
            </a:r>
            <a:r>
              <a:rPr sz="1300" i="1" spc="-2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in</a:t>
            </a:r>
            <a:r>
              <a:rPr sz="1300" i="1" spc="-3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Traditional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Inventory</a:t>
            </a:r>
            <a:r>
              <a:rPr sz="1300" i="1" spc="-2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Management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1014983"/>
            <a:ext cx="4418965" cy="1383030"/>
            <a:chOff x="137160" y="1014983"/>
            <a:chExt cx="4418965" cy="1383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014983"/>
              <a:ext cx="4418838" cy="13830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84" y="1097279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4151376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151376" y="1170432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97279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2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2" y="1170432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ED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2" y="1170432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5532" y="1204975"/>
            <a:ext cx="4138929" cy="880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Manual</a:t>
            </a:r>
            <a:r>
              <a:rPr sz="1300" b="1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Tracking</a:t>
            </a:r>
            <a:r>
              <a:rPr sz="1300" b="1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Errors</a:t>
            </a:r>
            <a:endParaRPr sz="1300">
              <a:latin typeface="Times New Roman"/>
              <a:cs typeface="Times New Roman"/>
            </a:endParaRPr>
          </a:p>
          <a:p>
            <a:pPr marL="103505" marR="439420">
              <a:lnSpc>
                <a:spcPct val="100000"/>
              </a:lnSpc>
              <a:spcBef>
                <a:spcPts val="1205"/>
              </a:spcBef>
            </a:pP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Spreadsheet-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based</a:t>
            </a:r>
            <a:r>
              <a:rPr sz="11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tracking</a:t>
            </a:r>
            <a:r>
              <a:rPr sz="1100" spc="-3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leads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to</a:t>
            </a:r>
            <a:r>
              <a:rPr sz="1100" spc="-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inaccurate</a:t>
            </a:r>
            <a:r>
              <a:rPr sz="1100" spc="-6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stock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counts,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data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inconsistency,</a:t>
            </a:r>
            <a:r>
              <a:rPr sz="1100" spc="-4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human</a:t>
            </a:r>
            <a:r>
              <a:rPr sz="1100" spc="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errors</a:t>
            </a:r>
            <a:r>
              <a:rPr sz="1100" spc="-9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causing</a:t>
            </a:r>
            <a:r>
              <a:rPr sz="1100" spc="-6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costly</a:t>
            </a:r>
            <a:r>
              <a:rPr sz="11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overstock</a:t>
            </a:r>
            <a:r>
              <a:rPr sz="1100" spc="-6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35" dirty="0">
                <a:solidFill>
                  <a:srgbClr val="575757"/>
                </a:solidFill>
                <a:latin typeface="Times New Roman"/>
                <a:cs typeface="Times New Roman"/>
              </a:rPr>
              <a:t>or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stockouts.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0" y="1014983"/>
            <a:ext cx="4418965" cy="1383030"/>
            <a:chOff x="4572000" y="1014983"/>
            <a:chExt cx="4418965" cy="13830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014983"/>
              <a:ext cx="4418838" cy="13830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64023" y="1097279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4151376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151376" y="1170432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9160" y="1097279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6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2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2" y="1170432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916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2" y="1170432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70372" y="1204975"/>
            <a:ext cx="4138929" cy="880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No</a:t>
            </a:r>
            <a:r>
              <a:rPr sz="1300" b="1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30" dirty="0">
                <a:solidFill>
                  <a:srgbClr val="1E2939"/>
                </a:solidFill>
                <a:latin typeface="Times New Roman"/>
                <a:cs typeface="Times New Roman"/>
              </a:rPr>
              <a:t>Real-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Time</a:t>
            </a:r>
            <a:r>
              <a:rPr sz="1300" b="1" spc="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Visibility</a:t>
            </a:r>
            <a:endParaRPr sz="1300">
              <a:latin typeface="Times New Roman"/>
              <a:cs typeface="Times New Roman"/>
            </a:endParaRPr>
          </a:p>
          <a:p>
            <a:pPr marL="104139" marR="657860">
              <a:lnSpc>
                <a:spcPct val="100000"/>
              </a:lnSpc>
              <a:spcBef>
                <a:spcPts val="1205"/>
              </a:spcBef>
            </a:pP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Businesses</a:t>
            </a:r>
            <a:r>
              <a:rPr sz="11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lack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real-time</a:t>
            </a:r>
            <a:r>
              <a:rPr sz="1100" spc="-1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stock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level</a:t>
            </a:r>
            <a:r>
              <a:rPr sz="1100" spc="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monitoring,</a:t>
            </a:r>
            <a:r>
              <a:rPr sz="1100" spc="-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resulting</a:t>
            </a:r>
            <a:r>
              <a:rPr sz="11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in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delayed</a:t>
            </a:r>
            <a:r>
              <a:rPr sz="1100" spc="-4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decisions,</a:t>
            </a:r>
            <a:r>
              <a:rPr sz="1100" spc="-6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undetected</a:t>
            </a:r>
            <a:r>
              <a:rPr sz="1100" spc="-7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shortages,</a:t>
            </a:r>
            <a:r>
              <a:rPr sz="1100" spc="-6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missed</a:t>
            </a:r>
            <a:r>
              <a:rPr sz="1100" spc="-3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reorder triggers.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7160" y="2340864"/>
            <a:ext cx="4418965" cy="1383030"/>
            <a:chOff x="137160" y="2340864"/>
            <a:chExt cx="4418965" cy="138303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340864"/>
              <a:ext cx="4418838" cy="138303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9184" y="242316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4151376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4151376" y="1170431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42316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1"/>
                  </a:moveTo>
                  <a:lnTo>
                    <a:pt x="4206240" y="117043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2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54862" y="1170431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1"/>
                  </a:moveTo>
                  <a:lnTo>
                    <a:pt x="54862" y="1170431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5532" y="2531744"/>
            <a:ext cx="4138929" cy="79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Fragmented</a:t>
            </a:r>
            <a:r>
              <a:rPr sz="1300" b="1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Systems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250190">
              <a:lnSpc>
                <a:spcPct val="100000"/>
              </a:lnSpc>
            </a:pP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Separate</a:t>
            </a:r>
            <a:r>
              <a:rPr sz="1100" spc="-7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tools</a:t>
            </a:r>
            <a:r>
              <a:rPr sz="1100" spc="-4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for</a:t>
            </a:r>
            <a:r>
              <a:rPr sz="1100" spc="1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procurement,</a:t>
            </a:r>
            <a:r>
              <a:rPr sz="1100" spc="-4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sales,</a:t>
            </a:r>
            <a:r>
              <a:rPr sz="1100" spc="-4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suppliers,</a:t>
            </a:r>
            <a:r>
              <a:rPr sz="11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and</a:t>
            </a:r>
            <a:r>
              <a:rPr sz="1100" spc="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reporting</a:t>
            </a:r>
            <a:r>
              <a:rPr sz="11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create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data</a:t>
            </a:r>
            <a:r>
              <a:rPr sz="1100" spc="-4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silos</a:t>
            </a:r>
            <a:r>
              <a:rPr sz="1100" spc="-6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with</a:t>
            </a:r>
            <a:r>
              <a:rPr sz="1100" spc="-4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no</a:t>
            </a:r>
            <a:r>
              <a:rPr sz="1100" spc="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centralized</a:t>
            </a:r>
            <a:r>
              <a:rPr sz="1100" spc="-4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control</a:t>
            </a:r>
            <a:r>
              <a:rPr sz="1100" spc="-8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or</a:t>
            </a:r>
            <a:r>
              <a:rPr sz="1100" spc="-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audit</a:t>
            </a:r>
            <a:r>
              <a:rPr sz="1100" spc="-6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trail.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72000" y="2340864"/>
            <a:ext cx="4418965" cy="1383030"/>
            <a:chOff x="4572000" y="2340864"/>
            <a:chExt cx="4418965" cy="13830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340864"/>
              <a:ext cx="4418838" cy="138303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64023" y="242316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4151376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4151376" y="1170431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09160" y="242316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1"/>
                  </a:moveTo>
                  <a:lnTo>
                    <a:pt x="4206240" y="117043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0916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2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54862" y="1170431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ED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0916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1"/>
                  </a:moveTo>
                  <a:lnTo>
                    <a:pt x="54862" y="1170431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70372" y="2531744"/>
            <a:ext cx="4138929" cy="79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No</a:t>
            </a:r>
            <a:r>
              <a:rPr sz="1300" b="1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Risk</a:t>
            </a:r>
            <a:r>
              <a:rPr sz="1300" b="1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Threshold</a:t>
            </a:r>
            <a:r>
              <a:rPr sz="1300" b="1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Alerts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300">
              <a:latin typeface="Times New Roman"/>
              <a:cs typeface="Times New Roman"/>
            </a:endParaRPr>
          </a:p>
          <a:p>
            <a:pPr marL="104139" marR="237490">
              <a:lnSpc>
                <a:spcPct val="100000"/>
              </a:lnSpc>
            </a:pP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Without</a:t>
            </a:r>
            <a:r>
              <a:rPr sz="1100" spc="-8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automated</a:t>
            </a:r>
            <a:r>
              <a:rPr sz="11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threshold</a:t>
            </a:r>
            <a:r>
              <a:rPr sz="1100" spc="-6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managers</a:t>
            </a:r>
            <a:r>
              <a:rPr sz="1100" spc="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are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unaware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of</a:t>
            </a:r>
            <a:r>
              <a:rPr sz="1100" spc="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critical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inventory</a:t>
            </a:r>
            <a:r>
              <a:rPr sz="11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levels</a:t>
            </a:r>
            <a:r>
              <a:rPr sz="1100" spc="-4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until</a:t>
            </a:r>
            <a:r>
              <a:rPr sz="1100" spc="-5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operations</a:t>
            </a:r>
            <a:r>
              <a:rPr sz="11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are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already</a:t>
            </a:r>
            <a:r>
              <a:rPr sz="1100" spc="-5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disrupted.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7160" y="3666719"/>
            <a:ext cx="4418965" cy="1383030"/>
            <a:chOff x="137160" y="3666719"/>
            <a:chExt cx="4418965" cy="138303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666719"/>
              <a:ext cx="4418838" cy="138303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9184" y="374904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4151376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151376" y="1170432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74904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2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2" y="1170432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2" y="1170432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35532" y="3858564"/>
            <a:ext cx="4138929" cy="795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Poor</a:t>
            </a:r>
            <a:r>
              <a:rPr sz="1300" b="1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Transaction</a:t>
            </a:r>
            <a:r>
              <a:rPr sz="1300" b="1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Integrity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332105">
              <a:lnSpc>
                <a:spcPct val="100000"/>
              </a:lnSpc>
              <a:spcBef>
                <a:spcPts val="5"/>
              </a:spcBef>
            </a:pPr>
            <a:r>
              <a:rPr sz="1100" spc="-30" dirty="0">
                <a:solidFill>
                  <a:srgbClr val="575757"/>
                </a:solidFill>
                <a:latin typeface="Times New Roman"/>
                <a:cs typeface="Times New Roman"/>
              </a:rPr>
              <a:t>Non-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ACID</a:t>
            </a:r>
            <a:r>
              <a:rPr sz="1100" spc="1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transactions</a:t>
            </a:r>
            <a:r>
              <a:rPr sz="1100" spc="-7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result</a:t>
            </a:r>
            <a:r>
              <a:rPr sz="1100" spc="-9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in partial</a:t>
            </a:r>
            <a:r>
              <a:rPr sz="1100" spc="-7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updates,</a:t>
            </a:r>
            <a:r>
              <a:rPr sz="1100" spc="-6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orphaned</a:t>
            </a:r>
            <a:r>
              <a:rPr sz="1100" spc="-5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records,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and</a:t>
            </a:r>
            <a:r>
              <a:rPr sz="1100" spc="3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data</a:t>
            </a:r>
            <a:r>
              <a:rPr sz="1100" spc="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corruption</a:t>
            </a:r>
            <a:r>
              <a:rPr sz="1100" spc="-3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across</a:t>
            </a:r>
            <a:r>
              <a:rPr sz="1100" spc="-1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multi-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step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inventory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72000" y="3666719"/>
            <a:ext cx="4418965" cy="1383030"/>
            <a:chOff x="4572000" y="3666719"/>
            <a:chExt cx="4418965" cy="138303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666719"/>
              <a:ext cx="4418838" cy="138303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64023" y="374904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4151376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151376" y="1170432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09160" y="374904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0916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2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2" y="1170432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0916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2" y="1170432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770372" y="3858564"/>
            <a:ext cx="4138929" cy="795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Scalability</a:t>
            </a:r>
            <a:r>
              <a:rPr sz="1300" b="1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Limitations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300">
              <a:latin typeface="Times New Roman"/>
              <a:cs typeface="Times New Roman"/>
            </a:endParaRPr>
          </a:p>
          <a:p>
            <a:pPr marL="104139" marR="23749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Legacy</a:t>
            </a:r>
            <a:r>
              <a:rPr sz="1100" spc="-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systems</a:t>
            </a:r>
            <a:r>
              <a:rPr sz="11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fail</a:t>
            </a:r>
            <a:r>
              <a:rPr sz="1100" spc="-8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to</a:t>
            </a:r>
            <a:r>
              <a:rPr sz="1100" spc="-3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scale</a:t>
            </a:r>
            <a:r>
              <a:rPr sz="11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with</a:t>
            </a:r>
            <a:r>
              <a:rPr sz="11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growing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product</a:t>
            </a:r>
            <a:r>
              <a:rPr sz="1100" spc="-6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catalogs,</a:t>
            </a:r>
            <a:r>
              <a:rPr sz="1100" spc="-8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multiple </a:t>
            </a:r>
            <a:r>
              <a:rPr sz="1100" spc="-20" dirty="0">
                <a:solidFill>
                  <a:srgbClr val="575757"/>
                </a:solidFill>
                <a:latin typeface="Times New Roman"/>
                <a:cs typeface="Times New Roman"/>
              </a:rPr>
              <a:t>warehouses,</a:t>
            </a:r>
            <a:r>
              <a:rPr sz="1100" spc="-1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and</a:t>
            </a:r>
            <a:r>
              <a:rPr sz="1100" spc="9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increasing</a:t>
            </a:r>
            <a:r>
              <a:rPr sz="110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transaction</a:t>
            </a:r>
            <a:r>
              <a:rPr sz="1100" spc="1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imes New Roman"/>
                <a:cs typeface="Times New Roman"/>
              </a:rPr>
              <a:t>volumes.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100" dirty="0"/>
              <a:t> </a:t>
            </a:r>
            <a:r>
              <a:rPr dirty="0"/>
              <a:t>Build</a:t>
            </a:r>
            <a:r>
              <a:rPr spc="-70" dirty="0"/>
              <a:t> </a:t>
            </a:r>
            <a:r>
              <a:rPr dirty="0"/>
              <a:t>This</a:t>
            </a:r>
            <a:r>
              <a:rPr spc="-9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24904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Motivation,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Goals</a:t>
            </a:r>
            <a:r>
              <a:rPr sz="1300" i="1" spc="-7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&amp;</a:t>
            </a:r>
            <a:r>
              <a:rPr sz="1300" i="1" spc="-7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Academic</a:t>
            </a:r>
            <a:r>
              <a:rPr sz="1300" i="1" spc="-6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Value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23544"/>
            <a:ext cx="4418965" cy="1419860"/>
            <a:chOff x="137160" y="923544"/>
            <a:chExt cx="4418965" cy="1419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23544"/>
              <a:ext cx="4418838" cy="14196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005840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4320" y="1005839"/>
            <a:ext cx="502920" cy="1207135"/>
          </a:xfrm>
          <a:prstGeom prst="rect">
            <a:avLst/>
          </a:prstGeom>
          <a:solidFill>
            <a:srgbClr val="0891B0">
              <a:alpha val="85096"/>
            </a:srgbClr>
          </a:solidFill>
          <a:ln w="12700">
            <a:solidFill>
              <a:srgbClr val="0891B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endParaRPr sz="24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0891B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1005839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0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45"/>
              </a:spcBef>
            </a:pPr>
            <a:r>
              <a:rPr sz="1300" b="1" spc="-25" dirty="0">
                <a:solidFill>
                  <a:srgbClr val="1E2939"/>
                </a:solidFill>
                <a:latin typeface="Times New Roman"/>
                <a:cs typeface="Times New Roman"/>
              </a:rPr>
              <a:t>Industry-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Relevant</a:t>
            </a:r>
            <a:r>
              <a:rPr sz="1300" b="1" spc="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Tech</a:t>
            </a:r>
            <a:r>
              <a:rPr sz="1300" b="1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Stack</a:t>
            </a:r>
            <a:endParaRPr sz="1300">
              <a:latin typeface="Times New Roman"/>
              <a:cs typeface="Times New Roman"/>
            </a:endParaRPr>
          </a:p>
          <a:p>
            <a:pPr marL="91440" marR="110489">
              <a:lnSpc>
                <a:spcPct val="100000"/>
              </a:lnSpc>
              <a:spcBef>
                <a:spcPts val="13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Spring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Boot,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Thymeleaf,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JPA,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MySQL</a:t>
            </a:r>
            <a:r>
              <a:rPr sz="11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are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widely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adopted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enterprise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Java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development.</a:t>
            </a:r>
            <a:r>
              <a:rPr sz="110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This</a:t>
            </a:r>
            <a:r>
              <a:rPr sz="110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project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provides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hands-</a:t>
            </a:r>
            <a:r>
              <a:rPr sz="1100" spc="50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on</a:t>
            </a:r>
            <a:r>
              <a:rPr sz="1100" spc="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expertise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production-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level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frameworks.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0" y="923544"/>
            <a:ext cx="4418965" cy="1419860"/>
            <a:chOff x="4572000" y="923544"/>
            <a:chExt cx="4418965" cy="14198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923544"/>
              <a:ext cx="4418838" cy="14196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09160" y="1005840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09159" y="1005839"/>
            <a:ext cx="502920" cy="12071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endParaRPr sz="24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895CF6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12079" y="1005839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0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4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Solve</a:t>
            </a:r>
            <a:r>
              <a:rPr sz="1300" b="1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a</a:t>
            </a:r>
            <a:r>
              <a:rPr sz="1300" b="1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Universal</a:t>
            </a:r>
            <a:r>
              <a:rPr sz="1300" b="1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Business</a:t>
            </a:r>
            <a:r>
              <a:rPr sz="1300" b="1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Need</a:t>
            </a:r>
            <a:endParaRPr sz="1300">
              <a:latin typeface="Times New Roman"/>
              <a:cs typeface="Times New Roman"/>
            </a:endParaRPr>
          </a:p>
          <a:p>
            <a:pPr marL="92075" marR="116205">
              <a:lnSpc>
                <a:spcPct val="100000"/>
              </a:lnSpc>
              <a:spcBef>
                <a:spcPts val="13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Every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business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—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retail,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manufacturing,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healthcare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—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requires inventory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control.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Building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this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system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addresses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</a:t>
            </a:r>
            <a:r>
              <a:rPr sz="110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universal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operational</a:t>
            </a:r>
            <a:r>
              <a:rPr sz="1100" spc="-7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challenge.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7160" y="2276855"/>
            <a:ext cx="4418965" cy="1419860"/>
            <a:chOff x="137160" y="2276855"/>
            <a:chExt cx="4418965" cy="14198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276855"/>
              <a:ext cx="4418838" cy="14196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2359151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4320" y="2359151"/>
            <a:ext cx="502920" cy="1207135"/>
          </a:xfrm>
          <a:prstGeom prst="rect">
            <a:avLst/>
          </a:prstGeom>
          <a:solidFill>
            <a:srgbClr val="0EB881">
              <a:alpha val="85096"/>
            </a:srgbClr>
          </a:solidFill>
          <a:ln w="12700">
            <a:solidFill>
              <a:srgbClr val="0EB881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400" b="1" spc="-50" dirty="0">
                <a:solidFill>
                  <a:srgbClr val="0EB881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240" y="2359151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0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Practice</a:t>
            </a:r>
            <a:r>
              <a:rPr sz="13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Layered</a:t>
            </a:r>
            <a:r>
              <a:rPr sz="1300" b="1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  <a:p>
            <a:pPr marL="91440" marR="422909">
              <a:lnSpc>
                <a:spcPct val="100000"/>
              </a:lnSpc>
              <a:spcBef>
                <a:spcPts val="1305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Implementing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Controller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10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Service →</a:t>
            </a:r>
            <a:r>
              <a:rPr sz="11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Repository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layers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enforces</a:t>
            </a:r>
            <a:r>
              <a:rPr sz="1100" spc="-9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clean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separation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of</a:t>
            </a:r>
            <a:r>
              <a:rPr sz="11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concerns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—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</a:t>
            </a:r>
            <a:r>
              <a:rPr sz="110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fundamental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software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engineering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principle.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0" y="2276855"/>
            <a:ext cx="4418965" cy="1419860"/>
            <a:chOff x="4572000" y="2276855"/>
            <a:chExt cx="4418965" cy="141986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276855"/>
              <a:ext cx="4418838" cy="141960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09160" y="2359151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09159" y="2359151"/>
            <a:ext cx="502920" cy="1207135"/>
          </a:xfrm>
          <a:prstGeom prst="rect">
            <a:avLst/>
          </a:prstGeom>
          <a:solidFill>
            <a:srgbClr val="F59E09">
              <a:alpha val="85096"/>
            </a:srgbClr>
          </a:solidFill>
          <a:ln w="12700">
            <a:solidFill>
              <a:srgbClr val="F59E09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24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2400" b="1" spc="-50" dirty="0">
                <a:solidFill>
                  <a:srgbClr val="F59E09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079" y="2359151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50" rIns="0" bIns="0" rtlCol="0">
            <a:spAutoFit/>
          </a:bodyPr>
          <a:lstStyle/>
          <a:p>
            <a:pPr marL="92075" algn="just">
              <a:lnSpc>
                <a:spcPct val="100000"/>
              </a:lnSpc>
              <a:spcBef>
                <a:spcPts val="950"/>
              </a:spcBef>
            </a:pP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Learn</a:t>
            </a:r>
            <a:r>
              <a:rPr sz="1300" b="1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Transactional</a:t>
            </a:r>
            <a:r>
              <a:rPr sz="1300" b="1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Integrity</a:t>
            </a:r>
            <a:endParaRPr sz="1300">
              <a:latin typeface="Times New Roman"/>
              <a:cs typeface="Times New Roman"/>
            </a:endParaRPr>
          </a:p>
          <a:p>
            <a:pPr marL="92075" marR="214629" algn="just">
              <a:lnSpc>
                <a:spcPct val="100000"/>
              </a:lnSpc>
              <a:spcBef>
                <a:spcPts val="1305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Applying</a:t>
            </a:r>
            <a:r>
              <a:rPr sz="1100" spc="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@Transactional</a:t>
            </a:r>
            <a:r>
              <a:rPr sz="110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annotations</a:t>
            </a:r>
            <a:r>
              <a:rPr sz="110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handling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rollback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scenarios</a:t>
            </a:r>
            <a:r>
              <a:rPr sz="1100" spc="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builds</a:t>
            </a:r>
            <a:r>
              <a:rPr sz="1100" spc="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understanding</a:t>
            </a:r>
            <a:r>
              <a:rPr sz="1100" spc="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of</a:t>
            </a:r>
            <a:r>
              <a:rPr sz="1100" spc="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ACID-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compliant</a:t>
            </a:r>
            <a:r>
              <a:rPr sz="1100" spc="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database operations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practice.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3630165"/>
            <a:ext cx="4418965" cy="1419860"/>
            <a:chOff x="137160" y="3630165"/>
            <a:chExt cx="4418965" cy="141986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630165"/>
              <a:ext cx="4418838" cy="141960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320" y="3712464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4320" y="3712464"/>
            <a:ext cx="502920" cy="1207135"/>
          </a:xfrm>
          <a:prstGeom prst="rect">
            <a:avLst/>
          </a:prstGeom>
          <a:solidFill>
            <a:srgbClr val="F87316">
              <a:alpha val="85096"/>
            </a:srgbClr>
          </a:solidFill>
          <a:ln w="12700">
            <a:solidFill>
              <a:srgbClr val="F8731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4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240" y="3712464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12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Build</a:t>
            </a:r>
            <a:r>
              <a:rPr sz="13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40" dirty="0">
                <a:solidFill>
                  <a:srgbClr val="1E2939"/>
                </a:solidFill>
                <a:latin typeface="Times New Roman"/>
                <a:cs typeface="Times New Roman"/>
              </a:rPr>
              <a:t>End-</a:t>
            </a:r>
            <a:r>
              <a:rPr sz="1300" b="1" spc="-30" dirty="0">
                <a:solidFill>
                  <a:srgbClr val="1E2939"/>
                </a:solidFill>
                <a:latin typeface="Times New Roman"/>
                <a:cs typeface="Times New Roman"/>
              </a:rPr>
              <a:t>to-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End</a:t>
            </a:r>
            <a:r>
              <a:rPr sz="1300" b="1" spc="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Features</a:t>
            </a:r>
            <a:endParaRPr sz="1300">
              <a:latin typeface="Times New Roman"/>
              <a:cs typeface="Times New Roman"/>
            </a:endParaRPr>
          </a:p>
          <a:p>
            <a:pPr marL="91440" marR="150495">
              <a:lnSpc>
                <a:spcPct val="100000"/>
              </a:lnSpc>
              <a:spcBef>
                <a:spcPts val="131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From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authentication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to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simulation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modules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risk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alerts,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this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project</a:t>
            </a:r>
            <a:r>
              <a:rPr sz="1100" spc="-9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integrates</a:t>
            </a:r>
            <a:r>
              <a:rPr sz="1100" spc="-7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full-cycle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development: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backend,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frontend,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database,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logic.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0" y="3630165"/>
            <a:ext cx="4418965" cy="1419860"/>
            <a:chOff x="4572000" y="3630165"/>
            <a:chExt cx="4418965" cy="141986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630165"/>
              <a:ext cx="4418838" cy="141960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709160" y="3712464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709159" y="3712464"/>
            <a:ext cx="502920" cy="1207135"/>
          </a:xfrm>
          <a:prstGeom prst="rect">
            <a:avLst/>
          </a:prstGeom>
          <a:solidFill>
            <a:srgbClr val="ED4444">
              <a:alpha val="85096"/>
            </a:srgbClr>
          </a:solidFill>
          <a:ln w="12700">
            <a:solidFill>
              <a:srgbClr val="ED4444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endParaRPr sz="24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2400" b="1" spc="-50" dirty="0">
                <a:solidFill>
                  <a:srgbClr val="ED4444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12079" y="3712464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12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55"/>
              </a:spcBef>
            </a:pP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Academic</a:t>
            </a:r>
            <a:r>
              <a:rPr sz="1300" b="1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&amp;</a:t>
            </a:r>
            <a:r>
              <a:rPr sz="1300" b="1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Career</a:t>
            </a:r>
            <a:r>
              <a:rPr sz="1300" b="1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9"/>
                </a:solidFill>
                <a:latin typeface="Times New Roman"/>
                <a:cs typeface="Times New Roman"/>
              </a:rPr>
              <a:t>Portfolio</a:t>
            </a:r>
            <a:r>
              <a:rPr sz="1300" b="1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Value</a:t>
            </a:r>
            <a:endParaRPr sz="1300">
              <a:latin typeface="Times New Roman"/>
              <a:cs typeface="Times New Roman"/>
            </a:endParaRPr>
          </a:p>
          <a:p>
            <a:pPr marL="92075" marR="212090">
              <a:lnSpc>
                <a:spcPct val="100000"/>
              </a:lnSpc>
              <a:spcBef>
                <a:spcPts val="131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</a:t>
            </a:r>
            <a:r>
              <a:rPr sz="110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fully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functional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enterprise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application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demonstrates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senior-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level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development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skills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provides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concrete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evidence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of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system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design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capabilities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employers.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8"/>
            <a:ext cx="9156700" cy="5149850"/>
            <a:chOff x="-6350" y="-6348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5070475"/>
            </a:xfrm>
            <a:custGeom>
              <a:avLst/>
              <a:gdLst/>
              <a:ahLst/>
              <a:cxnLst/>
              <a:rect l="l" t="t" r="r" b="b"/>
              <a:pathLst>
                <a:path w="9144000" h="5070475">
                  <a:moveTo>
                    <a:pt x="0" y="5070347"/>
                  </a:moveTo>
                  <a:lnTo>
                    <a:pt x="9144000" y="507034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070347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95" y="62028"/>
            <a:ext cx="252349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Technology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Stack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Tools,</a:t>
            </a:r>
            <a:r>
              <a:rPr sz="1300" b="0" i="1" spc="-2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Frameworks</a:t>
            </a:r>
            <a:r>
              <a:rPr sz="1300" b="0" i="1" spc="-4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3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Libraries</a:t>
            </a:r>
            <a:r>
              <a:rPr sz="1300" b="0" i="1" spc="-20" dirty="0">
                <a:solidFill>
                  <a:srgbClr val="04B6D2"/>
                </a:solidFill>
                <a:latin typeface="Times New Roman"/>
                <a:cs typeface="Times New Roman"/>
              </a:rPr>
              <a:t> Used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4795" y="1042035"/>
            <a:ext cx="1573530" cy="1573530"/>
            <a:chOff x="264795" y="1042035"/>
            <a:chExt cx="1573530" cy="1573530"/>
          </a:xfrm>
        </p:grpSpPr>
        <p:sp>
          <p:nvSpPr>
            <p:cNvPr id="8" name="object 8"/>
            <p:cNvSpPr/>
            <p:nvPr/>
          </p:nvSpPr>
          <p:spPr>
            <a:xfrm>
              <a:off x="274320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80" h="1262380">
                  <a:moveTo>
                    <a:pt x="1554480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554480" y="1261872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80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7970" y="1042035"/>
            <a:ext cx="1567180" cy="308610"/>
          </a:xfrm>
          <a:prstGeom prst="rect">
            <a:avLst/>
          </a:prstGeom>
          <a:solidFill>
            <a:srgbClr val="F87316"/>
          </a:solidFill>
        </p:spPr>
        <p:txBody>
          <a:bodyPr vert="horz" wrap="square" lIns="0" tIns="86995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68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r>
              <a:rPr sz="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ua</a:t>
            </a:r>
            <a:r>
              <a:rPr sz="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68" y="1535429"/>
            <a:ext cx="6242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Java</a:t>
            </a:r>
            <a:r>
              <a:rPr sz="1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444" y="2174239"/>
            <a:ext cx="13760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Core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programming</a:t>
            </a:r>
            <a:r>
              <a:rPr sz="95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language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24989" y="1047750"/>
            <a:ext cx="1573530" cy="1573530"/>
            <a:chOff x="2324989" y="1047750"/>
            <a:chExt cx="1573530" cy="1573530"/>
          </a:xfrm>
        </p:grpSpPr>
        <p:sp>
          <p:nvSpPr>
            <p:cNvPr id="15" name="object 15"/>
            <p:cNvSpPr/>
            <p:nvPr/>
          </p:nvSpPr>
          <p:spPr>
            <a:xfrm>
              <a:off x="2334514" y="1349883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1554480" y="0"/>
                  </a:moveTo>
                  <a:lnTo>
                    <a:pt x="0" y="0"/>
                  </a:lnTo>
                  <a:lnTo>
                    <a:pt x="0" y="1261871"/>
                  </a:lnTo>
                  <a:lnTo>
                    <a:pt x="1554480" y="1261871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4514" y="1057275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4514" y="1057275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28164" y="1047750"/>
            <a:ext cx="1567180" cy="308610"/>
          </a:xfrm>
          <a:prstGeom prst="rect">
            <a:avLst/>
          </a:prstGeom>
          <a:solidFill>
            <a:srgbClr val="0EB881"/>
          </a:solidFill>
        </p:spPr>
        <p:txBody>
          <a:bodyPr vert="horz" wrap="square" lIns="0" tIns="8699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68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sz="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ckend</a:t>
            </a:r>
            <a:r>
              <a:rPr sz="800" b="1" spc="2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Fra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mew</a:t>
            </a:r>
            <a:r>
              <a:rPr sz="8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1914" y="1540890"/>
            <a:ext cx="97916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Boot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4839" y="2179701"/>
            <a:ext cx="14268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Auto-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configured</a:t>
            </a:r>
            <a:r>
              <a:rPr sz="950" spc="7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REST/MVC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85055" y="1042035"/>
            <a:ext cx="1573530" cy="1573530"/>
            <a:chOff x="4385055" y="1042035"/>
            <a:chExt cx="1573530" cy="1573530"/>
          </a:xfrm>
        </p:grpSpPr>
        <p:sp>
          <p:nvSpPr>
            <p:cNvPr id="22" name="object 22"/>
            <p:cNvSpPr/>
            <p:nvPr/>
          </p:nvSpPr>
          <p:spPr>
            <a:xfrm>
              <a:off x="4394580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1554479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554479" y="1261872"/>
                  </a:lnTo>
                  <a:lnTo>
                    <a:pt x="155447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94580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79" y="155448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94580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79" y="292608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88230" y="1042035"/>
            <a:ext cx="1567180" cy="30861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86995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68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Fro</a:t>
            </a:r>
            <a:r>
              <a:rPr sz="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ntend</a:t>
            </a:r>
            <a:r>
              <a:rPr sz="800" b="1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Eng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0528" y="1535429"/>
            <a:ext cx="8661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40301" y="2174239"/>
            <a:ext cx="14592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Server-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side</a:t>
            </a:r>
            <a:r>
              <a:rPr sz="95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HTML</a:t>
            </a:r>
            <a:r>
              <a:rPr sz="950" spc="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templating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74333" y="1042035"/>
            <a:ext cx="1573530" cy="1573530"/>
            <a:chOff x="6474333" y="1042035"/>
            <a:chExt cx="1573530" cy="1573530"/>
          </a:xfrm>
        </p:grpSpPr>
        <p:sp>
          <p:nvSpPr>
            <p:cNvPr id="29" name="object 29"/>
            <p:cNvSpPr/>
            <p:nvPr/>
          </p:nvSpPr>
          <p:spPr>
            <a:xfrm>
              <a:off x="6483858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1554480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554480" y="1261872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83858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4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83858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4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77508" y="1042035"/>
            <a:ext cx="1567180" cy="308610"/>
          </a:xfrm>
          <a:prstGeom prst="rect">
            <a:avLst/>
          </a:prstGeom>
          <a:solidFill>
            <a:srgbClr val="04B6D2"/>
          </a:solidFill>
        </p:spPr>
        <p:txBody>
          <a:bodyPr vert="horz" wrap="square" lIns="0" tIns="86995" rIns="0" bIns="0" rtlCol="0">
            <a:spAutoFit/>
          </a:bodyPr>
          <a:lstStyle/>
          <a:p>
            <a:pPr marL="483870">
              <a:lnSpc>
                <a:spcPct val="100000"/>
              </a:lnSpc>
              <a:spcBef>
                <a:spcPts val="68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800" b="1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35826" y="1535429"/>
            <a:ext cx="10547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MVC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87997" y="2174239"/>
            <a:ext cx="134048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HTTP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routing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&amp;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 controllers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85055" y="2870835"/>
            <a:ext cx="1573530" cy="1573530"/>
            <a:chOff x="4385055" y="2870835"/>
            <a:chExt cx="1573530" cy="1573530"/>
          </a:xfrm>
        </p:grpSpPr>
        <p:sp>
          <p:nvSpPr>
            <p:cNvPr id="36" name="object 36"/>
            <p:cNvSpPr/>
            <p:nvPr/>
          </p:nvSpPr>
          <p:spPr>
            <a:xfrm>
              <a:off x="4394580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1554479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554479" y="1261872"/>
                  </a:lnTo>
                  <a:lnTo>
                    <a:pt x="155447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94580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79" y="155448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94580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79" y="292607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88230" y="2870835"/>
            <a:ext cx="1567180" cy="308610"/>
          </a:xfrm>
          <a:prstGeom prst="rect">
            <a:avLst/>
          </a:prstGeom>
          <a:solidFill>
            <a:srgbClr val="895CF6"/>
          </a:solidFill>
        </p:spPr>
        <p:txBody>
          <a:bodyPr vert="horz" wrap="square" lIns="0" tIns="88265" rIns="0" bIns="0" rtlCol="0">
            <a:spAutoFit/>
          </a:bodyPr>
          <a:lstStyle/>
          <a:p>
            <a:pPr marL="461009">
              <a:lnSpc>
                <a:spcPct val="100000"/>
              </a:lnSpc>
              <a:spcBef>
                <a:spcPts val="69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800" b="1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79925" y="3364483"/>
            <a:ext cx="13855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JPA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7836" y="4004259"/>
            <a:ext cx="12668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Database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abstraction</a:t>
            </a:r>
            <a:r>
              <a:rPr sz="95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layer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64795" y="2870835"/>
            <a:ext cx="1573530" cy="1573530"/>
            <a:chOff x="264795" y="2870835"/>
            <a:chExt cx="1573530" cy="1573530"/>
          </a:xfrm>
        </p:grpSpPr>
        <p:sp>
          <p:nvSpPr>
            <p:cNvPr id="43" name="object 43"/>
            <p:cNvSpPr/>
            <p:nvPr/>
          </p:nvSpPr>
          <p:spPr>
            <a:xfrm>
              <a:off x="274320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80" h="1262379">
                  <a:moveTo>
                    <a:pt x="1554480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554480" y="1261872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320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80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67970" y="2870835"/>
            <a:ext cx="1567180" cy="308610"/>
          </a:xfrm>
          <a:prstGeom prst="rect">
            <a:avLst/>
          </a:prstGeom>
          <a:solidFill>
            <a:srgbClr val="ED4444"/>
          </a:solidFill>
        </p:spPr>
        <p:txBody>
          <a:bodyPr vert="horz" wrap="square" lIns="0" tIns="88265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69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800" b="1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Pro</a:t>
            </a:r>
            <a:r>
              <a:rPr sz="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vi</a:t>
            </a:r>
            <a:r>
              <a:rPr sz="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8860" y="3364483"/>
            <a:ext cx="8274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Hibernate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1596" y="4004259"/>
            <a:ext cx="12376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30" dirty="0">
                <a:solidFill>
                  <a:srgbClr val="92A1B8"/>
                </a:solidFill>
                <a:latin typeface="Times New Roman"/>
                <a:cs typeface="Times New Roman"/>
              </a:rPr>
              <a:t>Entity-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relational</a:t>
            </a:r>
            <a:r>
              <a:rPr sz="950" spc="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mapping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324989" y="2876499"/>
            <a:ext cx="1573530" cy="1573530"/>
            <a:chOff x="2324989" y="2876499"/>
            <a:chExt cx="1573530" cy="1573530"/>
          </a:xfrm>
        </p:grpSpPr>
        <p:sp>
          <p:nvSpPr>
            <p:cNvPr id="50" name="object 50"/>
            <p:cNvSpPr/>
            <p:nvPr/>
          </p:nvSpPr>
          <p:spPr>
            <a:xfrm>
              <a:off x="2334514" y="3178683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1554480" y="0"/>
                  </a:moveTo>
                  <a:lnTo>
                    <a:pt x="0" y="0"/>
                  </a:lnTo>
                  <a:lnTo>
                    <a:pt x="0" y="1261821"/>
                  </a:lnTo>
                  <a:lnTo>
                    <a:pt x="1554480" y="1261821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34514" y="2886024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34514" y="2886075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328164" y="2876499"/>
            <a:ext cx="1567180" cy="308610"/>
          </a:xfrm>
          <a:prstGeom prst="rect">
            <a:avLst/>
          </a:prstGeom>
          <a:solidFill>
            <a:srgbClr val="F59E09"/>
          </a:solidFill>
        </p:spPr>
        <p:txBody>
          <a:bodyPr vert="horz" wrap="square" lIns="0" tIns="8826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695"/>
              </a:spcBef>
            </a:pPr>
            <a:r>
              <a:rPr sz="8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83458" y="3370275"/>
            <a:ext cx="6648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464942" y="4009745"/>
            <a:ext cx="128587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Relational</a:t>
            </a:r>
            <a:r>
              <a:rPr sz="9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data</a:t>
            </a:r>
            <a:r>
              <a:rPr sz="9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persistence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74333" y="2870835"/>
            <a:ext cx="1573530" cy="1573530"/>
            <a:chOff x="6474333" y="2870835"/>
            <a:chExt cx="1573530" cy="1573530"/>
          </a:xfrm>
        </p:grpSpPr>
        <p:sp>
          <p:nvSpPr>
            <p:cNvPr id="57" name="object 57"/>
            <p:cNvSpPr/>
            <p:nvPr/>
          </p:nvSpPr>
          <p:spPr>
            <a:xfrm>
              <a:off x="6483858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1554480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554480" y="1261872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83858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83858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477508" y="2870835"/>
            <a:ext cx="1567180" cy="30861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882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UI</a:t>
            </a:r>
            <a:r>
              <a:rPr sz="800" b="1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8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70878" y="3364483"/>
            <a:ext cx="9886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HTML/CSS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42861" y="4004259"/>
            <a:ext cx="123507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Bootstrap-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styled</a:t>
            </a:r>
            <a:r>
              <a:rPr sz="950" spc="1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frontend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95" y="181432"/>
            <a:ext cx="3503929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Role</a:t>
            </a:r>
            <a:r>
              <a:rPr spc="-6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Each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325945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How</a:t>
            </a:r>
            <a:r>
              <a:rPr sz="1300" i="1" spc="-7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Every</a:t>
            </a:r>
            <a:r>
              <a:rPr sz="1300" i="1" spc="-7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Component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Contributes</a:t>
            </a:r>
            <a:r>
              <a:rPr sz="1300" i="1" spc="-6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to</a:t>
            </a:r>
            <a:r>
              <a:rPr sz="1300" i="1" spc="-7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the</a:t>
            </a:r>
            <a:r>
              <a:rPr sz="1300" i="1" spc="-6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23518"/>
            <a:ext cx="4418965" cy="1127125"/>
            <a:chOff x="137160" y="923518"/>
            <a:chExt cx="4418965" cy="1127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23518"/>
              <a:ext cx="4418838" cy="11270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00584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8731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0670" y="1012189"/>
            <a:ext cx="1045210" cy="405130"/>
          </a:xfrm>
          <a:prstGeom prst="rect">
            <a:avLst/>
          </a:prstGeom>
          <a:solidFill>
            <a:srgbClr val="EEF4F8"/>
          </a:solidFill>
        </p:spPr>
        <p:txBody>
          <a:bodyPr vert="horz" wrap="square" lIns="0" tIns="11366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895"/>
              </a:spcBef>
            </a:pPr>
            <a:r>
              <a:rPr sz="1300" b="1" dirty="0">
                <a:solidFill>
                  <a:srgbClr val="F87316"/>
                </a:solidFill>
                <a:latin typeface="Times New Roman"/>
                <a:cs typeface="Times New Roman"/>
              </a:rPr>
              <a:t>Java</a:t>
            </a:r>
            <a:r>
              <a:rPr sz="1300" b="1" spc="-45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17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670" y="1417319"/>
            <a:ext cx="1045210" cy="496570"/>
          </a:xfrm>
          <a:prstGeom prst="rect">
            <a:avLst/>
          </a:prstGeom>
          <a:solidFill>
            <a:srgbClr val="F87316">
              <a:alpha val="90194"/>
            </a:srgbClr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Foundation</a:t>
            </a:r>
            <a:r>
              <a:rPr sz="9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600" y="100583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81305">
              <a:lnSpc>
                <a:spcPct val="100000"/>
              </a:lnSpc>
            </a:pP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Provides</a:t>
            </a:r>
            <a:r>
              <a:rPr sz="11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OOP</a:t>
            </a:r>
            <a:r>
              <a:rPr sz="1100" spc="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constructs,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streams,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lambdas,</a:t>
            </a:r>
            <a:r>
              <a:rPr sz="11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and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generics.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All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business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logic,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entities,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services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are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implemented</a:t>
            </a:r>
            <a:r>
              <a:rPr sz="11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Java.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0" y="923518"/>
            <a:ext cx="4418965" cy="1127125"/>
            <a:chOff x="4572000" y="923518"/>
            <a:chExt cx="4418965" cy="11271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923518"/>
              <a:ext cx="4418838" cy="11270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09160" y="100584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6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EB88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4879" y="1051560"/>
              <a:ext cx="1005839" cy="36576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70916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9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15509" y="1113536"/>
            <a:ext cx="1097280" cy="676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EB881"/>
                </a:solidFill>
                <a:latin typeface="Times New Roman"/>
                <a:cs typeface="Times New Roman"/>
              </a:rPr>
              <a:t>Spring</a:t>
            </a:r>
            <a:r>
              <a:rPr sz="1300" b="1" spc="-45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EB881"/>
                </a:solidFill>
                <a:latin typeface="Times New Roman"/>
                <a:cs typeface="Times New Roman"/>
              </a:rPr>
              <a:t>Boot</a:t>
            </a:r>
            <a:endParaRPr sz="1300">
              <a:latin typeface="Times New Roman"/>
              <a:cs typeface="Times New Roman"/>
            </a:endParaRPr>
          </a:p>
          <a:p>
            <a:pPr marL="273050" marR="290830" algn="ctr">
              <a:lnSpc>
                <a:spcPct val="100000"/>
              </a:lnSpc>
              <a:spcBef>
                <a:spcPts val="1410"/>
              </a:spcBef>
            </a:pP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Application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Backbone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6440" y="100583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60020">
              <a:lnSpc>
                <a:spcPct val="100000"/>
              </a:lnSpc>
            </a:pP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Auto-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configures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the</a:t>
            </a:r>
            <a:r>
              <a:rPr sz="11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server,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manages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beans</a:t>
            </a:r>
            <a:r>
              <a:rPr sz="11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via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IoC,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provides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embedded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Tomcat,</a:t>
            </a:r>
            <a:r>
              <a:rPr sz="11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 enables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rapid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development</a:t>
            </a:r>
            <a:r>
              <a:rPr sz="11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without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XML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config.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7160" y="1929358"/>
            <a:ext cx="4418965" cy="1127125"/>
            <a:chOff x="137160" y="1929358"/>
            <a:chExt cx="4418965" cy="11271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929358"/>
              <a:ext cx="4418838" cy="112702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4320" y="201167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891B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0670" y="2018029"/>
            <a:ext cx="1045210" cy="405130"/>
          </a:xfrm>
          <a:prstGeom prst="rect">
            <a:avLst/>
          </a:prstGeom>
          <a:solidFill>
            <a:srgbClr val="EEF4F8"/>
          </a:solidFill>
        </p:spPr>
        <p:txBody>
          <a:bodyPr vert="horz" wrap="square" lIns="0" tIns="1143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00"/>
              </a:spcBef>
            </a:pPr>
            <a:r>
              <a:rPr sz="1300" b="1" dirty="0">
                <a:solidFill>
                  <a:srgbClr val="0891B0"/>
                </a:solidFill>
                <a:latin typeface="Times New Roman"/>
                <a:cs typeface="Times New Roman"/>
              </a:rPr>
              <a:t>Spring</a:t>
            </a:r>
            <a:r>
              <a:rPr sz="1300" b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0891B0"/>
                </a:solidFill>
                <a:latin typeface="Times New Roman"/>
                <a:cs typeface="Times New Roman"/>
              </a:rPr>
              <a:t>MVC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0670" y="2423160"/>
            <a:ext cx="1045210" cy="496570"/>
          </a:xfrm>
          <a:prstGeom prst="rect">
            <a:avLst/>
          </a:prstGeom>
          <a:solidFill>
            <a:srgbClr val="0891B0">
              <a:alpha val="90194"/>
            </a:srgbClr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9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1600" y="201167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64795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@Controller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classes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handle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HTTP requests,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map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URL</a:t>
            </a:r>
            <a:r>
              <a:rPr sz="1100" spc="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paths,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validate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inputs,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return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Thymeleaf views.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72000" y="1929358"/>
            <a:ext cx="4418965" cy="1127125"/>
            <a:chOff x="4572000" y="1929358"/>
            <a:chExt cx="4418965" cy="11271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929358"/>
              <a:ext cx="4418838" cy="112702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09160" y="201167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916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895CF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0916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8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4879" y="2057399"/>
              <a:ext cx="1005840" cy="365760"/>
            </a:xfrm>
            <a:custGeom>
              <a:avLst/>
              <a:gdLst/>
              <a:ahLst/>
              <a:cxnLst/>
              <a:rect l="l" t="t" r="r" b="b"/>
              <a:pathLst>
                <a:path w="1005839" h="365760">
                  <a:moveTo>
                    <a:pt x="10058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005839" y="365760"/>
                  </a:lnTo>
                  <a:lnTo>
                    <a:pt x="1005839" y="0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54879" y="2019426"/>
            <a:ext cx="1005840" cy="41402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6235" marR="73025" indent="-274320">
              <a:lnSpc>
                <a:spcPts val="1500"/>
              </a:lnSpc>
              <a:spcBef>
                <a:spcPts val="195"/>
              </a:spcBef>
            </a:pPr>
            <a:r>
              <a:rPr sz="1300" b="1" dirty="0">
                <a:solidFill>
                  <a:srgbClr val="895CF6"/>
                </a:solidFill>
                <a:latin typeface="Times New Roman"/>
                <a:cs typeface="Times New Roman"/>
              </a:rPr>
              <a:t>Spring</a:t>
            </a:r>
            <a:r>
              <a:rPr sz="1300" b="1" spc="-45" dirty="0">
                <a:solidFill>
                  <a:srgbClr val="895CF6"/>
                </a:solidFill>
                <a:latin typeface="Times New Roman"/>
                <a:cs typeface="Times New Roman"/>
              </a:rPr>
              <a:t> </a:t>
            </a:r>
            <a:r>
              <a:rPr sz="1300" b="1" spc="-30" dirty="0">
                <a:solidFill>
                  <a:srgbClr val="895CF6"/>
                </a:solidFill>
                <a:latin typeface="Times New Roman"/>
                <a:cs typeface="Times New Roman"/>
              </a:rPr>
              <a:t>Data </a:t>
            </a:r>
            <a:r>
              <a:rPr sz="1300" b="1" spc="-25" dirty="0">
                <a:solidFill>
                  <a:srgbClr val="895CF6"/>
                </a:solidFill>
                <a:latin typeface="Times New Roman"/>
                <a:cs typeface="Times New Roman"/>
              </a:rPr>
              <a:t>JPA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15332" y="2544267"/>
            <a:ext cx="8731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 Layer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06440" y="201167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498475" algn="just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Repository</a:t>
            </a:r>
            <a:r>
              <a:rPr sz="1100" spc="1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interfaces</a:t>
            </a:r>
            <a:r>
              <a:rPr sz="1100" spc="1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extend</a:t>
            </a:r>
            <a:r>
              <a:rPr sz="1100" spc="1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JpaRepository,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providing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CRUD and</a:t>
            </a:r>
            <a:r>
              <a:rPr sz="1100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custom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query</a:t>
            </a:r>
            <a:r>
              <a:rPr sz="1100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methods without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boilerplate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code.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7160" y="2935223"/>
            <a:ext cx="4418965" cy="1127125"/>
            <a:chOff x="137160" y="2935223"/>
            <a:chExt cx="4418965" cy="112712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935223"/>
              <a:ext cx="4418838" cy="112702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74320" y="301751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32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D749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432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D74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80670" y="3023870"/>
            <a:ext cx="1045210" cy="405130"/>
          </a:xfrm>
          <a:prstGeom prst="rect">
            <a:avLst/>
          </a:prstGeom>
          <a:solidFill>
            <a:srgbClr val="EEF4F8"/>
          </a:solidFill>
        </p:spPr>
        <p:txBody>
          <a:bodyPr vert="horz" wrap="square" lIns="0" tIns="1143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00"/>
              </a:spcBef>
            </a:pPr>
            <a:r>
              <a:rPr sz="1300" b="1" spc="-10" dirty="0">
                <a:solidFill>
                  <a:srgbClr val="0D7490"/>
                </a:solidFill>
                <a:latin typeface="Times New Roman"/>
                <a:cs typeface="Times New Roman"/>
              </a:rPr>
              <a:t>Thymeleaf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0670" y="3429000"/>
            <a:ext cx="1045210" cy="496570"/>
          </a:xfrm>
          <a:prstGeom prst="rect">
            <a:avLst/>
          </a:prstGeom>
          <a:solidFill>
            <a:srgbClr val="0D7490">
              <a:alpha val="90194"/>
            </a:srgbClr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Rendering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71600" y="3017520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113030">
              <a:lnSpc>
                <a:spcPct val="100000"/>
              </a:lnSpc>
            </a:pP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Server-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side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template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engine that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binds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model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attributes</a:t>
            </a:r>
            <a:r>
              <a:rPr sz="1100" spc="-8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from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controllers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HTML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pages,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enabling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dynamic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content</a:t>
            </a:r>
            <a:r>
              <a:rPr sz="1100" spc="-9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rendering.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572000" y="2935223"/>
            <a:ext cx="4418965" cy="1127125"/>
            <a:chOff x="4572000" y="2935223"/>
            <a:chExt cx="4418965" cy="112712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935223"/>
              <a:ext cx="4418838" cy="112702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709160" y="301751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0916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59E0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0916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8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754879" y="3063239"/>
              <a:ext cx="1005840" cy="365760"/>
            </a:xfrm>
            <a:custGeom>
              <a:avLst/>
              <a:gdLst/>
              <a:ahLst/>
              <a:cxnLst/>
              <a:rect l="l" t="t" r="r" b="b"/>
              <a:pathLst>
                <a:path w="1005839" h="365760">
                  <a:moveTo>
                    <a:pt x="10058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005839" y="365760"/>
                  </a:lnTo>
                  <a:lnTo>
                    <a:pt x="1005839" y="0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54879" y="3125800"/>
            <a:ext cx="10058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MySQL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35144" y="3550411"/>
            <a:ext cx="833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Persistent</a:t>
            </a:r>
            <a:r>
              <a:rPr sz="9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Storage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06440" y="3017520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246379">
              <a:lnSpc>
                <a:spcPct val="100000"/>
              </a:lnSpc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Stores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all</a:t>
            </a:r>
            <a:r>
              <a:rPr sz="11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entities:</a:t>
            </a:r>
            <a:r>
              <a:rPr sz="1100" spc="-8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products,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orders,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stock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movements,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user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data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relational</a:t>
            </a:r>
            <a:r>
              <a:rPr sz="1100" spc="-8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tables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with foreign-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key</a:t>
            </a:r>
            <a:r>
              <a:rPr sz="1100" spc="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integrity.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37160" y="3941064"/>
            <a:ext cx="4418965" cy="1127125"/>
            <a:chOff x="137160" y="3941064"/>
            <a:chExt cx="4418965" cy="1127125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941064"/>
              <a:ext cx="4418838" cy="112702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74320" y="402336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399"/>
                  </a:moveTo>
                  <a:lnTo>
                    <a:pt x="4206240" y="91439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4320" y="402336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097280" y="91439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ED444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74320" y="402336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399"/>
                  </a:moveTo>
                  <a:lnTo>
                    <a:pt x="1097280" y="91439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80670" y="4029709"/>
            <a:ext cx="1045210" cy="405130"/>
          </a:xfrm>
          <a:prstGeom prst="rect">
            <a:avLst/>
          </a:prstGeom>
          <a:solidFill>
            <a:srgbClr val="EEF4F8"/>
          </a:solidFill>
        </p:spPr>
        <p:txBody>
          <a:bodyPr vert="horz" wrap="square" lIns="0" tIns="11493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905"/>
              </a:spcBef>
            </a:pPr>
            <a:r>
              <a:rPr sz="1300" b="1" spc="-10" dirty="0">
                <a:solidFill>
                  <a:srgbClr val="ED4444"/>
                </a:solidFill>
                <a:latin typeface="Times New Roman"/>
                <a:cs typeface="Times New Roman"/>
              </a:rPr>
              <a:t>Hibernate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0670" y="4434840"/>
            <a:ext cx="1045210" cy="496570"/>
          </a:xfrm>
          <a:prstGeom prst="rect">
            <a:avLst/>
          </a:prstGeom>
          <a:solidFill>
            <a:srgbClr val="ED4444">
              <a:alpha val="90194"/>
            </a:srgbClr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9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71600" y="402335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85750">
              <a:lnSpc>
                <a:spcPct val="100000"/>
              </a:lnSpc>
            </a:pP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Translates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Java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entity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classes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to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database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tables,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manages</a:t>
            </a:r>
            <a:r>
              <a:rPr sz="11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entity</a:t>
            </a:r>
            <a:r>
              <a:rPr sz="1100" spc="-8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states,</a:t>
            </a:r>
            <a:r>
              <a:rPr sz="1100" spc="-8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generates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SQL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queries automatically.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572000" y="3941064"/>
            <a:ext cx="4418965" cy="1127125"/>
            <a:chOff x="4572000" y="3941064"/>
            <a:chExt cx="4418965" cy="1127125"/>
          </a:xfrm>
        </p:grpSpPr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941064"/>
              <a:ext cx="4418838" cy="112702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709160" y="402336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399"/>
                  </a:moveTo>
                  <a:lnTo>
                    <a:pt x="4206240" y="91439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09160" y="402336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097280" y="91439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EB88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09160" y="402336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399"/>
                  </a:moveTo>
                  <a:lnTo>
                    <a:pt x="1097280" y="91439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698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54879" y="4069080"/>
              <a:ext cx="1005840" cy="365760"/>
            </a:xfrm>
            <a:custGeom>
              <a:avLst/>
              <a:gdLst/>
              <a:ahLst/>
              <a:cxnLst/>
              <a:rect l="l" t="t" r="r" b="b"/>
              <a:pathLst>
                <a:path w="1005839" h="365760">
                  <a:moveTo>
                    <a:pt x="10058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005839" y="365760"/>
                  </a:lnTo>
                  <a:lnTo>
                    <a:pt x="1005839" y="0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754879" y="4031691"/>
            <a:ext cx="1005840" cy="41402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97510" marR="45720" indent="-341630">
              <a:lnSpc>
                <a:spcPts val="1500"/>
              </a:lnSpc>
              <a:spcBef>
                <a:spcPts val="195"/>
              </a:spcBef>
            </a:pPr>
            <a:r>
              <a:rPr sz="1300" b="1" spc="-25" dirty="0">
                <a:solidFill>
                  <a:srgbClr val="0EB881"/>
                </a:solidFill>
                <a:latin typeface="Times New Roman"/>
                <a:cs typeface="Times New Roman"/>
              </a:rPr>
              <a:t>@Transactio nal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928108" y="4556861"/>
            <a:ext cx="648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Integrity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806440" y="402335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37160">
              <a:lnSpc>
                <a:spcPct val="100000"/>
              </a:lnSpc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Wraps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multi-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step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operations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atomic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database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transactions.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Ensures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rollback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on</a:t>
            </a:r>
            <a:r>
              <a:rPr sz="1100" spc="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failure,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preventing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partial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state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corruption.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Architecture</a:t>
            </a:r>
            <a:r>
              <a:rPr spc="-120" dirty="0"/>
              <a:t> </a:t>
            </a:r>
            <a:r>
              <a:rPr spc="-20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24237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MVC</a:t>
            </a:r>
            <a:r>
              <a:rPr sz="1300" i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+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Layered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25" dirty="0">
                <a:solidFill>
                  <a:srgbClr val="0891B0"/>
                </a:solidFill>
                <a:latin typeface="Times New Roman"/>
                <a:cs typeface="Times New Roman"/>
              </a:rPr>
              <a:t>N-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Tier</a:t>
            </a:r>
            <a:r>
              <a:rPr sz="1300" i="1" spc="-4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923505"/>
            <a:ext cx="8807958" cy="8527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320" y="1005839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0E8EE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460"/>
              </a:spcBef>
            </a:pP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Model–View–Controller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(MVC)</a:t>
            </a:r>
            <a:r>
              <a:rPr sz="16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4-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N-Tier</a:t>
            </a:r>
            <a:r>
              <a:rPr sz="1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9570" y="1822450"/>
            <a:ext cx="5864860" cy="671195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946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45"/>
              </a:spcBef>
            </a:pP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13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800"/>
              </a:spcBef>
            </a:pP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1050" i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Views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(HTML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Templates)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74209" y="2480817"/>
            <a:ext cx="195580" cy="177800"/>
            <a:chOff x="4474209" y="2480817"/>
            <a:chExt cx="195580" cy="177800"/>
          </a:xfrm>
        </p:grpSpPr>
        <p:sp>
          <p:nvSpPr>
            <p:cNvPr id="8" name="object 8"/>
            <p:cNvSpPr/>
            <p:nvPr/>
          </p:nvSpPr>
          <p:spPr>
            <a:xfrm>
              <a:off x="4480559" y="2487167"/>
              <a:ext cx="182880" cy="158750"/>
            </a:xfrm>
            <a:custGeom>
              <a:avLst/>
              <a:gdLst/>
              <a:ahLst/>
              <a:cxnLst/>
              <a:rect l="l" t="t" r="r" b="b"/>
              <a:pathLst>
                <a:path w="182879" h="158750">
                  <a:moveTo>
                    <a:pt x="0" y="158242"/>
                  </a:moveTo>
                  <a:lnTo>
                    <a:pt x="182879" y="15824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58242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80559" y="2487167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39570" y="2645410"/>
            <a:ext cx="5864860" cy="671195"/>
          </a:xfrm>
          <a:prstGeom prst="rect">
            <a:avLst/>
          </a:prstGeom>
          <a:solidFill>
            <a:srgbClr val="895CF6"/>
          </a:solidFill>
        </p:spPr>
        <p:txBody>
          <a:bodyPr vert="horz" wrap="square" lIns="0" tIns="952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50"/>
              </a:spcBef>
            </a:pP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13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805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050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MVC</a:t>
            </a:r>
            <a:r>
              <a:rPr sz="1050" i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7982" y="3303778"/>
            <a:ext cx="5868035" cy="837565"/>
            <a:chOff x="1637982" y="3303778"/>
            <a:chExt cx="5868035" cy="837565"/>
          </a:xfrm>
        </p:grpSpPr>
        <p:sp>
          <p:nvSpPr>
            <p:cNvPr id="12" name="object 12"/>
            <p:cNvSpPr/>
            <p:nvPr/>
          </p:nvSpPr>
          <p:spPr>
            <a:xfrm>
              <a:off x="4480560" y="3310128"/>
              <a:ext cx="182880" cy="158750"/>
            </a:xfrm>
            <a:custGeom>
              <a:avLst/>
              <a:gdLst/>
              <a:ahLst/>
              <a:cxnLst/>
              <a:rect l="l" t="t" r="r" b="b"/>
              <a:pathLst>
                <a:path w="182879" h="158750">
                  <a:moveTo>
                    <a:pt x="0" y="158242"/>
                  </a:moveTo>
                  <a:lnTo>
                    <a:pt x="182879" y="15824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58242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80560" y="331012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9570" y="3468370"/>
              <a:ext cx="5864860" cy="671195"/>
            </a:xfrm>
            <a:custGeom>
              <a:avLst/>
              <a:gdLst/>
              <a:ahLst/>
              <a:cxnLst/>
              <a:rect l="l" t="t" r="r" b="b"/>
              <a:pathLst>
                <a:path w="5864859" h="671195">
                  <a:moveTo>
                    <a:pt x="0" y="671194"/>
                  </a:moveTo>
                  <a:lnTo>
                    <a:pt x="5864859" y="671194"/>
                  </a:lnTo>
                  <a:lnTo>
                    <a:pt x="5864859" y="0"/>
                  </a:lnTo>
                  <a:lnTo>
                    <a:pt x="0" y="0"/>
                  </a:lnTo>
                  <a:lnTo>
                    <a:pt x="0" y="671194"/>
                  </a:lnTo>
                  <a:close/>
                </a:path>
              </a:pathLst>
            </a:custGeom>
            <a:ln w="3175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7982" y="3466782"/>
            <a:ext cx="5868035" cy="674370"/>
          </a:xfrm>
          <a:prstGeom prst="rect">
            <a:avLst/>
          </a:prstGeom>
          <a:solidFill>
            <a:srgbClr val="0EB881"/>
          </a:solidFill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  <a:spcBef>
                <a:spcPts val="800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@Service</a:t>
            </a:r>
            <a:r>
              <a:rPr sz="1050" i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05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@Business</a:t>
            </a:r>
            <a:r>
              <a:rPr sz="105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74209" y="4126738"/>
            <a:ext cx="195580" cy="177800"/>
            <a:chOff x="4474209" y="4126738"/>
            <a:chExt cx="195580" cy="177800"/>
          </a:xfrm>
        </p:grpSpPr>
        <p:sp>
          <p:nvSpPr>
            <p:cNvPr id="17" name="object 17"/>
            <p:cNvSpPr/>
            <p:nvPr/>
          </p:nvSpPr>
          <p:spPr>
            <a:xfrm>
              <a:off x="4480559" y="4133088"/>
              <a:ext cx="182880" cy="158750"/>
            </a:xfrm>
            <a:custGeom>
              <a:avLst/>
              <a:gdLst/>
              <a:ahLst/>
              <a:cxnLst/>
              <a:rect l="l" t="t" r="r" b="b"/>
              <a:pathLst>
                <a:path w="182879" h="158750">
                  <a:moveTo>
                    <a:pt x="0" y="158242"/>
                  </a:moveTo>
                  <a:lnTo>
                    <a:pt x="182879" y="15824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58242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80559" y="413308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7982" y="4289742"/>
            <a:ext cx="5868035" cy="674370"/>
          </a:xfrm>
          <a:prstGeom prst="rect">
            <a:avLst/>
          </a:prstGeom>
          <a:solidFill>
            <a:srgbClr val="F59E09"/>
          </a:solidFill>
          <a:ln w="3175">
            <a:solidFill>
              <a:srgbClr val="F59E09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3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13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805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JPA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Repositories</a:t>
            </a:r>
            <a:r>
              <a:rPr sz="105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05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Hibernate</a:t>
            </a:r>
            <a:r>
              <a:rPr sz="105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050" i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7256" y="2011806"/>
            <a:ext cx="47688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0891B0"/>
                </a:solidFill>
                <a:latin typeface="Times New Roman"/>
                <a:cs typeface="Times New Roman"/>
              </a:rPr>
              <a:t>User </a:t>
            </a:r>
            <a:r>
              <a:rPr sz="1000" b="1" spc="-25" dirty="0">
                <a:solidFill>
                  <a:srgbClr val="0891B0"/>
                </a:solidFill>
                <a:latin typeface="Times New Roman"/>
                <a:cs typeface="Times New Roman"/>
              </a:rPr>
              <a:t>Browser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50732" y="4454448"/>
            <a:ext cx="5162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MySQL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Database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8"/>
            <a:ext cx="9156700" cy="5149850"/>
            <a:chOff x="-6350" y="-6348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5070475"/>
            </a:xfrm>
            <a:custGeom>
              <a:avLst/>
              <a:gdLst/>
              <a:ahLst/>
              <a:cxnLst/>
              <a:rect l="l" t="t" r="r" b="b"/>
              <a:pathLst>
                <a:path w="9144000" h="5070475">
                  <a:moveTo>
                    <a:pt x="0" y="5070347"/>
                  </a:moveTo>
                  <a:lnTo>
                    <a:pt x="9144000" y="507034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070347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95" y="43740"/>
            <a:ext cx="422529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System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Architecture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Diagram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End-to-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End</a:t>
            </a:r>
            <a:r>
              <a:rPr sz="1300" b="0" i="1" spc="5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System</a:t>
            </a:r>
            <a:r>
              <a:rPr sz="1300" b="0" i="1" spc="-1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Communication</a:t>
            </a:r>
            <a:r>
              <a:rPr sz="1300" b="0" i="1" spc="1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4B6D2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160" y="1489328"/>
            <a:ext cx="1554480" cy="777240"/>
          </a:xfrm>
          <a:prstGeom prst="rect">
            <a:avLst/>
          </a:prstGeom>
          <a:solidFill>
            <a:srgbClr val="0891B0"/>
          </a:solidFill>
          <a:ln w="12700">
            <a:solidFill>
              <a:srgbClr val="04B6D2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Client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Browser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85289" y="1812161"/>
            <a:ext cx="835660" cy="58419"/>
            <a:chOff x="1685289" y="1812161"/>
            <a:chExt cx="835660" cy="58419"/>
          </a:xfrm>
        </p:grpSpPr>
        <p:sp>
          <p:nvSpPr>
            <p:cNvPr id="9" name="object 9"/>
            <p:cNvSpPr/>
            <p:nvPr/>
          </p:nvSpPr>
          <p:spPr>
            <a:xfrm>
              <a:off x="1691639" y="1818511"/>
              <a:ext cx="822960" cy="45720"/>
            </a:xfrm>
            <a:custGeom>
              <a:avLst/>
              <a:gdLst/>
              <a:ahLst/>
              <a:cxnLst/>
              <a:rect l="l" t="t" r="r" b="b"/>
              <a:pathLst>
                <a:path w="822960" h="45719">
                  <a:moveTo>
                    <a:pt x="822960" y="0"/>
                  </a:moveTo>
                  <a:lnTo>
                    <a:pt x="0" y="0"/>
                  </a:lnTo>
                  <a:lnTo>
                    <a:pt x="0" y="45721"/>
                  </a:lnTo>
                  <a:lnTo>
                    <a:pt x="822960" y="45721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91639" y="1818511"/>
              <a:ext cx="822960" cy="45720"/>
            </a:xfrm>
            <a:custGeom>
              <a:avLst/>
              <a:gdLst/>
              <a:ahLst/>
              <a:cxnLst/>
              <a:rect l="l" t="t" r="r" b="b"/>
              <a:pathLst>
                <a:path w="822960" h="45719">
                  <a:moveTo>
                    <a:pt x="0" y="45721"/>
                  </a:moveTo>
                  <a:lnTo>
                    <a:pt x="822960" y="45721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45721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47798" y="1646935"/>
            <a:ext cx="299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92A1B8"/>
                </a:solidFill>
                <a:latin typeface="Times New Roman"/>
                <a:cs typeface="Times New Roman"/>
              </a:rPr>
              <a:t>HTTP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14600" y="1260728"/>
            <a:ext cx="1920239" cy="1325880"/>
            <a:chOff x="2514600" y="1260728"/>
            <a:chExt cx="1920239" cy="1325880"/>
          </a:xfrm>
        </p:grpSpPr>
        <p:sp>
          <p:nvSpPr>
            <p:cNvPr id="13" name="object 13"/>
            <p:cNvSpPr/>
            <p:nvPr/>
          </p:nvSpPr>
          <p:spPr>
            <a:xfrm>
              <a:off x="2514600" y="1260728"/>
              <a:ext cx="1920239" cy="1325880"/>
            </a:xfrm>
            <a:custGeom>
              <a:avLst/>
              <a:gdLst/>
              <a:ahLst/>
              <a:cxnLst/>
              <a:rect l="l" t="t" r="r" b="b"/>
              <a:pathLst>
                <a:path w="1920239" h="1325880">
                  <a:moveTo>
                    <a:pt x="1920239" y="0"/>
                  </a:moveTo>
                  <a:lnTo>
                    <a:pt x="0" y="0"/>
                  </a:lnTo>
                  <a:lnTo>
                    <a:pt x="0" y="1325880"/>
                  </a:lnTo>
                  <a:lnTo>
                    <a:pt x="1920239" y="132588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51760" y="1827656"/>
              <a:ext cx="1645920" cy="256540"/>
            </a:xfrm>
            <a:custGeom>
              <a:avLst/>
              <a:gdLst/>
              <a:ahLst/>
              <a:cxnLst/>
              <a:rect l="l" t="t" r="r" b="b"/>
              <a:pathLst>
                <a:path w="1645920" h="256539">
                  <a:moveTo>
                    <a:pt x="1645919" y="0"/>
                  </a:moveTo>
                  <a:lnTo>
                    <a:pt x="0" y="0"/>
                  </a:lnTo>
                  <a:lnTo>
                    <a:pt x="0" y="256539"/>
                  </a:lnTo>
                  <a:lnTo>
                    <a:pt x="1645919" y="256539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0891B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51760" y="1827656"/>
              <a:ext cx="1645920" cy="256540"/>
            </a:xfrm>
            <a:custGeom>
              <a:avLst/>
              <a:gdLst/>
              <a:ahLst/>
              <a:cxnLst/>
              <a:rect l="l" t="t" r="r" b="b"/>
              <a:pathLst>
                <a:path w="1645920" h="256539">
                  <a:moveTo>
                    <a:pt x="0" y="256539"/>
                  </a:moveTo>
                  <a:lnTo>
                    <a:pt x="1645919" y="256539"/>
                  </a:lnTo>
                  <a:lnTo>
                    <a:pt x="1645919" y="0"/>
                  </a:lnTo>
                  <a:lnTo>
                    <a:pt x="0" y="0"/>
                  </a:lnTo>
                  <a:lnTo>
                    <a:pt x="0" y="256539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1760" y="2138552"/>
              <a:ext cx="1645920" cy="256540"/>
            </a:xfrm>
            <a:custGeom>
              <a:avLst/>
              <a:gdLst/>
              <a:ahLst/>
              <a:cxnLst/>
              <a:rect l="l" t="t" r="r" b="b"/>
              <a:pathLst>
                <a:path w="1645920" h="256539">
                  <a:moveTo>
                    <a:pt x="1645919" y="0"/>
                  </a:moveTo>
                  <a:lnTo>
                    <a:pt x="0" y="0"/>
                  </a:lnTo>
                  <a:lnTo>
                    <a:pt x="0" y="256539"/>
                  </a:lnTo>
                  <a:lnTo>
                    <a:pt x="1645919" y="256539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0891B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1760" y="2138552"/>
              <a:ext cx="1645920" cy="256540"/>
            </a:xfrm>
            <a:custGeom>
              <a:avLst/>
              <a:gdLst/>
              <a:ahLst/>
              <a:cxnLst/>
              <a:rect l="l" t="t" r="r" b="b"/>
              <a:pathLst>
                <a:path w="1645920" h="256539">
                  <a:moveTo>
                    <a:pt x="0" y="256539"/>
                  </a:moveTo>
                  <a:lnTo>
                    <a:pt x="1645919" y="256539"/>
                  </a:lnTo>
                  <a:lnTo>
                    <a:pt x="1645919" y="0"/>
                  </a:lnTo>
                  <a:lnTo>
                    <a:pt x="0" y="0"/>
                  </a:lnTo>
                  <a:lnTo>
                    <a:pt x="0" y="256539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505075" y="1260728"/>
          <a:ext cx="4457697" cy="144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00" b="1" dirty="0">
                          <a:solidFill>
                            <a:srgbClr val="04B6D2"/>
                          </a:solidFill>
                          <a:latin typeface="Times New Roman"/>
                          <a:cs typeface="Times New Roman"/>
                        </a:rPr>
                        <a:t>Spring</a:t>
                      </a:r>
                      <a:r>
                        <a:rPr sz="1100" b="1" spc="-65" dirty="0">
                          <a:solidFill>
                            <a:srgbClr val="04B6D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4B6D2"/>
                          </a:solidFill>
                          <a:latin typeface="Times New Roman"/>
                          <a:cs typeface="Times New Roman"/>
                        </a:rPr>
                        <a:t>MVC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7620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04B6D2"/>
                          </a:solidFill>
                          <a:latin typeface="Times New Roman"/>
                          <a:cs typeface="Times New Roman"/>
                        </a:rPr>
                        <a:t>Dispatcher</a:t>
                      </a:r>
                      <a:r>
                        <a:rPr sz="1100" b="1" spc="5" dirty="0">
                          <a:solidFill>
                            <a:srgbClr val="04B6D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4B6D2"/>
                          </a:solidFill>
                          <a:latin typeface="Times New Roman"/>
                          <a:cs typeface="Times New Roman"/>
                        </a:rPr>
                        <a:t>Servlet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1938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0891B0"/>
                      </a:solidFill>
                      <a:prstDash val="solid"/>
                    </a:lnR>
                    <a:lnT w="19050">
                      <a:solidFill>
                        <a:srgbClr val="0891B0"/>
                      </a:solidFill>
                      <a:prstDash val="solid"/>
                    </a:lnT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B w="76200">
                      <a:solidFill>
                        <a:srgbClr val="92A1B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00" b="1" dirty="0">
                          <a:solidFill>
                            <a:srgbClr val="895CF6"/>
                          </a:solidFill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100" b="1" spc="-70" dirty="0">
                          <a:solidFill>
                            <a:srgbClr val="895CF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895CF6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101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895CF6"/>
                          </a:solidFill>
                          <a:latin typeface="Times New Roman"/>
                          <a:cs typeface="Times New Roman"/>
                        </a:rPr>
                        <a:t>@Transactional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19380" marB="0">
                    <a:lnL w="19050">
                      <a:solidFill>
                        <a:srgbClr val="895CF6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T w="19050">
                      <a:solidFill>
                        <a:srgbClr val="895CF6"/>
                      </a:solidFill>
                      <a:prstDash val="solid"/>
                    </a:lnT>
                    <a:solidFill>
                      <a:srgbClr val="1B2A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9525" algn="ctr">
                        <a:lnSpc>
                          <a:spcPts val="844"/>
                        </a:lnSpc>
                        <a:spcBef>
                          <a:spcPts val="359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@Controller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0891B0"/>
                      </a:solidFill>
                      <a:prstDash val="solid"/>
                    </a:lnR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T w="76200">
                      <a:solidFill>
                        <a:srgbClr val="92A1B8"/>
                      </a:solidFill>
                      <a:prstDash val="solid"/>
                    </a:lnT>
                    <a:solidFill>
                      <a:srgbClr val="EEF4F8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915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InventoryService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T w="12700">
                      <a:solidFill>
                        <a:srgbClr val="895CF6"/>
                      </a:solidFill>
                      <a:prstDash val="solid"/>
                    </a:lnT>
                    <a:lnB w="12700">
                      <a:solidFill>
                        <a:srgbClr val="895CF6"/>
                      </a:solidFill>
                      <a:prstDash val="solid"/>
                    </a:lnB>
                    <a:solidFill>
                      <a:srgbClr val="895CF6">
                        <a:alpha val="50195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0891B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T w="76200">
                      <a:solidFill>
                        <a:srgbClr val="92A1B8"/>
                      </a:solidFill>
                      <a:prstDash val="solid"/>
                    </a:lnT>
                    <a:solidFill>
                      <a:srgbClr val="EEF4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OrderService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T w="12700">
                      <a:solidFill>
                        <a:srgbClr val="895CF6"/>
                      </a:solidFill>
                      <a:prstDash val="solid"/>
                    </a:lnT>
                    <a:lnB w="12700">
                      <a:solidFill>
                        <a:srgbClr val="895CF6"/>
                      </a:solidFill>
                      <a:prstDash val="solid"/>
                    </a:lnB>
                    <a:solidFill>
                      <a:srgbClr val="895CF6">
                        <a:alpha val="5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R="1270" algn="ctr">
                        <a:lnSpc>
                          <a:spcPts val="98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Thymeleaf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View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0891B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T w="76200">
                      <a:solidFill>
                        <a:srgbClr val="92A1B8"/>
                      </a:solidFill>
                      <a:prstDash val="solid"/>
                    </a:lnT>
                    <a:solidFill>
                      <a:srgbClr val="EEF4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SimulationSvc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T w="12700">
                      <a:solidFill>
                        <a:srgbClr val="895CF6"/>
                      </a:solidFill>
                      <a:prstDash val="solid"/>
                    </a:lnT>
                    <a:lnB w="12700">
                      <a:solidFill>
                        <a:srgbClr val="895CF6"/>
                      </a:solidFill>
                      <a:prstDash val="solid"/>
                    </a:lnB>
                    <a:solidFill>
                      <a:srgbClr val="895CF6">
                        <a:alpha val="5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0891B0"/>
                      </a:solidFill>
                      <a:prstDash val="solid"/>
                    </a:lnR>
                    <a:lnB w="19050">
                      <a:solidFill>
                        <a:srgbClr val="0891B0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891B0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T w="76200">
                      <a:solidFill>
                        <a:srgbClr val="92A1B8"/>
                      </a:solidFill>
                      <a:prstDash val="solid"/>
                    </a:lnT>
                    <a:solidFill>
                      <a:srgbClr val="EEF4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ReportService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T w="12700">
                      <a:solidFill>
                        <a:srgbClr val="895CF6"/>
                      </a:solidFill>
                      <a:prstDash val="solid"/>
                    </a:lnT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895CF6">
                        <a:alpha val="5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891B0"/>
                      </a:solidFill>
                      <a:prstDash val="solid"/>
                    </a:lnT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895CF6"/>
                      </a:solidFill>
                      <a:prstDash val="solid"/>
                    </a:lnR>
                    <a:solidFill>
                      <a:srgbClr val="EEF4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2700">
                      <a:solidFill>
                        <a:srgbClr val="895CF6"/>
                      </a:solidFill>
                      <a:prstDash val="solid"/>
                    </a:lnR>
                    <a:lnT w="12700">
                      <a:solidFill>
                        <a:srgbClr val="895CF6"/>
                      </a:solidFill>
                      <a:prstDash val="solid"/>
                    </a:lnT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895CF6">
                        <a:alpha val="5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95CF6"/>
                      </a:solidFill>
                      <a:prstDash val="solid"/>
                    </a:lnL>
                    <a:lnR w="19050">
                      <a:solidFill>
                        <a:srgbClr val="895CF6"/>
                      </a:solidFill>
                      <a:prstDash val="solid"/>
                    </a:lnR>
                    <a:lnB w="19050">
                      <a:solidFill>
                        <a:srgbClr val="895CF6"/>
                      </a:solidFill>
                      <a:prstDash val="soli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6988809" y="1812161"/>
            <a:ext cx="652780" cy="58419"/>
            <a:chOff x="6988809" y="1812161"/>
            <a:chExt cx="652780" cy="58419"/>
          </a:xfrm>
        </p:grpSpPr>
        <p:sp>
          <p:nvSpPr>
            <p:cNvPr id="20" name="object 20"/>
            <p:cNvSpPr/>
            <p:nvPr/>
          </p:nvSpPr>
          <p:spPr>
            <a:xfrm>
              <a:off x="6995159" y="1818511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640079" y="0"/>
                  </a:moveTo>
                  <a:lnTo>
                    <a:pt x="0" y="0"/>
                  </a:lnTo>
                  <a:lnTo>
                    <a:pt x="0" y="45721"/>
                  </a:lnTo>
                  <a:lnTo>
                    <a:pt x="640079" y="45721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95159" y="1818511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0" y="45721"/>
                  </a:moveTo>
                  <a:lnTo>
                    <a:pt x="640079" y="45721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45721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35240" y="1260728"/>
            <a:ext cx="1371600" cy="640080"/>
          </a:xfrm>
          <a:prstGeom prst="rect">
            <a:avLst/>
          </a:prstGeom>
          <a:solidFill>
            <a:srgbClr val="1B2A3C"/>
          </a:solidFill>
          <a:ln w="19050">
            <a:solidFill>
              <a:srgbClr val="0EB881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140"/>
              </a:spcBef>
            </a:pPr>
            <a:r>
              <a:rPr sz="1100" b="1" spc="-25" dirty="0">
                <a:solidFill>
                  <a:srgbClr val="0EB881"/>
                </a:solidFill>
                <a:latin typeface="Times New Roman"/>
                <a:cs typeface="Times New Roman"/>
              </a:rPr>
              <a:t>JPA</a:t>
            </a:r>
            <a:endParaRPr sz="11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11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Repository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674609" y="2222500"/>
            <a:ext cx="1292860" cy="772160"/>
            <a:chOff x="7674609" y="2222500"/>
            <a:chExt cx="1292860" cy="772160"/>
          </a:xfrm>
        </p:grpSpPr>
        <p:sp>
          <p:nvSpPr>
            <p:cNvPr id="24" name="object 24"/>
            <p:cNvSpPr/>
            <p:nvPr/>
          </p:nvSpPr>
          <p:spPr>
            <a:xfrm>
              <a:off x="7680959" y="2228850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640080" y="0"/>
                  </a:moveTo>
                  <a:lnTo>
                    <a:pt x="565404" y="888"/>
                  </a:lnTo>
                  <a:lnTo>
                    <a:pt x="493268" y="3429"/>
                  </a:lnTo>
                  <a:lnTo>
                    <a:pt x="424180" y="7493"/>
                  </a:lnTo>
                  <a:lnTo>
                    <a:pt x="358521" y="12954"/>
                  </a:lnTo>
                  <a:lnTo>
                    <a:pt x="296925" y="19938"/>
                  </a:lnTo>
                  <a:lnTo>
                    <a:pt x="239775" y="28067"/>
                  </a:lnTo>
                  <a:lnTo>
                    <a:pt x="187451" y="37464"/>
                  </a:lnTo>
                  <a:lnTo>
                    <a:pt x="140589" y="47879"/>
                  </a:lnTo>
                  <a:lnTo>
                    <a:pt x="99695" y="59308"/>
                  </a:lnTo>
                  <a:lnTo>
                    <a:pt x="37338" y="84836"/>
                  </a:lnTo>
                  <a:lnTo>
                    <a:pt x="4318" y="113030"/>
                  </a:lnTo>
                  <a:lnTo>
                    <a:pt x="0" y="128016"/>
                  </a:lnTo>
                  <a:lnTo>
                    <a:pt x="4318" y="143001"/>
                  </a:lnTo>
                  <a:lnTo>
                    <a:pt x="37338" y="171195"/>
                  </a:lnTo>
                  <a:lnTo>
                    <a:pt x="99695" y="196723"/>
                  </a:lnTo>
                  <a:lnTo>
                    <a:pt x="140589" y="208152"/>
                  </a:lnTo>
                  <a:lnTo>
                    <a:pt x="187451" y="218567"/>
                  </a:lnTo>
                  <a:lnTo>
                    <a:pt x="239775" y="227964"/>
                  </a:lnTo>
                  <a:lnTo>
                    <a:pt x="296925" y="236093"/>
                  </a:lnTo>
                  <a:lnTo>
                    <a:pt x="358521" y="243077"/>
                  </a:lnTo>
                  <a:lnTo>
                    <a:pt x="424180" y="248538"/>
                  </a:lnTo>
                  <a:lnTo>
                    <a:pt x="493268" y="252602"/>
                  </a:lnTo>
                  <a:lnTo>
                    <a:pt x="565404" y="255143"/>
                  </a:lnTo>
                  <a:lnTo>
                    <a:pt x="640080" y="256031"/>
                  </a:lnTo>
                  <a:lnTo>
                    <a:pt x="714756" y="255143"/>
                  </a:lnTo>
                  <a:lnTo>
                    <a:pt x="786892" y="252602"/>
                  </a:lnTo>
                  <a:lnTo>
                    <a:pt x="855980" y="248538"/>
                  </a:lnTo>
                  <a:lnTo>
                    <a:pt x="921639" y="243077"/>
                  </a:lnTo>
                  <a:lnTo>
                    <a:pt x="983234" y="236093"/>
                  </a:lnTo>
                  <a:lnTo>
                    <a:pt x="1040384" y="227964"/>
                  </a:lnTo>
                  <a:lnTo>
                    <a:pt x="1092708" y="218567"/>
                  </a:lnTo>
                  <a:lnTo>
                    <a:pt x="1139571" y="208152"/>
                  </a:lnTo>
                  <a:lnTo>
                    <a:pt x="1180465" y="196723"/>
                  </a:lnTo>
                  <a:lnTo>
                    <a:pt x="1242822" y="171195"/>
                  </a:lnTo>
                  <a:lnTo>
                    <a:pt x="1275842" y="143001"/>
                  </a:lnTo>
                  <a:lnTo>
                    <a:pt x="1280160" y="128016"/>
                  </a:lnTo>
                  <a:lnTo>
                    <a:pt x="1275842" y="113030"/>
                  </a:lnTo>
                  <a:lnTo>
                    <a:pt x="1242822" y="84836"/>
                  </a:lnTo>
                  <a:lnTo>
                    <a:pt x="1180465" y="59308"/>
                  </a:lnTo>
                  <a:lnTo>
                    <a:pt x="1139571" y="47879"/>
                  </a:lnTo>
                  <a:lnTo>
                    <a:pt x="1092708" y="37464"/>
                  </a:lnTo>
                  <a:lnTo>
                    <a:pt x="1040384" y="28067"/>
                  </a:lnTo>
                  <a:lnTo>
                    <a:pt x="983234" y="19938"/>
                  </a:lnTo>
                  <a:lnTo>
                    <a:pt x="921639" y="12954"/>
                  </a:lnTo>
                  <a:lnTo>
                    <a:pt x="855980" y="7493"/>
                  </a:lnTo>
                  <a:lnTo>
                    <a:pt x="786892" y="3429"/>
                  </a:lnTo>
                  <a:lnTo>
                    <a:pt x="714756" y="888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80959" y="2228850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0" y="128016"/>
                  </a:moveTo>
                  <a:lnTo>
                    <a:pt x="37338" y="84836"/>
                  </a:lnTo>
                  <a:lnTo>
                    <a:pt x="99695" y="59308"/>
                  </a:lnTo>
                  <a:lnTo>
                    <a:pt x="140589" y="47879"/>
                  </a:lnTo>
                  <a:lnTo>
                    <a:pt x="187451" y="37464"/>
                  </a:lnTo>
                  <a:lnTo>
                    <a:pt x="239775" y="28067"/>
                  </a:lnTo>
                  <a:lnTo>
                    <a:pt x="296925" y="19938"/>
                  </a:lnTo>
                  <a:lnTo>
                    <a:pt x="358521" y="12954"/>
                  </a:lnTo>
                  <a:lnTo>
                    <a:pt x="424180" y="7493"/>
                  </a:lnTo>
                  <a:lnTo>
                    <a:pt x="493268" y="3429"/>
                  </a:lnTo>
                  <a:lnTo>
                    <a:pt x="565404" y="888"/>
                  </a:lnTo>
                  <a:lnTo>
                    <a:pt x="640080" y="0"/>
                  </a:lnTo>
                  <a:lnTo>
                    <a:pt x="714756" y="888"/>
                  </a:lnTo>
                  <a:lnTo>
                    <a:pt x="786892" y="3429"/>
                  </a:lnTo>
                  <a:lnTo>
                    <a:pt x="855980" y="7493"/>
                  </a:lnTo>
                  <a:lnTo>
                    <a:pt x="921639" y="12954"/>
                  </a:lnTo>
                  <a:lnTo>
                    <a:pt x="983234" y="19938"/>
                  </a:lnTo>
                  <a:lnTo>
                    <a:pt x="1040384" y="28067"/>
                  </a:lnTo>
                  <a:lnTo>
                    <a:pt x="1092708" y="37464"/>
                  </a:lnTo>
                  <a:lnTo>
                    <a:pt x="1139571" y="47879"/>
                  </a:lnTo>
                  <a:lnTo>
                    <a:pt x="1180465" y="59308"/>
                  </a:lnTo>
                  <a:lnTo>
                    <a:pt x="1242822" y="84836"/>
                  </a:lnTo>
                  <a:lnTo>
                    <a:pt x="1275842" y="113030"/>
                  </a:lnTo>
                  <a:lnTo>
                    <a:pt x="1280160" y="128016"/>
                  </a:lnTo>
                  <a:lnTo>
                    <a:pt x="1275842" y="143001"/>
                  </a:lnTo>
                  <a:lnTo>
                    <a:pt x="1242822" y="171195"/>
                  </a:lnTo>
                  <a:lnTo>
                    <a:pt x="1180465" y="196723"/>
                  </a:lnTo>
                  <a:lnTo>
                    <a:pt x="1139571" y="208152"/>
                  </a:lnTo>
                  <a:lnTo>
                    <a:pt x="1092708" y="218567"/>
                  </a:lnTo>
                  <a:lnTo>
                    <a:pt x="1040384" y="227964"/>
                  </a:lnTo>
                  <a:lnTo>
                    <a:pt x="983234" y="236093"/>
                  </a:lnTo>
                  <a:lnTo>
                    <a:pt x="921639" y="243077"/>
                  </a:lnTo>
                  <a:lnTo>
                    <a:pt x="855980" y="248538"/>
                  </a:lnTo>
                  <a:lnTo>
                    <a:pt x="786892" y="252602"/>
                  </a:lnTo>
                  <a:lnTo>
                    <a:pt x="714756" y="255143"/>
                  </a:lnTo>
                  <a:lnTo>
                    <a:pt x="640080" y="256031"/>
                  </a:lnTo>
                  <a:lnTo>
                    <a:pt x="565404" y="255143"/>
                  </a:lnTo>
                  <a:lnTo>
                    <a:pt x="493268" y="252602"/>
                  </a:lnTo>
                  <a:lnTo>
                    <a:pt x="424180" y="248538"/>
                  </a:lnTo>
                  <a:lnTo>
                    <a:pt x="358521" y="243077"/>
                  </a:lnTo>
                  <a:lnTo>
                    <a:pt x="296925" y="236093"/>
                  </a:lnTo>
                  <a:lnTo>
                    <a:pt x="239775" y="227964"/>
                  </a:lnTo>
                  <a:lnTo>
                    <a:pt x="187451" y="218567"/>
                  </a:lnTo>
                  <a:lnTo>
                    <a:pt x="140589" y="208152"/>
                  </a:lnTo>
                  <a:lnTo>
                    <a:pt x="99695" y="196723"/>
                  </a:lnTo>
                  <a:lnTo>
                    <a:pt x="37338" y="171195"/>
                  </a:lnTo>
                  <a:lnTo>
                    <a:pt x="4318" y="143001"/>
                  </a:lnTo>
                  <a:lnTo>
                    <a:pt x="0" y="128016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80959" y="2356865"/>
              <a:ext cx="1280160" cy="502920"/>
            </a:xfrm>
            <a:custGeom>
              <a:avLst/>
              <a:gdLst/>
              <a:ahLst/>
              <a:cxnLst/>
              <a:rect l="l" t="t" r="r" b="b"/>
              <a:pathLst>
                <a:path w="1280159" h="502919">
                  <a:moveTo>
                    <a:pt x="1280159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1280159" y="502919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F59E0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80959" y="2356865"/>
              <a:ext cx="1280160" cy="502920"/>
            </a:xfrm>
            <a:custGeom>
              <a:avLst/>
              <a:gdLst/>
              <a:ahLst/>
              <a:cxnLst/>
              <a:rect l="l" t="t" r="r" b="b"/>
              <a:pathLst>
                <a:path w="1280159" h="502919">
                  <a:moveTo>
                    <a:pt x="0" y="502919"/>
                  </a:moveTo>
                  <a:lnTo>
                    <a:pt x="1280159" y="502919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80959" y="2731769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640080" y="0"/>
                  </a:moveTo>
                  <a:lnTo>
                    <a:pt x="565404" y="888"/>
                  </a:lnTo>
                  <a:lnTo>
                    <a:pt x="493268" y="3429"/>
                  </a:lnTo>
                  <a:lnTo>
                    <a:pt x="424180" y="7493"/>
                  </a:lnTo>
                  <a:lnTo>
                    <a:pt x="358521" y="12954"/>
                  </a:lnTo>
                  <a:lnTo>
                    <a:pt x="296925" y="19938"/>
                  </a:lnTo>
                  <a:lnTo>
                    <a:pt x="239775" y="28067"/>
                  </a:lnTo>
                  <a:lnTo>
                    <a:pt x="187451" y="37465"/>
                  </a:lnTo>
                  <a:lnTo>
                    <a:pt x="140589" y="47879"/>
                  </a:lnTo>
                  <a:lnTo>
                    <a:pt x="99695" y="59309"/>
                  </a:lnTo>
                  <a:lnTo>
                    <a:pt x="37338" y="84836"/>
                  </a:lnTo>
                  <a:lnTo>
                    <a:pt x="4318" y="113030"/>
                  </a:lnTo>
                  <a:lnTo>
                    <a:pt x="0" y="128016"/>
                  </a:lnTo>
                  <a:lnTo>
                    <a:pt x="4318" y="143002"/>
                  </a:lnTo>
                  <a:lnTo>
                    <a:pt x="37338" y="171196"/>
                  </a:lnTo>
                  <a:lnTo>
                    <a:pt x="99695" y="196723"/>
                  </a:lnTo>
                  <a:lnTo>
                    <a:pt x="140589" y="208153"/>
                  </a:lnTo>
                  <a:lnTo>
                    <a:pt x="187451" y="218567"/>
                  </a:lnTo>
                  <a:lnTo>
                    <a:pt x="239775" y="227965"/>
                  </a:lnTo>
                  <a:lnTo>
                    <a:pt x="296925" y="236093"/>
                  </a:lnTo>
                  <a:lnTo>
                    <a:pt x="358521" y="243078"/>
                  </a:lnTo>
                  <a:lnTo>
                    <a:pt x="424180" y="248538"/>
                  </a:lnTo>
                  <a:lnTo>
                    <a:pt x="493268" y="252603"/>
                  </a:lnTo>
                  <a:lnTo>
                    <a:pt x="565404" y="255143"/>
                  </a:lnTo>
                  <a:lnTo>
                    <a:pt x="640080" y="256031"/>
                  </a:lnTo>
                  <a:lnTo>
                    <a:pt x="714756" y="255143"/>
                  </a:lnTo>
                  <a:lnTo>
                    <a:pt x="786892" y="252603"/>
                  </a:lnTo>
                  <a:lnTo>
                    <a:pt x="855980" y="248538"/>
                  </a:lnTo>
                  <a:lnTo>
                    <a:pt x="921639" y="243078"/>
                  </a:lnTo>
                  <a:lnTo>
                    <a:pt x="983234" y="236093"/>
                  </a:lnTo>
                  <a:lnTo>
                    <a:pt x="1040384" y="227965"/>
                  </a:lnTo>
                  <a:lnTo>
                    <a:pt x="1092708" y="218567"/>
                  </a:lnTo>
                  <a:lnTo>
                    <a:pt x="1139571" y="208153"/>
                  </a:lnTo>
                  <a:lnTo>
                    <a:pt x="1180465" y="196723"/>
                  </a:lnTo>
                  <a:lnTo>
                    <a:pt x="1242822" y="171196"/>
                  </a:lnTo>
                  <a:lnTo>
                    <a:pt x="1275842" y="143002"/>
                  </a:lnTo>
                  <a:lnTo>
                    <a:pt x="1280160" y="128016"/>
                  </a:lnTo>
                  <a:lnTo>
                    <a:pt x="1275842" y="113030"/>
                  </a:lnTo>
                  <a:lnTo>
                    <a:pt x="1242822" y="84836"/>
                  </a:lnTo>
                  <a:lnTo>
                    <a:pt x="1180465" y="59309"/>
                  </a:lnTo>
                  <a:lnTo>
                    <a:pt x="1139571" y="47879"/>
                  </a:lnTo>
                  <a:lnTo>
                    <a:pt x="1092708" y="37465"/>
                  </a:lnTo>
                  <a:lnTo>
                    <a:pt x="1040384" y="28067"/>
                  </a:lnTo>
                  <a:lnTo>
                    <a:pt x="983234" y="19938"/>
                  </a:lnTo>
                  <a:lnTo>
                    <a:pt x="921639" y="12954"/>
                  </a:lnTo>
                  <a:lnTo>
                    <a:pt x="855980" y="7493"/>
                  </a:lnTo>
                  <a:lnTo>
                    <a:pt x="786892" y="3429"/>
                  </a:lnTo>
                  <a:lnTo>
                    <a:pt x="714756" y="888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59E0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80959" y="2731769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0" y="128016"/>
                  </a:moveTo>
                  <a:lnTo>
                    <a:pt x="37338" y="84836"/>
                  </a:lnTo>
                  <a:lnTo>
                    <a:pt x="99695" y="59309"/>
                  </a:lnTo>
                  <a:lnTo>
                    <a:pt x="140589" y="47879"/>
                  </a:lnTo>
                  <a:lnTo>
                    <a:pt x="187451" y="37465"/>
                  </a:lnTo>
                  <a:lnTo>
                    <a:pt x="239775" y="28067"/>
                  </a:lnTo>
                  <a:lnTo>
                    <a:pt x="296925" y="19938"/>
                  </a:lnTo>
                  <a:lnTo>
                    <a:pt x="358521" y="12954"/>
                  </a:lnTo>
                  <a:lnTo>
                    <a:pt x="424180" y="7493"/>
                  </a:lnTo>
                  <a:lnTo>
                    <a:pt x="493268" y="3429"/>
                  </a:lnTo>
                  <a:lnTo>
                    <a:pt x="565404" y="888"/>
                  </a:lnTo>
                  <a:lnTo>
                    <a:pt x="640080" y="0"/>
                  </a:lnTo>
                  <a:lnTo>
                    <a:pt x="714756" y="888"/>
                  </a:lnTo>
                  <a:lnTo>
                    <a:pt x="786892" y="3429"/>
                  </a:lnTo>
                  <a:lnTo>
                    <a:pt x="855980" y="7493"/>
                  </a:lnTo>
                  <a:lnTo>
                    <a:pt x="921639" y="12954"/>
                  </a:lnTo>
                  <a:lnTo>
                    <a:pt x="983234" y="19938"/>
                  </a:lnTo>
                  <a:lnTo>
                    <a:pt x="1040384" y="28067"/>
                  </a:lnTo>
                  <a:lnTo>
                    <a:pt x="1092708" y="37465"/>
                  </a:lnTo>
                  <a:lnTo>
                    <a:pt x="1139571" y="47879"/>
                  </a:lnTo>
                  <a:lnTo>
                    <a:pt x="1180465" y="59309"/>
                  </a:lnTo>
                  <a:lnTo>
                    <a:pt x="1242822" y="84836"/>
                  </a:lnTo>
                  <a:lnTo>
                    <a:pt x="1275842" y="113030"/>
                  </a:lnTo>
                  <a:lnTo>
                    <a:pt x="1280160" y="128016"/>
                  </a:lnTo>
                  <a:lnTo>
                    <a:pt x="1275842" y="143002"/>
                  </a:lnTo>
                  <a:lnTo>
                    <a:pt x="1242822" y="171196"/>
                  </a:lnTo>
                  <a:lnTo>
                    <a:pt x="1180465" y="196723"/>
                  </a:lnTo>
                  <a:lnTo>
                    <a:pt x="1139571" y="208153"/>
                  </a:lnTo>
                  <a:lnTo>
                    <a:pt x="1092708" y="218567"/>
                  </a:lnTo>
                  <a:lnTo>
                    <a:pt x="1040384" y="227965"/>
                  </a:lnTo>
                  <a:lnTo>
                    <a:pt x="983234" y="236093"/>
                  </a:lnTo>
                  <a:lnTo>
                    <a:pt x="921639" y="243078"/>
                  </a:lnTo>
                  <a:lnTo>
                    <a:pt x="855980" y="248538"/>
                  </a:lnTo>
                  <a:lnTo>
                    <a:pt x="786892" y="252603"/>
                  </a:lnTo>
                  <a:lnTo>
                    <a:pt x="714756" y="255143"/>
                  </a:lnTo>
                  <a:lnTo>
                    <a:pt x="640080" y="256031"/>
                  </a:lnTo>
                  <a:lnTo>
                    <a:pt x="565404" y="255143"/>
                  </a:lnTo>
                  <a:lnTo>
                    <a:pt x="493268" y="252603"/>
                  </a:lnTo>
                  <a:lnTo>
                    <a:pt x="424180" y="248538"/>
                  </a:lnTo>
                  <a:lnTo>
                    <a:pt x="358521" y="243078"/>
                  </a:lnTo>
                  <a:lnTo>
                    <a:pt x="296925" y="236093"/>
                  </a:lnTo>
                  <a:lnTo>
                    <a:pt x="239775" y="227965"/>
                  </a:lnTo>
                  <a:lnTo>
                    <a:pt x="187451" y="218567"/>
                  </a:lnTo>
                  <a:lnTo>
                    <a:pt x="140589" y="208153"/>
                  </a:lnTo>
                  <a:lnTo>
                    <a:pt x="99695" y="196723"/>
                  </a:lnTo>
                  <a:lnTo>
                    <a:pt x="37338" y="171196"/>
                  </a:lnTo>
                  <a:lnTo>
                    <a:pt x="4318" y="143002"/>
                  </a:lnTo>
                  <a:lnTo>
                    <a:pt x="0" y="128016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987665" y="2469895"/>
            <a:ext cx="660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r>
              <a:rPr sz="1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7743" y="3529584"/>
            <a:ext cx="1298575" cy="439420"/>
          </a:xfrm>
          <a:prstGeom prst="rect">
            <a:avLst/>
          </a:prstGeom>
          <a:solidFill>
            <a:srgbClr val="0891B0">
              <a:alpha val="79998"/>
            </a:srgbClr>
          </a:solidFill>
          <a:ln w="12700">
            <a:solidFill>
              <a:srgbClr val="0891B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9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82495" y="3529584"/>
            <a:ext cx="1298575" cy="439420"/>
          </a:xfrm>
          <a:prstGeom prst="rect">
            <a:avLst/>
          </a:prstGeom>
          <a:solidFill>
            <a:srgbClr val="0EB881">
              <a:alpha val="79998"/>
            </a:srgbClr>
          </a:solidFill>
          <a:ln w="12700">
            <a:solidFill>
              <a:srgbClr val="0EB881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29083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r>
              <a:rPr sz="9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7248" y="3529584"/>
            <a:ext cx="1298575" cy="439420"/>
          </a:xfrm>
          <a:prstGeom prst="rect">
            <a:avLst/>
          </a:prstGeom>
          <a:solidFill>
            <a:srgbClr val="895CF6">
              <a:alpha val="79998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195580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Analytics</a:t>
            </a:r>
            <a:r>
              <a:rPr sz="9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72000" y="3529584"/>
            <a:ext cx="1298575" cy="439420"/>
          </a:xfrm>
          <a:prstGeom prst="rect">
            <a:avLst/>
          </a:prstGeom>
          <a:solidFill>
            <a:srgbClr val="F87316">
              <a:alpha val="79998"/>
            </a:srgbClr>
          </a:solidFill>
          <a:ln w="12700">
            <a:solidFill>
              <a:srgbClr val="F87316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Logs</a:t>
            </a:r>
            <a:r>
              <a:rPr sz="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16752" y="3529584"/>
            <a:ext cx="1298575" cy="439420"/>
          </a:xfrm>
          <a:prstGeom prst="rect">
            <a:avLst/>
          </a:prstGeom>
          <a:solidFill>
            <a:srgbClr val="ED4444">
              <a:alpha val="79998"/>
            </a:srgbClr>
          </a:solidFill>
          <a:ln w="12700">
            <a:solidFill>
              <a:srgbClr val="ED4444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Simulation</a:t>
            </a:r>
            <a:r>
              <a:rPr sz="9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61504" y="3529584"/>
            <a:ext cx="1298575" cy="439420"/>
          </a:xfrm>
          <a:prstGeom prst="rect">
            <a:avLst/>
          </a:prstGeom>
          <a:solidFill>
            <a:srgbClr val="F59E09">
              <a:alpha val="79998"/>
            </a:srgbClr>
          </a:solidFill>
          <a:ln w="12700">
            <a:solidFill>
              <a:srgbClr val="F59E0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257175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Report 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1425" y="4039006"/>
            <a:ext cx="14903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92A1B8"/>
                </a:solidFill>
                <a:latin typeface="Times New Roman"/>
                <a:cs typeface="Times New Roman"/>
              </a:rPr>
              <a:t>Core</a:t>
            </a:r>
            <a:r>
              <a:rPr sz="1100" i="1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2A1B8"/>
                </a:solidFill>
                <a:latin typeface="Times New Roman"/>
                <a:cs typeface="Times New Roman"/>
              </a:rPr>
              <a:t>Application</a:t>
            </a:r>
            <a:r>
              <a:rPr sz="1100" i="1" spc="-9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2A1B8"/>
                </a:solidFill>
                <a:latin typeface="Times New Roman"/>
                <a:cs typeface="Times New Roman"/>
              </a:rPr>
              <a:t>Modules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Layered</a:t>
            </a:r>
            <a:r>
              <a:rPr spc="-11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32677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Separation</a:t>
            </a:r>
            <a:r>
              <a:rPr sz="1300" i="1" spc="-2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of</a:t>
            </a:r>
            <a:r>
              <a:rPr sz="1300" i="1" spc="-3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Concerns</a:t>
            </a:r>
            <a:r>
              <a:rPr sz="1300" i="1" spc="-6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Across</a:t>
            </a:r>
            <a:r>
              <a:rPr sz="1300" i="1" spc="-6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All</a:t>
            </a:r>
            <a:r>
              <a:rPr sz="1300" i="1" spc="-2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System</a:t>
            </a:r>
            <a:r>
              <a:rPr sz="1300" i="1" spc="-5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Layers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6700" y="952500"/>
            <a:ext cx="8610600" cy="820419"/>
            <a:chOff x="266700" y="952500"/>
            <a:chExt cx="8610600" cy="820419"/>
          </a:xfrm>
        </p:grpSpPr>
        <p:sp>
          <p:nvSpPr>
            <p:cNvPr id="5" name="object 5"/>
            <p:cNvSpPr/>
            <p:nvPr/>
          </p:nvSpPr>
          <p:spPr>
            <a:xfrm>
              <a:off x="2194560" y="960120"/>
              <a:ext cx="6675120" cy="805180"/>
            </a:xfrm>
            <a:custGeom>
              <a:avLst/>
              <a:gdLst/>
              <a:ahLst/>
              <a:cxnLst/>
              <a:rect l="l" t="t" r="r" b="b"/>
              <a:pathLst>
                <a:path w="6675120" h="805180">
                  <a:moveTo>
                    <a:pt x="66751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6675120" y="804672"/>
                  </a:lnTo>
                  <a:lnTo>
                    <a:pt x="6675120" y="0"/>
                  </a:lnTo>
                  <a:close/>
                </a:path>
              </a:pathLst>
            </a:custGeom>
            <a:solidFill>
              <a:srgbClr val="0891B0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960120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80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524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6700" y="960119"/>
            <a:ext cx="1927860" cy="80518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endParaRPr sz="12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12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2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05"/>
              </a:spcBef>
            </a:pPr>
            <a:r>
              <a:rPr sz="950" i="1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950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Templates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6700" y="1273811"/>
            <a:ext cx="8610600" cy="1459230"/>
            <a:chOff x="266700" y="1273811"/>
            <a:chExt cx="8610600" cy="145923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5370" y="1273811"/>
              <a:ext cx="122428" cy="1224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5570" y="1310387"/>
              <a:ext cx="122426" cy="1224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5770" y="1273811"/>
              <a:ext cx="122426" cy="1224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5969" y="1273811"/>
              <a:ext cx="122426" cy="1224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94560" y="1920240"/>
              <a:ext cx="6675120" cy="805180"/>
            </a:xfrm>
            <a:custGeom>
              <a:avLst/>
              <a:gdLst/>
              <a:ahLst/>
              <a:cxnLst/>
              <a:rect l="l" t="t" r="r" b="b"/>
              <a:pathLst>
                <a:path w="6675120" h="805180">
                  <a:moveTo>
                    <a:pt x="66751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6675120" y="804672"/>
                  </a:lnTo>
                  <a:lnTo>
                    <a:pt x="6675120" y="0"/>
                  </a:lnTo>
                  <a:close/>
                </a:path>
              </a:pathLst>
            </a:custGeom>
            <a:solidFill>
              <a:srgbClr val="895CF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1920240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80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524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87802" y="1197355"/>
            <a:ext cx="94106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product.html,</a:t>
            </a:r>
            <a:r>
              <a:rPr sz="1000" spc="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add-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product.html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88638" y="1273555"/>
            <a:ext cx="13265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Bootstrap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5</a:t>
            </a:r>
            <a:r>
              <a:rPr sz="10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responsive</a:t>
            </a:r>
            <a:r>
              <a:rPr sz="10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UI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9346" y="1197355"/>
            <a:ext cx="12687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Thymeleaf</a:t>
            </a:r>
            <a:r>
              <a:rPr sz="10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fragments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for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reuse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0181" y="1197355"/>
            <a:ext cx="11830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Model</a:t>
            </a:r>
            <a:r>
              <a:rPr sz="10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attributes</a:t>
            </a:r>
            <a:r>
              <a:rPr sz="10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bound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from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controllers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6700" y="1920239"/>
            <a:ext cx="1927860" cy="805180"/>
          </a:xfrm>
          <a:prstGeom prst="rect">
            <a:avLst/>
          </a:prstGeom>
          <a:solidFill>
            <a:srgbClr val="895CF6"/>
          </a:solidFill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endParaRPr sz="12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1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2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500"/>
              </a:spcBef>
            </a:pP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r>
              <a:rPr sz="9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9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@RestController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25370" y="2233931"/>
            <a:ext cx="4923155" cy="159385"/>
            <a:chOff x="2325370" y="2233931"/>
            <a:chExt cx="4923155" cy="15938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5370" y="2233931"/>
              <a:ext cx="122428" cy="12242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5570" y="2270507"/>
              <a:ext cx="122426" cy="12242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5770" y="2233931"/>
              <a:ext cx="122426" cy="12242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5970" y="2233931"/>
              <a:ext cx="122426" cy="12242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487802" y="2158110"/>
            <a:ext cx="103631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Handles</a:t>
            </a:r>
            <a:r>
              <a:rPr sz="10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HTTP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GET/POST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requests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88638" y="2234310"/>
            <a:ext cx="1109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Calls</a:t>
            </a:r>
            <a:r>
              <a:rPr sz="10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service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 methods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89346" y="2158110"/>
            <a:ext cx="12503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Adds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model</a:t>
            </a:r>
            <a:r>
              <a:rPr sz="10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attributes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to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view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0181" y="2158110"/>
            <a:ext cx="9931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Input</a:t>
            </a:r>
            <a:r>
              <a:rPr sz="10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validation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via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@Valid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47650" y="2863214"/>
          <a:ext cx="8606152" cy="803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9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R w="12700">
                      <a:solidFill>
                        <a:srgbClr val="0EB881"/>
                      </a:solidFill>
                      <a:prstDash val="solid"/>
                    </a:lnR>
                    <a:lnT w="19050">
                      <a:solidFill>
                        <a:srgbClr val="0EB881"/>
                      </a:solidFill>
                      <a:prstDash val="solid"/>
                    </a:lnT>
                    <a:solidFill>
                      <a:srgbClr val="0EB8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000" spc="-1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000" spc="-4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000" spc="-1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EB881"/>
                      </a:solidFill>
                      <a:prstDash val="solid"/>
                    </a:lnL>
                    <a:lnT w="19050">
                      <a:solidFill>
                        <a:srgbClr val="0EB881"/>
                      </a:solidFill>
                      <a:prstDash val="solid"/>
                    </a:lnT>
                    <a:solidFill>
                      <a:srgbClr val="0E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Orchestrates</a:t>
                      </a:r>
                      <a:r>
                        <a:rPr sz="1000" spc="1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4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step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operations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T w="19050">
                      <a:solidFill>
                        <a:srgbClr val="0EB881"/>
                      </a:solidFill>
                      <a:prstDash val="solid"/>
                    </a:lnT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boundaries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T w="19050">
                      <a:solidFill>
                        <a:srgbClr val="0EB881"/>
                      </a:solidFill>
                      <a:prstDash val="solid"/>
                    </a:lnT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1000" spc="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risk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threshold</a:t>
                      </a:r>
                      <a:r>
                        <a:rPr sz="1000" spc="-5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000" spc="-6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here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R w="19050">
                      <a:solidFill>
                        <a:srgbClr val="0EB881"/>
                      </a:solidFill>
                      <a:prstDash val="solid"/>
                    </a:lnR>
                    <a:lnT w="19050">
                      <a:solidFill>
                        <a:srgbClr val="0EB881"/>
                      </a:solidFill>
                      <a:prstDash val="solid"/>
                    </a:lnT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@Service</a:t>
                      </a:r>
                      <a:r>
                        <a:rPr sz="95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i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@Transactional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12700">
                      <a:solidFill>
                        <a:srgbClr val="0EB881"/>
                      </a:solidFill>
                      <a:prstDash val="solid"/>
                    </a:lnR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EB881"/>
                      </a:solidFill>
                      <a:prstDash val="solid"/>
                    </a:lnL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0489" marB="0">
                    <a:lnT w="19050">
                      <a:solidFill>
                        <a:srgbClr val="0EB881"/>
                      </a:solidFill>
                      <a:prstDash val="solid"/>
                    </a:lnT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0489" marB="0">
                    <a:lnT w="19050">
                      <a:solidFill>
                        <a:srgbClr val="0EB881"/>
                      </a:solidFill>
                      <a:prstDash val="solid"/>
                    </a:lnT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0489" marB="0">
                    <a:lnR w="19050">
                      <a:solidFill>
                        <a:srgbClr val="0EB881"/>
                      </a:solidFill>
                      <a:prstDash val="solid"/>
                    </a:lnR>
                    <a:lnT w="19050">
                      <a:solidFill>
                        <a:srgbClr val="0EB881"/>
                      </a:solidFill>
                      <a:prstDash val="solid"/>
                    </a:lnT>
                    <a:lnB w="19050">
                      <a:solidFill>
                        <a:srgbClr val="0EB881"/>
                      </a:solidFill>
                      <a:prstDash val="solid"/>
                    </a:lnB>
                    <a:solidFill>
                      <a:srgbClr val="0EB881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5370" y="3240151"/>
            <a:ext cx="122428" cy="12242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5570" y="3194051"/>
            <a:ext cx="122426" cy="12242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5770" y="3194051"/>
            <a:ext cx="122426" cy="12242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25969" y="3194051"/>
            <a:ext cx="122425" cy="122426"/>
          </a:xfrm>
          <a:prstGeom prst="rect">
            <a:avLst/>
          </a:prstGeom>
        </p:spPr>
      </p:pic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247650" y="3823334"/>
          <a:ext cx="8606154" cy="814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6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9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T w="19050">
                      <a:solidFill>
                        <a:srgbClr val="F59E09"/>
                      </a:solidFill>
                      <a:prstDash val="solid"/>
                    </a:lnT>
                    <a:solidFill>
                      <a:srgbClr val="F59E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6385" marR="23939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Extends 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JpaRepository&lt;Entity,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T w="19050">
                      <a:solidFill>
                        <a:srgbClr val="F59E09"/>
                      </a:solidFill>
                      <a:prstDash val="solid"/>
                    </a:lnT>
                    <a:solidFill>
                      <a:srgbClr val="F59E09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47015" marR="2419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000" spc="-4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@Query</a:t>
                      </a:r>
                      <a:r>
                        <a:rPr sz="1000" spc="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3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JPQL/SQL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T w="19050">
                      <a:solidFill>
                        <a:srgbClr val="F59E09"/>
                      </a:solidFill>
                      <a:prstDash val="solid"/>
                    </a:lnT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49554" marR="150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Hibernate</a:t>
                      </a:r>
                      <a:r>
                        <a:rPr sz="1000" spc="-5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000" spc="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entity lifecycle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T w="19050">
                      <a:solidFill>
                        <a:srgbClr val="F59E09"/>
                      </a:solidFill>
                      <a:prstDash val="solid"/>
                    </a:lnT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8115" marR="2533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sz="1000" spc="-6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MySQL</a:t>
                      </a:r>
                      <a:r>
                        <a:rPr sz="1000" spc="-3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00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000" spc="-2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JDBC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R w="19050">
                      <a:solidFill>
                        <a:srgbClr val="F59E09"/>
                      </a:solidFill>
                      <a:prstDash val="solid"/>
                    </a:lnR>
                    <a:lnT w="19050">
                      <a:solidFill>
                        <a:srgbClr val="F59E09"/>
                      </a:solidFill>
                      <a:prstDash val="solid"/>
                    </a:lnT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JpaRepository</a:t>
                      </a: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+</a:t>
                      </a:r>
                      <a:r>
                        <a:rPr sz="950" i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Hibernate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ts val="1155"/>
                        </a:lnSpc>
                      </a:pPr>
                      <a:r>
                        <a:rPr sz="1000" spc="-25" dirty="0">
                          <a:solidFill>
                            <a:srgbClr val="1E2939"/>
                          </a:solidFill>
                          <a:latin typeface="Times New Roman"/>
                          <a:cs typeface="Times New Roman"/>
                        </a:rPr>
                        <a:t>ID&gt;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5090" marB="0">
                    <a:lnT w="19050">
                      <a:solidFill>
                        <a:srgbClr val="F59E09"/>
                      </a:solidFill>
                      <a:prstDash val="solid"/>
                    </a:lnT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5090" marB="0">
                    <a:lnT w="19050">
                      <a:solidFill>
                        <a:srgbClr val="F59E09"/>
                      </a:solidFill>
                      <a:prstDash val="solid"/>
                    </a:lnT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5090" marB="0">
                    <a:lnR w="19050">
                      <a:solidFill>
                        <a:srgbClr val="F59E09"/>
                      </a:solidFill>
                      <a:prstDash val="solid"/>
                    </a:lnR>
                    <a:lnT w="19050">
                      <a:solidFill>
                        <a:srgbClr val="F59E09"/>
                      </a:solidFill>
                      <a:prstDash val="solid"/>
                    </a:lnT>
                    <a:lnB w="19050">
                      <a:solidFill>
                        <a:srgbClr val="F59E09"/>
                      </a:solidFill>
                      <a:prstDash val="solid"/>
                    </a:lnB>
                    <a:solidFill>
                      <a:srgbClr val="F59E09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5370" y="4154170"/>
            <a:ext cx="122428" cy="12242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5570" y="4154170"/>
            <a:ext cx="122426" cy="12242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25770" y="4154170"/>
            <a:ext cx="122426" cy="12242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5969" y="4154170"/>
            <a:ext cx="122425" cy="122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Controller</a:t>
            </a:r>
            <a:r>
              <a:rPr spc="-90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3770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Spring</a:t>
            </a:r>
            <a:r>
              <a:rPr sz="1300" i="1" spc="-6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MVC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Controllers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—</a:t>
            </a:r>
            <a:r>
              <a:rPr sz="1300" i="1" spc="-6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Request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Handling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&amp;</a:t>
            </a:r>
            <a:r>
              <a:rPr sz="1300" i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Routing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05255"/>
            <a:ext cx="4327525" cy="4053204"/>
            <a:chOff x="137160" y="905255"/>
            <a:chExt cx="4327525" cy="40532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05255"/>
              <a:ext cx="4327398" cy="40530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371600"/>
              <a:ext cx="4114800" cy="3456940"/>
            </a:xfrm>
            <a:custGeom>
              <a:avLst/>
              <a:gdLst/>
              <a:ahLst/>
              <a:cxnLst/>
              <a:rect l="l" t="t" r="r" b="b"/>
              <a:pathLst>
                <a:path w="4114800" h="3456940">
                  <a:moveTo>
                    <a:pt x="4114800" y="0"/>
                  </a:moveTo>
                  <a:lnTo>
                    <a:pt x="0" y="0"/>
                  </a:lnTo>
                  <a:lnTo>
                    <a:pt x="0" y="3456432"/>
                  </a:lnTo>
                  <a:lnTo>
                    <a:pt x="4114800" y="3456432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87551"/>
              <a:ext cx="4114800" cy="3840479"/>
            </a:xfrm>
            <a:custGeom>
              <a:avLst/>
              <a:gdLst/>
              <a:ahLst/>
              <a:cxnLst/>
              <a:rect l="l" t="t" r="r" b="b"/>
              <a:pathLst>
                <a:path w="4114800" h="3840479">
                  <a:moveTo>
                    <a:pt x="0" y="3840479"/>
                  </a:moveTo>
                  <a:lnTo>
                    <a:pt x="4114800" y="384047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84047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87552"/>
            <a:ext cx="4114800" cy="384175"/>
          </a:xfrm>
          <a:prstGeom prst="rect">
            <a:avLst/>
          </a:prstGeom>
          <a:solidFill>
            <a:srgbClr val="895CF6"/>
          </a:solidFill>
          <a:ln w="12700">
            <a:solidFill>
              <a:srgbClr val="895CF6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590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Role</a:t>
            </a:r>
            <a:r>
              <a:rPr sz="1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Controllers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047" y="1508760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8939" y="1474978"/>
            <a:ext cx="23990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Returns</a:t>
            </a:r>
            <a:r>
              <a:rPr sz="105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view</a:t>
            </a:r>
            <a:r>
              <a:rPr sz="105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name</a:t>
            </a:r>
            <a:r>
              <a:rPr sz="105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for</a:t>
            </a:r>
            <a:r>
              <a:rPr sz="105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Thymeleaf</a:t>
            </a:r>
            <a:r>
              <a:rPr sz="105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templates,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adds</a:t>
            </a:r>
            <a:r>
              <a:rPr sz="105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model</a:t>
            </a:r>
            <a:r>
              <a:rPr sz="105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1E2939"/>
                </a:solidFill>
                <a:latin typeface="Times New Roman"/>
                <a:cs typeface="Times New Roman"/>
              </a:rPr>
              <a:t>data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047" y="1965960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@RequestMapping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8939" y="1932177"/>
            <a:ext cx="197103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Maps</a:t>
            </a:r>
            <a:r>
              <a:rPr sz="105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URL</a:t>
            </a:r>
            <a:r>
              <a:rPr sz="105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paths</a:t>
            </a:r>
            <a:r>
              <a:rPr sz="105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to</a:t>
            </a:r>
            <a:r>
              <a:rPr sz="105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handler</a:t>
            </a:r>
            <a:r>
              <a:rPr sz="105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methods (GET/POST)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047" y="2423160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48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@PathVariable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8939" y="2389377"/>
            <a:ext cx="19538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Extracts</a:t>
            </a:r>
            <a:r>
              <a:rPr sz="105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dynamic</a:t>
            </a:r>
            <a:r>
              <a:rPr sz="105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path</a:t>
            </a:r>
            <a:r>
              <a:rPr sz="105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segments</a:t>
            </a:r>
            <a:r>
              <a:rPr sz="105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1E2939"/>
                </a:solidFill>
                <a:latin typeface="Times New Roman"/>
                <a:cs typeface="Times New Roman"/>
              </a:rPr>
              <a:t>like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/product/{id}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047" y="2880360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484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@ModelAttribute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8939" y="2926842"/>
            <a:ext cx="24263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Binds</a:t>
            </a:r>
            <a:r>
              <a:rPr sz="105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form</a:t>
            </a:r>
            <a:r>
              <a:rPr sz="105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data</a:t>
            </a:r>
            <a:r>
              <a:rPr sz="105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to</a:t>
            </a:r>
            <a:r>
              <a:rPr sz="105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Java</a:t>
            </a:r>
            <a:r>
              <a:rPr sz="105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objects</a:t>
            </a:r>
            <a:r>
              <a:rPr sz="105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automatically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047" y="3337559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48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@Valid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8939" y="3304413"/>
            <a:ext cx="23729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Triggers</a:t>
            </a:r>
            <a:r>
              <a:rPr sz="105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Bean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Validation</a:t>
            </a:r>
            <a:r>
              <a:rPr sz="105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on</a:t>
            </a:r>
            <a:r>
              <a:rPr sz="1050" spc="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30" dirty="0">
                <a:solidFill>
                  <a:srgbClr val="1E2939"/>
                </a:solidFill>
                <a:latin typeface="Times New Roman"/>
                <a:cs typeface="Times New Roman"/>
              </a:rPr>
              <a:t>form-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submitted objects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047" y="3794759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484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BindingResult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8939" y="3762247"/>
            <a:ext cx="23361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Captures</a:t>
            </a:r>
            <a:r>
              <a:rPr sz="105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validation</a:t>
            </a:r>
            <a:r>
              <a:rPr sz="105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errors</a:t>
            </a:r>
            <a:r>
              <a:rPr sz="1050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without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throwing exceptions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047" y="4251959"/>
            <a:ext cx="1234440" cy="292735"/>
          </a:xfrm>
          <a:prstGeom prst="rect">
            <a:avLst/>
          </a:prstGeom>
          <a:solidFill>
            <a:srgbClr val="895CF6">
              <a:alpha val="85096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49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RedirectAttributes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8939" y="4299610"/>
            <a:ext cx="20332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Passes</a:t>
            </a:r>
            <a:r>
              <a:rPr sz="105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flash</a:t>
            </a:r>
            <a:r>
              <a:rPr sz="105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9"/>
                </a:solidFill>
                <a:latin typeface="Times New Roman"/>
                <a:cs typeface="Times New Roman"/>
              </a:rPr>
              <a:t>messages</a:t>
            </a:r>
            <a:r>
              <a:rPr sz="105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across</a:t>
            </a:r>
            <a:r>
              <a:rPr sz="105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9"/>
                </a:solidFill>
                <a:latin typeface="Times New Roman"/>
                <a:cs typeface="Times New Roman"/>
              </a:rPr>
              <a:t>redirects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26279" y="905255"/>
            <a:ext cx="4418965" cy="1383030"/>
            <a:chOff x="4526279" y="905255"/>
            <a:chExt cx="4418965" cy="138303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905255"/>
              <a:ext cx="4418837" cy="138303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63439" y="98755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3439" y="98755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63440" y="987552"/>
            <a:ext cx="4206240" cy="320040"/>
          </a:xfrm>
          <a:prstGeom prst="rect">
            <a:avLst/>
          </a:prstGeom>
          <a:solidFill>
            <a:srgbClr val="895CF6">
              <a:alpha val="79998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470"/>
              </a:spcBef>
            </a:pPr>
            <a:r>
              <a:rPr sz="1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AuthController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69790" y="131394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0805" rIns="0" bIns="0" rtlCol="0">
            <a:spAutoFit/>
          </a:bodyPr>
          <a:lstStyle/>
          <a:p>
            <a:pPr marL="85725" marR="2416175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GET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/login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show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login</a:t>
            </a:r>
            <a:r>
              <a:rPr sz="10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page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GET</a:t>
            </a:r>
            <a:r>
              <a:rPr sz="10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/register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user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registration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GET</a:t>
            </a:r>
            <a:r>
              <a:rPr sz="10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/logout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logout</a:t>
            </a:r>
            <a:r>
              <a:rPr sz="10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user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Purpose</a:t>
            </a:r>
            <a:r>
              <a:rPr sz="10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:</a:t>
            </a:r>
            <a:r>
              <a:rPr sz="10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Handles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authentication</a:t>
            </a:r>
            <a:r>
              <a:rPr sz="10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0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access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26279" y="2185416"/>
            <a:ext cx="4418965" cy="1383030"/>
            <a:chOff x="4526279" y="2185416"/>
            <a:chExt cx="4418965" cy="138303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2185416"/>
              <a:ext cx="4418837" cy="13830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63439" y="2267712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63439" y="2267712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63440" y="2267711"/>
            <a:ext cx="4206240" cy="320040"/>
          </a:xfrm>
          <a:prstGeom prst="rect">
            <a:avLst/>
          </a:prstGeom>
          <a:solidFill>
            <a:srgbClr val="895CF6">
              <a:alpha val="79998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75"/>
              </a:spcBef>
            </a:pPr>
            <a:r>
              <a:rPr sz="1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InventoryController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69790" y="259410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785"/>
              </a:lnSpc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GET</a:t>
            </a:r>
            <a:r>
              <a:rPr sz="10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/dashboard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main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dashboard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ts val="1180"/>
              </a:lnSpc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GET/products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view all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products</a:t>
            </a:r>
            <a:endParaRPr sz="1000">
              <a:latin typeface="Times New Roman"/>
              <a:cs typeface="Times New Roman"/>
            </a:endParaRPr>
          </a:p>
          <a:p>
            <a:pPr marL="85725" marR="1859280">
              <a:lnSpc>
                <a:spcPct val="100000"/>
              </a:lnSpc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POST</a:t>
            </a:r>
            <a:r>
              <a:rPr sz="10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/add-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product</a:t>
            </a:r>
            <a:r>
              <a:rPr sz="10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add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new</a:t>
            </a:r>
            <a:r>
              <a:rPr sz="10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product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POST</a:t>
            </a:r>
            <a:r>
              <a:rPr sz="10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/increase/{id}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increase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stock</a:t>
            </a:r>
            <a:r>
              <a:rPr sz="10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by</a:t>
            </a:r>
            <a:r>
              <a:rPr sz="10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1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 POST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/decrease/{id}</a:t>
            </a:r>
            <a:r>
              <a:rPr sz="10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decrease</a:t>
            </a:r>
            <a:r>
              <a:rPr sz="1000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stock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by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26279" y="3465550"/>
            <a:ext cx="4418965" cy="1383030"/>
            <a:chOff x="4526279" y="3465550"/>
            <a:chExt cx="4418965" cy="138303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3465550"/>
              <a:ext cx="4418837" cy="138303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63439" y="354787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354787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63440" y="3547871"/>
            <a:ext cx="4206240" cy="320040"/>
          </a:xfrm>
          <a:prstGeom prst="rect">
            <a:avLst/>
          </a:prstGeom>
          <a:solidFill>
            <a:srgbClr val="895CF6">
              <a:alpha val="79998"/>
            </a:srgbClr>
          </a:solidFill>
          <a:ln w="12700">
            <a:solidFill>
              <a:srgbClr val="895CF6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895CF6"/>
                </a:solidFill>
                <a:latin typeface="Times New Roman"/>
                <a:cs typeface="Times New Roman"/>
              </a:rPr>
              <a:t>StockController</a:t>
            </a:r>
            <a:r>
              <a:rPr sz="1200" b="1" spc="195" dirty="0">
                <a:solidFill>
                  <a:srgbClr val="89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/stock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69790" y="387426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GET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/stock</a:t>
            </a:r>
            <a:r>
              <a:rPr sz="10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view</a:t>
            </a:r>
            <a:r>
              <a:rPr sz="10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all</a:t>
            </a:r>
            <a:r>
              <a:rPr sz="10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stock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POST</a:t>
            </a:r>
            <a:r>
              <a:rPr sz="10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/stock/adjust</a:t>
            </a:r>
            <a:r>
              <a:rPr sz="10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manual</a:t>
            </a:r>
            <a:r>
              <a:rPr sz="1000" spc="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adjust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GET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9"/>
                </a:solidFill>
                <a:latin typeface="Times New Roman"/>
                <a:cs typeface="Times New Roman"/>
              </a:rPr>
              <a:t>/stock/alerts</a:t>
            </a:r>
            <a:r>
              <a:rPr sz="10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low</a:t>
            </a:r>
            <a:r>
              <a:rPr sz="10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9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9"/>
                </a:solidFill>
                <a:latin typeface="Times New Roman"/>
                <a:cs typeface="Times New Roman"/>
              </a:rPr>
              <a:t>list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spc="-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388810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20" dirty="0">
                <a:solidFill>
                  <a:srgbClr val="0891B0"/>
                </a:solidFill>
                <a:latin typeface="Times New Roman"/>
                <a:cs typeface="Times New Roman"/>
              </a:rPr>
              <a:t>Business</a:t>
            </a:r>
            <a:r>
              <a:rPr sz="1300" i="1" spc="-5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Logic,</a:t>
            </a:r>
            <a:r>
              <a:rPr sz="1300" i="1" spc="-2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Transaction</a:t>
            </a:r>
            <a:r>
              <a:rPr sz="1300" i="1" spc="-3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Management</a:t>
            </a:r>
            <a:r>
              <a:rPr sz="1300" i="1" spc="-1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&amp;</a:t>
            </a:r>
            <a:r>
              <a:rPr sz="1300" i="1" spc="-4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Orchestration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824"/>
            <a:ext cx="2224405" cy="1584325"/>
            <a:chOff x="137160" y="877824"/>
            <a:chExt cx="2224405" cy="1584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824"/>
              <a:ext cx="2224278" cy="1584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80" h="1371600">
                  <a:moveTo>
                    <a:pt x="0" y="1371599"/>
                  </a:moveTo>
                  <a:lnTo>
                    <a:pt x="2011680" y="13715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20"/>
              <a:ext cx="2011680" cy="347980"/>
            </a:xfrm>
            <a:custGeom>
              <a:avLst/>
              <a:gdLst/>
              <a:ahLst/>
              <a:cxnLst/>
              <a:rect l="l" t="t" r="r" b="b"/>
              <a:pathLst>
                <a:path w="2011680" h="347980">
                  <a:moveTo>
                    <a:pt x="0" y="347979"/>
                  </a:moveTo>
                  <a:lnTo>
                    <a:pt x="2011680" y="34797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347979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7970" y="953769"/>
            <a:ext cx="2024380" cy="360680"/>
          </a:xfrm>
          <a:prstGeom prst="rect">
            <a:avLst/>
          </a:prstGeom>
          <a:solidFill>
            <a:srgbClr val="0EB881"/>
          </a:solidFill>
        </p:spPr>
        <p:txBody>
          <a:bodyPr vert="horz" wrap="square" lIns="0" tIns="7112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6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@Service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32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Times New Roman"/>
              <a:cs typeface="Times New Roman"/>
            </a:endParaRPr>
          </a:p>
          <a:p>
            <a:pPr marL="90805" marR="133350">
              <a:lnSpc>
                <a:spcPct val="100000"/>
              </a:lnSpc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Marks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class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as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Spring-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managed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service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bean.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Detected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by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component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scan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injected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via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@Autowired.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86000" y="877824"/>
            <a:ext cx="2224405" cy="1584325"/>
            <a:chOff x="2286000" y="877824"/>
            <a:chExt cx="2224405" cy="1584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877824"/>
              <a:ext cx="2224278" cy="15841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2316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80" y="13715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23160" y="960120"/>
              <a:ext cx="2011680" cy="347980"/>
            </a:xfrm>
            <a:custGeom>
              <a:avLst/>
              <a:gdLst/>
              <a:ahLst/>
              <a:cxnLst/>
              <a:rect l="l" t="t" r="r" b="b"/>
              <a:pathLst>
                <a:path w="2011679" h="347980">
                  <a:moveTo>
                    <a:pt x="0" y="347979"/>
                  </a:moveTo>
                  <a:lnTo>
                    <a:pt x="2011680" y="34797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347979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16810" y="953769"/>
            <a:ext cx="2024380" cy="36068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71120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56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@Transactional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316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148590">
              <a:lnSpc>
                <a:spcPct val="100000"/>
              </a:lnSpc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Wraps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entire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method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a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database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transaction.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Rolls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back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on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RuntimeException</a:t>
            </a:r>
            <a:r>
              <a:rPr sz="1100" spc="-1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ensuring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data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34840" y="877824"/>
            <a:ext cx="2224405" cy="1584325"/>
            <a:chOff x="4434840" y="877824"/>
            <a:chExt cx="2224405" cy="158432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877824"/>
              <a:ext cx="2224277" cy="158419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79" y="13715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0" y="960120"/>
              <a:ext cx="2011680" cy="347980"/>
            </a:xfrm>
            <a:custGeom>
              <a:avLst/>
              <a:gdLst/>
              <a:ahLst/>
              <a:cxnLst/>
              <a:rect l="l" t="t" r="r" b="b"/>
              <a:pathLst>
                <a:path w="2011679" h="347980">
                  <a:moveTo>
                    <a:pt x="0" y="347979"/>
                  </a:moveTo>
                  <a:lnTo>
                    <a:pt x="2011679" y="34797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347979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65650" y="953769"/>
            <a:ext cx="2024380" cy="360680"/>
          </a:xfrm>
          <a:prstGeom prst="rect">
            <a:avLst/>
          </a:prstGeom>
          <a:solidFill>
            <a:srgbClr val="895C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56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13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7200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00965">
              <a:lnSpc>
                <a:spcPct val="100000"/>
              </a:lnSpc>
            </a:pP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Centralized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domain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rules: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price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calculation,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discount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logic,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stock deduction,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reorder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point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evaluation.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583680" y="877824"/>
            <a:ext cx="2224405" cy="1584325"/>
            <a:chOff x="6583680" y="877824"/>
            <a:chExt cx="2224405" cy="15843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3680" y="877824"/>
              <a:ext cx="2224278" cy="158419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72084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79" y="13715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20840" y="960120"/>
              <a:ext cx="2011680" cy="347980"/>
            </a:xfrm>
            <a:custGeom>
              <a:avLst/>
              <a:gdLst/>
              <a:ahLst/>
              <a:cxnLst/>
              <a:rect l="l" t="t" r="r" b="b"/>
              <a:pathLst>
                <a:path w="2011679" h="347980">
                  <a:moveTo>
                    <a:pt x="0" y="347979"/>
                  </a:moveTo>
                  <a:lnTo>
                    <a:pt x="2011679" y="34797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347979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14490" y="953769"/>
            <a:ext cx="2024380" cy="360680"/>
          </a:xfrm>
          <a:prstGeom prst="rect">
            <a:avLst/>
          </a:prstGeom>
          <a:solidFill>
            <a:srgbClr val="F87316"/>
          </a:solidFill>
        </p:spPr>
        <p:txBody>
          <a:bodyPr vert="horz" wrap="square" lIns="0" tIns="71120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56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3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Interfaces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084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85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5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81610" algn="just">
              <a:lnSpc>
                <a:spcPct val="100000"/>
              </a:lnSpc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Services</a:t>
            </a:r>
            <a:r>
              <a:rPr sz="1100" spc="2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implement</a:t>
            </a:r>
            <a:r>
              <a:rPr sz="1100" spc="2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interfaces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1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loose</a:t>
            </a:r>
            <a:r>
              <a:rPr sz="1100" spc="18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coupling,</a:t>
            </a:r>
            <a:r>
              <a:rPr sz="1100" spc="18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testability,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easy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mocking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unit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tests.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7160" y="2432314"/>
            <a:ext cx="8808085" cy="2635885"/>
            <a:chOff x="137160" y="2432314"/>
            <a:chExt cx="8808085" cy="263588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2432314"/>
              <a:ext cx="8807958" cy="263575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4320" y="2862071"/>
              <a:ext cx="8595360" cy="2075814"/>
            </a:xfrm>
            <a:custGeom>
              <a:avLst/>
              <a:gdLst/>
              <a:ahLst/>
              <a:cxnLst/>
              <a:rect l="l" t="t" r="r" b="b"/>
              <a:pathLst>
                <a:path w="8595360" h="2075814">
                  <a:moveTo>
                    <a:pt x="8595360" y="0"/>
                  </a:moveTo>
                  <a:lnTo>
                    <a:pt x="0" y="0"/>
                  </a:lnTo>
                  <a:lnTo>
                    <a:pt x="0" y="2075688"/>
                  </a:lnTo>
                  <a:lnTo>
                    <a:pt x="8595360" y="2075688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320" y="2514599"/>
              <a:ext cx="8595360" cy="2423160"/>
            </a:xfrm>
            <a:custGeom>
              <a:avLst/>
              <a:gdLst/>
              <a:ahLst/>
              <a:cxnLst/>
              <a:rect l="l" t="t" r="r" b="b"/>
              <a:pathLst>
                <a:path w="8595360" h="2423160">
                  <a:moveTo>
                    <a:pt x="0" y="2423160"/>
                  </a:moveTo>
                  <a:lnTo>
                    <a:pt x="8595360" y="242316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2423160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4320" y="2514599"/>
              <a:ext cx="8595360" cy="347980"/>
            </a:xfrm>
            <a:custGeom>
              <a:avLst/>
              <a:gdLst/>
              <a:ahLst/>
              <a:cxnLst/>
              <a:rect l="l" t="t" r="r" b="b"/>
              <a:pathLst>
                <a:path w="8595360" h="347980">
                  <a:moveTo>
                    <a:pt x="859536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8595360" y="347472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320" y="2514599"/>
              <a:ext cx="8595360" cy="347980"/>
            </a:xfrm>
            <a:custGeom>
              <a:avLst/>
              <a:gdLst/>
              <a:ahLst/>
              <a:cxnLst/>
              <a:rect l="l" t="t" r="r" b="b"/>
              <a:pathLst>
                <a:path w="8595360" h="347980">
                  <a:moveTo>
                    <a:pt x="0" y="347472"/>
                  </a:moveTo>
                  <a:lnTo>
                    <a:pt x="8595360" y="3474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07035" y="2557983"/>
            <a:ext cx="22796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sz="14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Methods</a:t>
            </a:r>
            <a:r>
              <a:rPr sz="1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4047" y="2971800"/>
            <a:ext cx="2743200" cy="329565"/>
          </a:xfrm>
          <a:prstGeom prst="rect">
            <a:avLst/>
          </a:prstGeom>
          <a:solidFill>
            <a:srgbClr val="0EB881">
              <a:alpha val="79998"/>
            </a:srgbClr>
          </a:solidFill>
          <a:ln w="12700">
            <a:solidFill>
              <a:srgbClr val="0EB88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25"/>
              </a:spcBef>
            </a:pPr>
            <a:r>
              <a:rPr sz="10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processOrder(OrderDTO</a:t>
            </a:r>
            <a:r>
              <a:rPr sz="1000" b="1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dto)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34054" y="2956941"/>
            <a:ext cx="539051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Validates</a:t>
            </a:r>
            <a:r>
              <a:rPr sz="10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deducts</a:t>
            </a:r>
            <a:r>
              <a:rPr sz="10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quantity</a:t>
            </a:r>
            <a:r>
              <a:rPr sz="10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05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creates</a:t>
            </a:r>
            <a:r>
              <a:rPr sz="10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order</a:t>
            </a:r>
            <a:r>
              <a:rPr sz="10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record</a:t>
            </a:r>
            <a:r>
              <a:rPr sz="10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0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updates</a:t>
            </a:r>
            <a:r>
              <a:rPr sz="10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ledger</a:t>
            </a:r>
            <a:r>
              <a:rPr sz="10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0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triggers</a:t>
            </a:r>
            <a:r>
              <a:rPr sz="10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alert</a:t>
            </a:r>
            <a:r>
              <a:rPr sz="10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if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below</a:t>
            </a:r>
            <a:r>
              <a:rPr sz="10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threshold.</a:t>
            </a:r>
            <a:r>
              <a:rPr sz="10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Fully</a:t>
            </a:r>
            <a:r>
              <a:rPr sz="105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transactional.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4047" y="3447288"/>
            <a:ext cx="2743200" cy="329565"/>
          </a:xfrm>
          <a:prstGeom prst="rect">
            <a:avLst/>
          </a:prstGeom>
          <a:solidFill>
            <a:srgbClr val="0EB881">
              <a:alpha val="79998"/>
            </a:srgbClr>
          </a:solidFill>
          <a:ln w="12700">
            <a:solidFill>
              <a:srgbClr val="0EB88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25"/>
              </a:spcBef>
            </a:pPr>
            <a:r>
              <a:rPr sz="10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restockProduct(int</a:t>
            </a:r>
            <a:r>
              <a:rPr sz="1000" b="1" spc="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E2939"/>
                </a:solidFill>
                <a:latin typeface="Times New Roman"/>
                <a:cs typeface="Times New Roman"/>
              </a:rPr>
              <a:t>id,</a:t>
            </a:r>
            <a:r>
              <a:rPr sz="1000" b="1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E2939"/>
                </a:solidFill>
                <a:latin typeface="Times New Roman"/>
                <a:cs typeface="Times New Roman"/>
              </a:rPr>
              <a:t>int</a:t>
            </a:r>
            <a:r>
              <a:rPr sz="1000" b="1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qty)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34054" y="3432428"/>
            <a:ext cx="51415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Adds</a:t>
            </a:r>
            <a:r>
              <a:rPr sz="10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to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product</a:t>
            </a:r>
            <a:r>
              <a:rPr sz="10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logs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movement →</a:t>
            </a:r>
            <a:r>
              <a:rPr sz="10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clears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any</a:t>
            </a:r>
            <a:r>
              <a:rPr sz="10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low-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5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alert</a:t>
            </a:r>
            <a:r>
              <a:rPr sz="10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10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recalculates</a:t>
            </a:r>
            <a:r>
              <a:rPr sz="1050" spc="-7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total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inventory</a:t>
            </a:r>
            <a:r>
              <a:rPr sz="105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value.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4047" y="3922776"/>
            <a:ext cx="2743200" cy="329565"/>
          </a:xfrm>
          <a:prstGeom prst="rect">
            <a:avLst/>
          </a:prstGeom>
          <a:solidFill>
            <a:srgbClr val="0EB881">
              <a:alpha val="79998"/>
            </a:srgbClr>
          </a:solidFill>
          <a:ln w="12700">
            <a:solidFill>
              <a:srgbClr val="0EB881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35"/>
              </a:spcBef>
            </a:pPr>
            <a:r>
              <a:rPr sz="1000" b="1" spc="-20" dirty="0">
                <a:solidFill>
                  <a:srgbClr val="1E2939"/>
                </a:solidFill>
                <a:latin typeface="Times New Roman"/>
                <a:cs typeface="Times New Roman"/>
              </a:rPr>
              <a:t>evaluateRiskThreshold(Product</a:t>
            </a:r>
            <a:r>
              <a:rPr sz="1000" b="1" spc="28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000" b="1" spc="-25" dirty="0">
                <a:solidFill>
                  <a:srgbClr val="1E2939"/>
                </a:solidFill>
                <a:latin typeface="Times New Roman"/>
                <a:cs typeface="Times New Roman"/>
              </a:rPr>
              <a:t>p)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34054" y="3908552"/>
            <a:ext cx="51320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Compares</a:t>
            </a:r>
            <a:r>
              <a:rPr sz="10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currentStock</a:t>
            </a:r>
            <a:r>
              <a:rPr sz="10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against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92A1B8"/>
                </a:solidFill>
                <a:latin typeface="Times New Roman"/>
                <a:cs typeface="Times New Roman"/>
              </a:rPr>
              <a:t>minimumThreshold.</a:t>
            </a:r>
            <a:r>
              <a:rPr sz="1050" spc="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Returns</a:t>
            </a:r>
            <a:r>
              <a:rPr sz="1050" spc="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92A1B8"/>
                </a:solidFill>
                <a:latin typeface="Times New Roman"/>
                <a:cs typeface="Times New Roman"/>
              </a:rPr>
              <a:t>CRITICAL/WARNING/OK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enum. Called</a:t>
            </a:r>
            <a:r>
              <a:rPr sz="10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after</a:t>
            </a:r>
            <a:r>
              <a:rPr sz="10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every 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stock-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deducting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operation.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4047" y="4398264"/>
            <a:ext cx="2743200" cy="329565"/>
          </a:xfrm>
          <a:prstGeom prst="rect">
            <a:avLst/>
          </a:prstGeom>
          <a:solidFill>
            <a:srgbClr val="0EB881">
              <a:alpha val="79998"/>
            </a:srgbClr>
          </a:solidFill>
          <a:ln w="12700">
            <a:solidFill>
              <a:srgbClr val="0EB881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35"/>
              </a:spcBef>
            </a:pPr>
            <a:r>
              <a:rPr sz="1000" b="1" spc="-10" dirty="0">
                <a:solidFill>
                  <a:srgbClr val="1E2939"/>
                </a:solidFill>
                <a:latin typeface="Times New Roman"/>
                <a:cs typeface="Times New Roman"/>
              </a:rPr>
              <a:t>generateInventoryReport()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34054" y="4384040"/>
            <a:ext cx="52724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Aggregates</a:t>
            </a:r>
            <a:r>
              <a:rPr sz="105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product</a:t>
            </a:r>
            <a:r>
              <a:rPr sz="10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values,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calculates</a:t>
            </a:r>
            <a:r>
              <a:rPr sz="105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total</a:t>
            </a:r>
            <a:r>
              <a:rPr sz="10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inventory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worth,</a:t>
            </a:r>
            <a:r>
              <a:rPr sz="10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identifies</a:t>
            </a:r>
            <a:r>
              <a:rPr sz="10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top</a:t>
            </a:r>
            <a:r>
              <a:rPr sz="10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movers</a:t>
            </a:r>
            <a:r>
              <a:rPr sz="105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0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critical</a:t>
            </a:r>
            <a:r>
              <a:rPr sz="10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items</a:t>
            </a:r>
            <a:r>
              <a:rPr sz="105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 dashboard</a:t>
            </a:r>
            <a:r>
              <a:rPr sz="10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2A1B8"/>
                </a:solidFill>
                <a:latin typeface="Times New Roman"/>
                <a:cs typeface="Times New Roman"/>
              </a:rPr>
              <a:t>display.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8"/>
            <a:ext cx="9156700" cy="5149850"/>
            <a:chOff x="-6350" y="-6348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5070475"/>
            </a:xfrm>
            <a:custGeom>
              <a:avLst/>
              <a:gdLst/>
              <a:ahLst/>
              <a:cxnLst/>
              <a:rect l="l" t="t" r="r" b="b"/>
              <a:pathLst>
                <a:path w="9144000" h="5070475">
                  <a:moveTo>
                    <a:pt x="0" y="5070347"/>
                  </a:moveTo>
                  <a:lnTo>
                    <a:pt x="9144000" y="507034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070347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95" y="43740"/>
            <a:ext cx="4389755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pc="-25" dirty="0">
                <a:solidFill>
                  <a:srgbClr val="000000"/>
                </a:solidFill>
              </a:rPr>
              <a:t>Transaction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Module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ACID</a:t>
            </a:r>
            <a:r>
              <a:rPr sz="1300" b="0" i="1" spc="-4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Compliance,</a:t>
            </a:r>
            <a:r>
              <a:rPr sz="1300" b="0" i="1" spc="-4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4B6D2"/>
                </a:solidFill>
                <a:latin typeface="Times New Roman"/>
                <a:cs typeface="Times New Roman"/>
              </a:rPr>
              <a:t>@Transactional</a:t>
            </a:r>
            <a:r>
              <a:rPr sz="1300" b="0" i="1" spc="1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Behavior</a:t>
            </a:r>
            <a:r>
              <a:rPr sz="1300" b="0" i="1" spc="-4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6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Rollback</a:t>
            </a:r>
            <a:r>
              <a:rPr sz="1300" b="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Strategy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320" y="1005839"/>
            <a:ext cx="2011680" cy="1737360"/>
            <a:chOff x="274320" y="1005839"/>
            <a:chExt cx="2011680" cy="1737360"/>
          </a:xfrm>
        </p:grpSpPr>
        <p:sp>
          <p:nvSpPr>
            <p:cNvPr id="8" name="object 8"/>
            <p:cNvSpPr/>
            <p:nvPr/>
          </p:nvSpPr>
          <p:spPr>
            <a:xfrm>
              <a:off x="27432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80" h="1737360">
                  <a:moveTo>
                    <a:pt x="201168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80" y="173736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012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80" h="675639">
                  <a:moveTo>
                    <a:pt x="320040" y="0"/>
                  </a:moveTo>
                  <a:lnTo>
                    <a:pt x="272745" y="3683"/>
                  </a:lnTo>
                  <a:lnTo>
                    <a:pt x="227609" y="14350"/>
                  </a:lnTo>
                  <a:lnTo>
                    <a:pt x="185115" y="31369"/>
                  </a:lnTo>
                  <a:lnTo>
                    <a:pt x="145770" y="54483"/>
                  </a:lnTo>
                  <a:lnTo>
                    <a:pt x="110070" y="82804"/>
                  </a:lnTo>
                  <a:lnTo>
                    <a:pt x="78498" y="116205"/>
                  </a:lnTo>
                  <a:lnTo>
                    <a:pt x="51562" y="153924"/>
                  </a:lnTo>
                  <a:lnTo>
                    <a:pt x="29743" y="195453"/>
                  </a:lnTo>
                  <a:lnTo>
                    <a:pt x="13550" y="240284"/>
                  </a:lnTo>
                  <a:lnTo>
                    <a:pt x="3467" y="287909"/>
                  </a:lnTo>
                  <a:lnTo>
                    <a:pt x="0" y="337820"/>
                  </a:lnTo>
                  <a:lnTo>
                    <a:pt x="3467" y="387731"/>
                  </a:lnTo>
                  <a:lnTo>
                    <a:pt x="13550" y="435356"/>
                  </a:lnTo>
                  <a:lnTo>
                    <a:pt x="29743" y="480187"/>
                  </a:lnTo>
                  <a:lnTo>
                    <a:pt x="51562" y="521716"/>
                  </a:lnTo>
                  <a:lnTo>
                    <a:pt x="78498" y="559435"/>
                  </a:lnTo>
                  <a:lnTo>
                    <a:pt x="110070" y="592836"/>
                  </a:lnTo>
                  <a:lnTo>
                    <a:pt x="145770" y="621157"/>
                  </a:lnTo>
                  <a:lnTo>
                    <a:pt x="185115" y="644271"/>
                  </a:lnTo>
                  <a:lnTo>
                    <a:pt x="227609" y="661289"/>
                  </a:lnTo>
                  <a:lnTo>
                    <a:pt x="272745" y="671957"/>
                  </a:lnTo>
                  <a:lnTo>
                    <a:pt x="320040" y="675640"/>
                  </a:lnTo>
                  <a:lnTo>
                    <a:pt x="367284" y="671957"/>
                  </a:lnTo>
                  <a:lnTo>
                    <a:pt x="412496" y="661289"/>
                  </a:lnTo>
                  <a:lnTo>
                    <a:pt x="454914" y="644271"/>
                  </a:lnTo>
                  <a:lnTo>
                    <a:pt x="494284" y="621157"/>
                  </a:lnTo>
                  <a:lnTo>
                    <a:pt x="529971" y="592836"/>
                  </a:lnTo>
                  <a:lnTo>
                    <a:pt x="561594" y="559435"/>
                  </a:lnTo>
                  <a:lnTo>
                    <a:pt x="588518" y="521716"/>
                  </a:lnTo>
                  <a:lnTo>
                    <a:pt x="610362" y="480187"/>
                  </a:lnTo>
                  <a:lnTo>
                    <a:pt x="626491" y="435356"/>
                  </a:lnTo>
                  <a:lnTo>
                    <a:pt x="636651" y="387731"/>
                  </a:lnTo>
                  <a:lnTo>
                    <a:pt x="640080" y="337820"/>
                  </a:lnTo>
                  <a:lnTo>
                    <a:pt x="636651" y="287909"/>
                  </a:lnTo>
                  <a:lnTo>
                    <a:pt x="626491" y="240284"/>
                  </a:lnTo>
                  <a:lnTo>
                    <a:pt x="610362" y="195453"/>
                  </a:lnTo>
                  <a:lnTo>
                    <a:pt x="588518" y="153924"/>
                  </a:lnTo>
                  <a:lnTo>
                    <a:pt x="561594" y="116205"/>
                  </a:lnTo>
                  <a:lnTo>
                    <a:pt x="529971" y="82804"/>
                  </a:lnTo>
                  <a:lnTo>
                    <a:pt x="494284" y="54483"/>
                  </a:lnTo>
                  <a:lnTo>
                    <a:pt x="454914" y="31369"/>
                  </a:lnTo>
                  <a:lnTo>
                    <a:pt x="412496" y="14350"/>
                  </a:lnTo>
                  <a:lnTo>
                    <a:pt x="367284" y="3683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012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80" h="675639">
                  <a:moveTo>
                    <a:pt x="0" y="337820"/>
                  </a:moveTo>
                  <a:lnTo>
                    <a:pt x="3467" y="287909"/>
                  </a:lnTo>
                  <a:lnTo>
                    <a:pt x="13550" y="240284"/>
                  </a:lnTo>
                  <a:lnTo>
                    <a:pt x="29743" y="195453"/>
                  </a:lnTo>
                  <a:lnTo>
                    <a:pt x="51562" y="153924"/>
                  </a:lnTo>
                  <a:lnTo>
                    <a:pt x="78498" y="116205"/>
                  </a:lnTo>
                  <a:lnTo>
                    <a:pt x="110070" y="82804"/>
                  </a:lnTo>
                  <a:lnTo>
                    <a:pt x="145770" y="54483"/>
                  </a:lnTo>
                  <a:lnTo>
                    <a:pt x="185115" y="31369"/>
                  </a:lnTo>
                  <a:lnTo>
                    <a:pt x="227609" y="14350"/>
                  </a:lnTo>
                  <a:lnTo>
                    <a:pt x="272745" y="3683"/>
                  </a:lnTo>
                  <a:lnTo>
                    <a:pt x="320040" y="0"/>
                  </a:lnTo>
                  <a:lnTo>
                    <a:pt x="367284" y="3683"/>
                  </a:lnTo>
                  <a:lnTo>
                    <a:pt x="412496" y="14350"/>
                  </a:lnTo>
                  <a:lnTo>
                    <a:pt x="454914" y="31369"/>
                  </a:lnTo>
                  <a:lnTo>
                    <a:pt x="494284" y="54483"/>
                  </a:lnTo>
                  <a:lnTo>
                    <a:pt x="529971" y="82804"/>
                  </a:lnTo>
                  <a:lnTo>
                    <a:pt x="561594" y="116205"/>
                  </a:lnTo>
                  <a:lnTo>
                    <a:pt x="588518" y="153924"/>
                  </a:lnTo>
                  <a:lnTo>
                    <a:pt x="610362" y="195453"/>
                  </a:lnTo>
                  <a:lnTo>
                    <a:pt x="626491" y="240284"/>
                  </a:lnTo>
                  <a:lnTo>
                    <a:pt x="636651" y="287909"/>
                  </a:lnTo>
                  <a:lnTo>
                    <a:pt x="640080" y="337820"/>
                  </a:lnTo>
                  <a:lnTo>
                    <a:pt x="636651" y="387731"/>
                  </a:lnTo>
                  <a:lnTo>
                    <a:pt x="626491" y="435356"/>
                  </a:lnTo>
                  <a:lnTo>
                    <a:pt x="610362" y="480187"/>
                  </a:lnTo>
                  <a:lnTo>
                    <a:pt x="588518" y="521716"/>
                  </a:lnTo>
                  <a:lnTo>
                    <a:pt x="561594" y="559435"/>
                  </a:lnTo>
                  <a:lnTo>
                    <a:pt x="529971" y="592836"/>
                  </a:lnTo>
                  <a:lnTo>
                    <a:pt x="494284" y="621157"/>
                  </a:lnTo>
                  <a:lnTo>
                    <a:pt x="454914" y="644271"/>
                  </a:lnTo>
                  <a:lnTo>
                    <a:pt x="412496" y="661289"/>
                  </a:lnTo>
                  <a:lnTo>
                    <a:pt x="367284" y="671957"/>
                  </a:lnTo>
                  <a:lnTo>
                    <a:pt x="320040" y="675640"/>
                  </a:lnTo>
                  <a:lnTo>
                    <a:pt x="272745" y="671957"/>
                  </a:lnTo>
                  <a:lnTo>
                    <a:pt x="227609" y="661289"/>
                  </a:lnTo>
                  <a:lnTo>
                    <a:pt x="185115" y="644271"/>
                  </a:lnTo>
                  <a:lnTo>
                    <a:pt x="145770" y="621157"/>
                  </a:lnTo>
                  <a:lnTo>
                    <a:pt x="110070" y="592836"/>
                  </a:lnTo>
                  <a:lnTo>
                    <a:pt x="78498" y="559435"/>
                  </a:lnTo>
                  <a:lnTo>
                    <a:pt x="51562" y="521716"/>
                  </a:lnTo>
                  <a:lnTo>
                    <a:pt x="29743" y="480187"/>
                  </a:lnTo>
                  <a:lnTo>
                    <a:pt x="13550" y="435356"/>
                  </a:lnTo>
                  <a:lnTo>
                    <a:pt x="3467" y="387731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05839"/>
            <a:ext cx="2011680" cy="1737360"/>
          </a:xfrm>
          <a:prstGeom prst="rect">
            <a:avLst/>
          </a:prstGeom>
          <a:ln w="19050">
            <a:solidFill>
              <a:srgbClr val="0891B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910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30"/>
              </a:spcBef>
            </a:pPr>
            <a:r>
              <a:rPr sz="13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Atomicity</a:t>
            </a:r>
            <a:endParaRPr sz="1300">
              <a:latin typeface="Times New Roman"/>
              <a:cs typeface="Times New Roman"/>
            </a:endParaRPr>
          </a:p>
          <a:p>
            <a:pPr marL="121920" marR="107950" indent="-3810" algn="ctr">
              <a:lnSpc>
                <a:spcPct val="100000"/>
              </a:lnSpc>
              <a:spcBef>
                <a:spcPts val="615"/>
              </a:spcBef>
            </a:pP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All</a:t>
            </a:r>
            <a:r>
              <a:rPr sz="10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steps</a:t>
            </a:r>
            <a:r>
              <a:rPr sz="10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0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a</a:t>
            </a:r>
            <a:r>
              <a:rPr sz="10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transaction</a:t>
            </a:r>
            <a:r>
              <a:rPr sz="10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succeed</a:t>
            </a:r>
            <a:r>
              <a:rPr sz="1000" spc="50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or</a:t>
            </a:r>
            <a:r>
              <a:rPr sz="10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none</a:t>
            </a:r>
            <a:r>
              <a:rPr sz="10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commit. If</a:t>
            </a:r>
            <a:r>
              <a:rPr sz="10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order</a:t>
            </a:r>
            <a:r>
              <a:rPr sz="10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save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 fails,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deduction</a:t>
            </a:r>
            <a:r>
              <a:rPr sz="10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is</a:t>
            </a:r>
            <a:r>
              <a:rPr sz="10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rolled</a:t>
            </a:r>
            <a:r>
              <a:rPr sz="10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2A1B8"/>
                </a:solidFill>
                <a:latin typeface="Times New Roman"/>
                <a:cs typeface="Times New Roman"/>
              </a:rPr>
              <a:t>back.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3160" y="1005839"/>
            <a:ext cx="2011680" cy="1737360"/>
            <a:chOff x="2423160" y="1005839"/>
            <a:chExt cx="2011680" cy="1737360"/>
          </a:xfrm>
        </p:grpSpPr>
        <p:sp>
          <p:nvSpPr>
            <p:cNvPr id="13" name="object 13"/>
            <p:cNvSpPr/>
            <p:nvPr/>
          </p:nvSpPr>
          <p:spPr>
            <a:xfrm>
              <a:off x="242316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8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80" y="173736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896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95" y="3683"/>
                  </a:lnTo>
                  <a:lnTo>
                    <a:pt x="227584" y="14350"/>
                  </a:lnTo>
                  <a:lnTo>
                    <a:pt x="185165" y="31369"/>
                  </a:lnTo>
                  <a:lnTo>
                    <a:pt x="145795" y="54483"/>
                  </a:lnTo>
                  <a:lnTo>
                    <a:pt x="110108" y="82804"/>
                  </a:lnTo>
                  <a:lnTo>
                    <a:pt x="78485" y="116205"/>
                  </a:lnTo>
                  <a:lnTo>
                    <a:pt x="51562" y="153924"/>
                  </a:lnTo>
                  <a:lnTo>
                    <a:pt x="29717" y="195453"/>
                  </a:lnTo>
                  <a:lnTo>
                    <a:pt x="13588" y="240284"/>
                  </a:lnTo>
                  <a:lnTo>
                    <a:pt x="3428" y="287909"/>
                  </a:lnTo>
                  <a:lnTo>
                    <a:pt x="0" y="337820"/>
                  </a:lnTo>
                  <a:lnTo>
                    <a:pt x="3428" y="387731"/>
                  </a:lnTo>
                  <a:lnTo>
                    <a:pt x="13588" y="435356"/>
                  </a:lnTo>
                  <a:lnTo>
                    <a:pt x="29717" y="480187"/>
                  </a:lnTo>
                  <a:lnTo>
                    <a:pt x="51562" y="521716"/>
                  </a:lnTo>
                  <a:lnTo>
                    <a:pt x="78485" y="559435"/>
                  </a:lnTo>
                  <a:lnTo>
                    <a:pt x="110108" y="592836"/>
                  </a:lnTo>
                  <a:lnTo>
                    <a:pt x="145795" y="621157"/>
                  </a:lnTo>
                  <a:lnTo>
                    <a:pt x="185165" y="644271"/>
                  </a:lnTo>
                  <a:lnTo>
                    <a:pt x="227584" y="661289"/>
                  </a:lnTo>
                  <a:lnTo>
                    <a:pt x="272795" y="671957"/>
                  </a:lnTo>
                  <a:lnTo>
                    <a:pt x="320039" y="675640"/>
                  </a:lnTo>
                  <a:lnTo>
                    <a:pt x="367284" y="671957"/>
                  </a:lnTo>
                  <a:lnTo>
                    <a:pt x="412495" y="661289"/>
                  </a:lnTo>
                  <a:lnTo>
                    <a:pt x="454913" y="644271"/>
                  </a:lnTo>
                  <a:lnTo>
                    <a:pt x="494284" y="621157"/>
                  </a:lnTo>
                  <a:lnTo>
                    <a:pt x="529970" y="592836"/>
                  </a:lnTo>
                  <a:lnTo>
                    <a:pt x="561593" y="559435"/>
                  </a:lnTo>
                  <a:lnTo>
                    <a:pt x="588517" y="521716"/>
                  </a:lnTo>
                  <a:lnTo>
                    <a:pt x="610362" y="480187"/>
                  </a:lnTo>
                  <a:lnTo>
                    <a:pt x="626490" y="435356"/>
                  </a:lnTo>
                  <a:lnTo>
                    <a:pt x="636651" y="387731"/>
                  </a:lnTo>
                  <a:lnTo>
                    <a:pt x="640079" y="337820"/>
                  </a:lnTo>
                  <a:lnTo>
                    <a:pt x="636651" y="287909"/>
                  </a:lnTo>
                  <a:lnTo>
                    <a:pt x="626490" y="240284"/>
                  </a:lnTo>
                  <a:lnTo>
                    <a:pt x="610362" y="195453"/>
                  </a:lnTo>
                  <a:lnTo>
                    <a:pt x="588517" y="153924"/>
                  </a:lnTo>
                  <a:lnTo>
                    <a:pt x="561593" y="116205"/>
                  </a:lnTo>
                  <a:lnTo>
                    <a:pt x="529970" y="82804"/>
                  </a:lnTo>
                  <a:lnTo>
                    <a:pt x="494284" y="54483"/>
                  </a:lnTo>
                  <a:lnTo>
                    <a:pt x="454913" y="31369"/>
                  </a:lnTo>
                  <a:lnTo>
                    <a:pt x="412495" y="14350"/>
                  </a:lnTo>
                  <a:lnTo>
                    <a:pt x="367284" y="368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896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28" y="287909"/>
                  </a:lnTo>
                  <a:lnTo>
                    <a:pt x="13588" y="240284"/>
                  </a:lnTo>
                  <a:lnTo>
                    <a:pt x="29717" y="195453"/>
                  </a:lnTo>
                  <a:lnTo>
                    <a:pt x="51562" y="153924"/>
                  </a:lnTo>
                  <a:lnTo>
                    <a:pt x="78485" y="116205"/>
                  </a:lnTo>
                  <a:lnTo>
                    <a:pt x="110108" y="82804"/>
                  </a:lnTo>
                  <a:lnTo>
                    <a:pt x="145795" y="54483"/>
                  </a:lnTo>
                  <a:lnTo>
                    <a:pt x="185165" y="31369"/>
                  </a:lnTo>
                  <a:lnTo>
                    <a:pt x="227584" y="14350"/>
                  </a:lnTo>
                  <a:lnTo>
                    <a:pt x="272795" y="3683"/>
                  </a:lnTo>
                  <a:lnTo>
                    <a:pt x="320039" y="0"/>
                  </a:lnTo>
                  <a:lnTo>
                    <a:pt x="367284" y="3683"/>
                  </a:lnTo>
                  <a:lnTo>
                    <a:pt x="412495" y="14350"/>
                  </a:lnTo>
                  <a:lnTo>
                    <a:pt x="454913" y="31369"/>
                  </a:lnTo>
                  <a:lnTo>
                    <a:pt x="494284" y="54483"/>
                  </a:lnTo>
                  <a:lnTo>
                    <a:pt x="529970" y="82804"/>
                  </a:lnTo>
                  <a:lnTo>
                    <a:pt x="561593" y="116205"/>
                  </a:lnTo>
                  <a:lnTo>
                    <a:pt x="588517" y="153924"/>
                  </a:lnTo>
                  <a:lnTo>
                    <a:pt x="610362" y="195453"/>
                  </a:lnTo>
                  <a:lnTo>
                    <a:pt x="626490" y="240284"/>
                  </a:lnTo>
                  <a:lnTo>
                    <a:pt x="636651" y="287909"/>
                  </a:lnTo>
                  <a:lnTo>
                    <a:pt x="640079" y="337820"/>
                  </a:lnTo>
                  <a:lnTo>
                    <a:pt x="636651" y="387731"/>
                  </a:lnTo>
                  <a:lnTo>
                    <a:pt x="626490" y="435356"/>
                  </a:lnTo>
                  <a:lnTo>
                    <a:pt x="610362" y="480187"/>
                  </a:lnTo>
                  <a:lnTo>
                    <a:pt x="588517" y="521716"/>
                  </a:lnTo>
                  <a:lnTo>
                    <a:pt x="561593" y="559435"/>
                  </a:lnTo>
                  <a:lnTo>
                    <a:pt x="529970" y="592836"/>
                  </a:lnTo>
                  <a:lnTo>
                    <a:pt x="494284" y="621157"/>
                  </a:lnTo>
                  <a:lnTo>
                    <a:pt x="454913" y="644271"/>
                  </a:lnTo>
                  <a:lnTo>
                    <a:pt x="412495" y="661289"/>
                  </a:lnTo>
                  <a:lnTo>
                    <a:pt x="367284" y="671957"/>
                  </a:lnTo>
                  <a:lnTo>
                    <a:pt x="320039" y="675640"/>
                  </a:lnTo>
                  <a:lnTo>
                    <a:pt x="272795" y="671957"/>
                  </a:lnTo>
                  <a:lnTo>
                    <a:pt x="227584" y="661289"/>
                  </a:lnTo>
                  <a:lnTo>
                    <a:pt x="185165" y="644271"/>
                  </a:lnTo>
                  <a:lnTo>
                    <a:pt x="145795" y="621157"/>
                  </a:lnTo>
                  <a:lnTo>
                    <a:pt x="110108" y="592836"/>
                  </a:lnTo>
                  <a:lnTo>
                    <a:pt x="78485" y="559435"/>
                  </a:lnTo>
                  <a:lnTo>
                    <a:pt x="51562" y="521716"/>
                  </a:lnTo>
                  <a:lnTo>
                    <a:pt x="29717" y="480187"/>
                  </a:lnTo>
                  <a:lnTo>
                    <a:pt x="13588" y="435356"/>
                  </a:lnTo>
                  <a:lnTo>
                    <a:pt x="3428" y="387731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23160" y="1005839"/>
            <a:ext cx="2011680" cy="1737360"/>
          </a:xfrm>
          <a:prstGeom prst="rect">
            <a:avLst/>
          </a:prstGeom>
          <a:ln w="19050">
            <a:solidFill>
              <a:srgbClr val="895CF6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910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30"/>
              </a:spcBef>
            </a:pPr>
            <a:r>
              <a:rPr sz="13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Consistency</a:t>
            </a:r>
            <a:endParaRPr sz="1300">
              <a:latin typeface="Times New Roman"/>
              <a:cs typeface="Times New Roman"/>
            </a:endParaRPr>
          </a:p>
          <a:p>
            <a:pPr marL="166370" marR="147320" indent="-3175" algn="ctr">
              <a:lnSpc>
                <a:spcPct val="100000"/>
              </a:lnSpc>
              <a:spcBef>
                <a:spcPts val="15"/>
              </a:spcBef>
            </a:pP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Database</a:t>
            </a:r>
            <a:r>
              <a:rPr sz="10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moves</a:t>
            </a:r>
            <a:r>
              <a:rPr sz="10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from</a:t>
            </a:r>
            <a:r>
              <a:rPr sz="10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one</a:t>
            </a:r>
            <a:r>
              <a:rPr sz="10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2A1B8"/>
                </a:solidFill>
                <a:latin typeface="Times New Roman"/>
                <a:cs typeface="Times New Roman"/>
              </a:rPr>
              <a:t>valid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state</a:t>
            </a:r>
            <a:r>
              <a:rPr sz="10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to</a:t>
            </a:r>
            <a:r>
              <a:rPr sz="10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another.</a:t>
            </a:r>
            <a:r>
              <a:rPr sz="10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never </a:t>
            </a:r>
            <a:r>
              <a:rPr sz="1000" spc="-20" dirty="0">
                <a:solidFill>
                  <a:srgbClr val="92A1B8"/>
                </a:solidFill>
                <a:latin typeface="Times New Roman"/>
                <a:cs typeface="Times New Roman"/>
              </a:rPr>
              <a:t>goes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negative;</a:t>
            </a:r>
            <a:r>
              <a:rPr sz="10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order</a:t>
            </a:r>
            <a:r>
              <a:rPr sz="10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is</a:t>
            </a:r>
            <a:r>
              <a:rPr sz="10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never</a:t>
            </a:r>
            <a:r>
              <a:rPr sz="10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created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without</a:t>
            </a:r>
            <a:r>
              <a:rPr sz="10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0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deduction.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0" y="1005839"/>
            <a:ext cx="2011680" cy="1737360"/>
            <a:chOff x="4572000" y="1005839"/>
            <a:chExt cx="2011680" cy="1737360"/>
          </a:xfrm>
        </p:grpSpPr>
        <p:sp>
          <p:nvSpPr>
            <p:cNvPr id="18" name="object 18"/>
            <p:cNvSpPr/>
            <p:nvPr/>
          </p:nvSpPr>
          <p:spPr>
            <a:xfrm>
              <a:off x="457200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7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79" y="1737360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780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96" y="3683"/>
                  </a:lnTo>
                  <a:lnTo>
                    <a:pt x="227584" y="14350"/>
                  </a:lnTo>
                  <a:lnTo>
                    <a:pt x="185165" y="31369"/>
                  </a:lnTo>
                  <a:lnTo>
                    <a:pt x="145796" y="54483"/>
                  </a:lnTo>
                  <a:lnTo>
                    <a:pt x="110109" y="82804"/>
                  </a:lnTo>
                  <a:lnTo>
                    <a:pt x="78486" y="116205"/>
                  </a:lnTo>
                  <a:lnTo>
                    <a:pt x="51562" y="153924"/>
                  </a:lnTo>
                  <a:lnTo>
                    <a:pt x="29717" y="195453"/>
                  </a:lnTo>
                  <a:lnTo>
                    <a:pt x="13588" y="240284"/>
                  </a:lnTo>
                  <a:lnTo>
                    <a:pt x="3428" y="287909"/>
                  </a:lnTo>
                  <a:lnTo>
                    <a:pt x="0" y="337820"/>
                  </a:lnTo>
                  <a:lnTo>
                    <a:pt x="3428" y="387731"/>
                  </a:lnTo>
                  <a:lnTo>
                    <a:pt x="13588" y="435356"/>
                  </a:lnTo>
                  <a:lnTo>
                    <a:pt x="29717" y="480187"/>
                  </a:lnTo>
                  <a:lnTo>
                    <a:pt x="51562" y="521716"/>
                  </a:lnTo>
                  <a:lnTo>
                    <a:pt x="78486" y="559435"/>
                  </a:lnTo>
                  <a:lnTo>
                    <a:pt x="110109" y="592836"/>
                  </a:lnTo>
                  <a:lnTo>
                    <a:pt x="145796" y="621157"/>
                  </a:lnTo>
                  <a:lnTo>
                    <a:pt x="185165" y="644271"/>
                  </a:lnTo>
                  <a:lnTo>
                    <a:pt x="227584" y="661289"/>
                  </a:lnTo>
                  <a:lnTo>
                    <a:pt x="272796" y="671957"/>
                  </a:lnTo>
                  <a:lnTo>
                    <a:pt x="320039" y="675640"/>
                  </a:lnTo>
                  <a:lnTo>
                    <a:pt x="367284" y="671957"/>
                  </a:lnTo>
                  <a:lnTo>
                    <a:pt x="412496" y="661289"/>
                  </a:lnTo>
                  <a:lnTo>
                    <a:pt x="454913" y="644271"/>
                  </a:lnTo>
                  <a:lnTo>
                    <a:pt x="494284" y="621157"/>
                  </a:lnTo>
                  <a:lnTo>
                    <a:pt x="529971" y="592836"/>
                  </a:lnTo>
                  <a:lnTo>
                    <a:pt x="561594" y="559435"/>
                  </a:lnTo>
                  <a:lnTo>
                    <a:pt x="588517" y="521716"/>
                  </a:lnTo>
                  <a:lnTo>
                    <a:pt x="610362" y="480187"/>
                  </a:lnTo>
                  <a:lnTo>
                    <a:pt x="626490" y="435356"/>
                  </a:lnTo>
                  <a:lnTo>
                    <a:pt x="636651" y="387731"/>
                  </a:lnTo>
                  <a:lnTo>
                    <a:pt x="640079" y="337820"/>
                  </a:lnTo>
                  <a:lnTo>
                    <a:pt x="636651" y="287909"/>
                  </a:lnTo>
                  <a:lnTo>
                    <a:pt x="626490" y="240284"/>
                  </a:lnTo>
                  <a:lnTo>
                    <a:pt x="610362" y="195453"/>
                  </a:lnTo>
                  <a:lnTo>
                    <a:pt x="588517" y="153924"/>
                  </a:lnTo>
                  <a:lnTo>
                    <a:pt x="561594" y="116205"/>
                  </a:lnTo>
                  <a:lnTo>
                    <a:pt x="529971" y="82804"/>
                  </a:lnTo>
                  <a:lnTo>
                    <a:pt x="494284" y="54483"/>
                  </a:lnTo>
                  <a:lnTo>
                    <a:pt x="454913" y="31369"/>
                  </a:lnTo>
                  <a:lnTo>
                    <a:pt x="412496" y="14350"/>
                  </a:lnTo>
                  <a:lnTo>
                    <a:pt x="367284" y="368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28" y="287909"/>
                  </a:lnTo>
                  <a:lnTo>
                    <a:pt x="13588" y="240284"/>
                  </a:lnTo>
                  <a:lnTo>
                    <a:pt x="29717" y="195453"/>
                  </a:lnTo>
                  <a:lnTo>
                    <a:pt x="51562" y="153924"/>
                  </a:lnTo>
                  <a:lnTo>
                    <a:pt x="78486" y="116205"/>
                  </a:lnTo>
                  <a:lnTo>
                    <a:pt x="110109" y="82804"/>
                  </a:lnTo>
                  <a:lnTo>
                    <a:pt x="145796" y="54483"/>
                  </a:lnTo>
                  <a:lnTo>
                    <a:pt x="185165" y="31369"/>
                  </a:lnTo>
                  <a:lnTo>
                    <a:pt x="227584" y="14350"/>
                  </a:lnTo>
                  <a:lnTo>
                    <a:pt x="272796" y="3683"/>
                  </a:lnTo>
                  <a:lnTo>
                    <a:pt x="320039" y="0"/>
                  </a:lnTo>
                  <a:lnTo>
                    <a:pt x="367284" y="3683"/>
                  </a:lnTo>
                  <a:lnTo>
                    <a:pt x="412496" y="14350"/>
                  </a:lnTo>
                  <a:lnTo>
                    <a:pt x="454913" y="31369"/>
                  </a:lnTo>
                  <a:lnTo>
                    <a:pt x="494284" y="54483"/>
                  </a:lnTo>
                  <a:lnTo>
                    <a:pt x="529971" y="82804"/>
                  </a:lnTo>
                  <a:lnTo>
                    <a:pt x="561594" y="116205"/>
                  </a:lnTo>
                  <a:lnTo>
                    <a:pt x="588517" y="153924"/>
                  </a:lnTo>
                  <a:lnTo>
                    <a:pt x="610362" y="195453"/>
                  </a:lnTo>
                  <a:lnTo>
                    <a:pt x="626490" y="240284"/>
                  </a:lnTo>
                  <a:lnTo>
                    <a:pt x="636651" y="287909"/>
                  </a:lnTo>
                  <a:lnTo>
                    <a:pt x="640079" y="337820"/>
                  </a:lnTo>
                  <a:lnTo>
                    <a:pt x="636651" y="387731"/>
                  </a:lnTo>
                  <a:lnTo>
                    <a:pt x="626490" y="435356"/>
                  </a:lnTo>
                  <a:lnTo>
                    <a:pt x="610362" y="480187"/>
                  </a:lnTo>
                  <a:lnTo>
                    <a:pt x="588517" y="521716"/>
                  </a:lnTo>
                  <a:lnTo>
                    <a:pt x="561594" y="559435"/>
                  </a:lnTo>
                  <a:lnTo>
                    <a:pt x="529971" y="592836"/>
                  </a:lnTo>
                  <a:lnTo>
                    <a:pt x="494284" y="621157"/>
                  </a:lnTo>
                  <a:lnTo>
                    <a:pt x="454913" y="644271"/>
                  </a:lnTo>
                  <a:lnTo>
                    <a:pt x="412496" y="661289"/>
                  </a:lnTo>
                  <a:lnTo>
                    <a:pt x="367284" y="671957"/>
                  </a:lnTo>
                  <a:lnTo>
                    <a:pt x="320039" y="675640"/>
                  </a:lnTo>
                  <a:lnTo>
                    <a:pt x="272796" y="671957"/>
                  </a:lnTo>
                  <a:lnTo>
                    <a:pt x="227584" y="661289"/>
                  </a:lnTo>
                  <a:lnTo>
                    <a:pt x="185165" y="644271"/>
                  </a:lnTo>
                  <a:lnTo>
                    <a:pt x="145796" y="621157"/>
                  </a:lnTo>
                  <a:lnTo>
                    <a:pt x="110109" y="592836"/>
                  </a:lnTo>
                  <a:lnTo>
                    <a:pt x="78486" y="559435"/>
                  </a:lnTo>
                  <a:lnTo>
                    <a:pt x="51562" y="521716"/>
                  </a:lnTo>
                  <a:lnTo>
                    <a:pt x="29717" y="480187"/>
                  </a:lnTo>
                  <a:lnTo>
                    <a:pt x="13588" y="435356"/>
                  </a:lnTo>
                  <a:lnTo>
                    <a:pt x="3428" y="387731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72000" y="1005839"/>
            <a:ext cx="2011680" cy="1737360"/>
          </a:xfrm>
          <a:prstGeom prst="rect">
            <a:avLst/>
          </a:prstGeom>
          <a:ln w="19050">
            <a:solidFill>
              <a:srgbClr val="0EB881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910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2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2330"/>
              </a:spcBef>
            </a:pPr>
            <a:r>
              <a:rPr sz="13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Isolation</a:t>
            </a:r>
            <a:endParaRPr sz="1300">
              <a:latin typeface="Times New Roman"/>
              <a:cs typeface="Times New Roman"/>
            </a:endParaRPr>
          </a:p>
          <a:p>
            <a:pPr marL="195580" marR="179070" indent="1905" algn="ctr">
              <a:lnSpc>
                <a:spcPct val="100000"/>
              </a:lnSpc>
              <a:spcBef>
                <a:spcPts val="15"/>
              </a:spcBef>
            </a:pP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Concurrent</a:t>
            </a:r>
            <a:r>
              <a:rPr sz="100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transactions</a:t>
            </a:r>
            <a:r>
              <a:rPr sz="1000" spc="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2A1B8"/>
                </a:solidFill>
                <a:latin typeface="Times New Roman"/>
                <a:cs typeface="Times New Roman"/>
              </a:rPr>
              <a:t>don't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interfere.</a:t>
            </a:r>
            <a:r>
              <a:rPr sz="100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Spring</a:t>
            </a:r>
            <a:r>
              <a:rPr sz="10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uses</a:t>
            </a:r>
            <a:r>
              <a:rPr sz="10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default READ_COMMITTED</a:t>
            </a:r>
            <a:r>
              <a:rPr sz="10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isolation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preventing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 dirty</a:t>
            </a:r>
            <a:r>
              <a:rPr sz="10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reads.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20840" y="1005839"/>
            <a:ext cx="2011680" cy="1737360"/>
            <a:chOff x="6720840" y="1005839"/>
            <a:chExt cx="2011680" cy="1737360"/>
          </a:xfrm>
        </p:grpSpPr>
        <p:sp>
          <p:nvSpPr>
            <p:cNvPr id="23" name="object 23"/>
            <p:cNvSpPr/>
            <p:nvPr/>
          </p:nvSpPr>
          <p:spPr>
            <a:xfrm>
              <a:off x="672084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7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79" y="1737360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0664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95" y="3683"/>
                  </a:lnTo>
                  <a:lnTo>
                    <a:pt x="227583" y="14350"/>
                  </a:lnTo>
                  <a:lnTo>
                    <a:pt x="185165" y="31369"/>
                  </a:lnTo>
                  <a:lnTo>
                    <a:pt x="145795" y="54483"/>
                  </a:lnTo>
                  <a:lnTo>
                    <a:pt x="110108" y="82804"/>
                  </a:lnTo>
                  <a:lnTo>
                    <a:pt x="78485" y="116205"/>
                  </a:lnTo>
                  <a:lnTo>
                    <a:pt x="51561" y="153924"/>
                  </a:lnTo>
                  <a:lnTo>
                    <a:pt x="29717" y="195453"/>
                  </a:lnTo>
                  <a:lnTo>
                    <a:pt x="13588" y="240284"/>
                  </a:lnTo>
                  <a:lnTo>
                    <a:pt x="3428" y="287909"/>
                  </a:lnTo>
                  <a:lnTo>
                    <a:pt x="0" y="337820"/>
                  </a:lnTo>
                  <a:lnTo>
                    <a:pt x="3428" y="387731"/>
                  </a:lnTo>
                  <a:lnTo>
                    <a:pt x="13588" y="435356"/>
                  </a:lnTo>
                  <a:lnTo>
                    <a:pt x="29717" y="480187"/>
                  </a:lnTo>
                  <a:lnTo>
                    <a:pt x="51561" y="521716"/>
                  </a:lnTo>
                  <a:lnTo>
                    <a:pt x="78485" y="559435"/>
                  </a:lnTo>
                  <a:lnTo>
                    <a:pt x="110108" y="592836"/>
                  </a:lnTo>
                  <a:lnTo>
                    <a:pt x="145795" y="621157"/>
                  </a:lnTo>
                  <a:lnTo>
                    <a:pt x="185165" y="644271"/>
                  </a:lnTo>
                  <a:lnTo>
                    <a:pt x="227583" y="661289"/>
                  </a:lnTo>
                  <a:lnTo>
                    <a:pt x="272795" y="671957"/>
                  </a:lnTo>
                  <a:lnTo>
                    <a:pt x="320039" y="675640"/>
                  </a:lnTo>
                  <a:lnTo>
                    <a:pt x="367283" y="671957"/>
                  </a:lnTo>
                  <a:lnTo>
                    <a:pt x="412495" y="661289"/>
                  </a:lnTo>
                  <a:lnTo>
                    <a:pt x="454913" y="644271"/>
                  </a:lnTo>
                  <a:lnTo>
                    <a:pt x="494283" y="621157"/>
                  </a:lnTo>
                  <a:lnTo>
                    <a:pt x="529970" y="592836"/>
                  </a:lnTo>
                  <a:lnTo>
                    <a:pt x="561593" y="559435"/>
                  </a:lnTo>
                  <a:lnTo>
                    <a:pt x="588517" y="521716"/>
                  </a:lnTo>
                  <a:lnTo>
                    <a:pt x="610361" y="480187"/>
                  </a:lnTo>
                  <a:lnTo>
                    <a:pt x="626490" y="435356"/>
                  </a:lnTo>
                  <a:lnTo>
                    <a:pt x="636651" y="387731"/>
                  </a:lnTo>
                  <a:lnTo>
                    <a:pt x="640079" y="337820"/>
                  </a:lnTo>
                  <a:lnTo>
                    <a:pt x="636651" y="287909"/>
                  </a:lnTo>
                  <a:lnTo>
                    <a:pt x="626490" y="240284"/>
                  </a:lnTo>
                  <a:lnTo>
                    <a:pt x="610361" y="195453"/>
                  </a:lnTo>
                  <a:lnTo>
                    <a:pt x="588517" y="153924"/>
                  </a:lnTo>
                  <a:lnTo>
                    <a:pt x="561593" y="116205"/>
                  </a:lnTo>
                  <a:lnTo>
                    <a:pt x="529970" y="82804"/>
                  </a:lnTo>
                  <a:lnTo>
                    <a:pt x="494283" y="54483"/>
                  </a:lnTo>
                  <a:lnTo>
                    <a:pt x="454913" y="31369"/>
                  </a:lnTo>
                  <a:lnTo>
                    <a:pt x="412495" y="14350"/>
                  </a:lnTo>
                  <a:lnTo>
                    <a:pt x="367283" y="368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0664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28" y="287909"/>
                  </a:lnTo>
                  <a:lnTo>
                    <a:pt x="13588" y="240284"/>
                  </a:lnTo>
                  <a:lnTo>
                    <a:pt x="29717" y="195453"/>
                  </a:lnTo>
                  <a:lnTo>
                    <a:pt x="51561" y="153924"/>
                  </a:lnTo>
                  <a:lnTo>
                    <a:pt x="78485" y="116205"/>
                  </a:lnTo>
                  <a:lnTo>
                    <a:pt x="110108" y="82804"/>
                  </a:lnTo>
                  <a:lnTo>
                    <a:pt x="145795" y="54483"/>
                  </a:lnTo>
                  <a:lnTo>
                    <a:pt x="185165" y="31369"/>
                  </a:lnTo>
                  <a:lnTo>
                    <a:pt x="227583" y="14350"/>
                  </a:lnTo>
                  <a:lnTo>
                    <a:pt x="272795" y="3683"/>
                  </a:lnTo>
                  <a:lnTo>
                    <a:pt x="320039" y="0"/>
                  </a:lnTo>
                  <a:lnTo>
                    <a:pt x="367283" y="3683"/>
                  </a:lnTo>
                  <a:lnTo>
                    <a:pt x="412495" y="14350"/>
                  </a:lnTo>
                  <a:lnTo>
                    <a:pt x="454913" y="31369"/>
                  </a:lnTo>
                  <a:lnTo>
                    <a:pt x="494283" y="54483"/>
                  </a:lnTo>
                  <a:lnTo>
                    <a:pt x="529970" y="82804"/>
                  </a:lnTo>
                  <a:lnTo>
                    <a:pt x="561593" y="116205"/>
                  </a:lnTo>
                  <a:lnTo>
                    <a:pt x="588517" y="153924"/>
                  </a:lnTo>
                  <a:lnTo>
                    <a:pt x="610361" y="195453"/>
                  </a:lnTo>
                  <a:lnTo>
                    <a:pt x="626490" y="240284"/>
                  </a:lnTo>
                  <a:lnTo>
                    <a:pt x="636651" y="287909"/>
                  </a:lnTo>
                  <a:lnTo>
                    <a:pt x="640079" y="337820"/>
                  </a:lnTo>
                  <a:lnTo>
                    <a:pt x="636651" y="387731"/>
                  </a:lnTo>
                  <a:lnTo>
                    <a:pt x="626490" y="435356"/>
                  </a:lnTo>
                  <a:lnTo>
                    <a:pt x="610361" y="480187"/>
                  </a:lnTo>
                  <a:lnTo>
                    <a:pt x="588517" y="521716"/>
                  </a:lnTo>
                  <a:lnTo>
                    <a:pt x="561593" y="559435"/>
                  </a:lnTo>
                  <a:lnTo>
                    <a:pt x="529970" y="592836"/>
                  </a:lnTo>
                  <a:lnTo>
                    <a:pt x="494283" y="621157"/>
                  </a:lnTo>
                  <a:lnTo>
                    <a:pt x="454913" y="644271"/>
                  </a:lnTo>
                  <a:lnTo>
                    <a:pt x="412495" y="661289"/>
                  </a:lnTo>
                  <a:lnTo>
                    <a:pt x="367283" y="671957"/>
                  </a:lnTo>
                  <a:lnTo>
                    <a:pt x="320039" y="675640"/>
                  </a:lnTo>
                  <a:lnTo>
                    <a:pt x="272795" y="671957"/>
                  </a:lnTo>
                  <a:lnTo>
                    <a:pt x="227583" y="661289"/>
                  </a:lnTo>
                  <a:lnTo>
                    <a:pt x="185165" y="644271"/>
                  </a:lnTo>
                  <a:lnTo>
                    <a:pt x="145795" y="621157"/>
                  </a:lnTo>
                  <a:lnTo>
                    <a:pt x="110108" y="592836"/>
                  </a:lnTo>
                  <a:lnTo>
                    <a:pt x="78485" y="559435"/>
                  </a:lnTo>
                  <a:lnTo>
                    <a:pt x="51561" y="521716"/>
                  </a:lnTo>
                  <a:lnTo>
                    <a:pt x="29717" y="480187"/>
                  </a:lnTo>
                  <a:lnTo>
                    <a:pt x="13588" y="435356"/>
                  </a:lnTo>
                  <a:lnTo>
                    <a:pt x="3428" y="387731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20840" y="1005839"/>
            <a:ext cx="2011680" cy="1737360"/>
          </a:xfrm>
          <a:prstGeom prst="rect">
            <a:avLst/>
          </a:prstGeom>
          <a:ln w="19050">
            <a:solidFill>
              <a:srgbClr val="F59E09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910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2330"/>
              </a:spcBef>
            </a:pPr>
            <a:r>
              <a:rPr sz="13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Durability</a:t>
            </a:r>
            <a:endParaRPr sz="1300">
              <a:latin typeface="Times New Roman"/>
              <a:cs typeface="Times New Roman"/>
            </a:endParaRPr>
          </a:p>
          <a:p>
            <a:pPr marL="139700" marR="123189" indent="2540" algn="ctr">
              <a:lnSpc>
                <a:spcPct val="100000"/>
              </a:lnSpc>
              <a:spcBef>
                <a:spcPts val="615"/>
              </a:spcBef>
            </a:pP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Committed</a:t>
            </a:r>
            <a:r>
              <a:rPr sz="100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transactions</a:t>
            </a:r>
            <a:r>
              <a:rPr sz="100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survive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crashes.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MySQL</a:t>
            </a:r>
            <a:r>
              <a:rPr sz="10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InnoDB</a:t>
            </a:r>
            <a:r>
              <a:rPr sz="10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ensures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durability</a:t>
            </a:r>
            <a:r>
              <a:rPr sz="10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via</a:t>
            </a:r>
            <a:r>
              <a:rPr sz="100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40" dirty="0">
                <a:solidFill>
                  <a:srgbClr val="92A1B8"/>
                </a:solidFill>
                <a:latin typeface="Times New Roman"/>
                <a:cs typeface="Times New Roman"/>
              </a:rPr>
              <a:t>write-</a:t>
            </a:r>
            <a:r>
              <a:rPr sz="1000" dirty="0">
                <a:solidFill>
                  <a:srgbClr val="92A1B8"/>
                </a:solidFill>
                <a:latin typeface="Times New Roman"/>
                <a:cs typeface="Times New Roman"/>
              </a:rPr>
              <a:t>ahead</a:t>
            </a:r>
            <a:r>
              <a:rPr sz="1000" spc="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2A1B8"/>
                </a:solidFill>
                <a:latin typeface="Times New Roman"/>
                <a:cs typeface="Times New Roman"/>
              </a:rPr>
              <a:t>logging.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062" y="3226434"/>
            <a:ext cx="25133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Order</a:t>
            </a:r>
            <a:r>
              <a:rPr sz="1300" b="1" spc="-35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Processing</a:t>
            </a:r>
            <a:r>
              <a:rPr sz="1300" b="1" spc="-30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Transaction</a:t>
            </a:r>
            <a:r>
              <a:rPr sz="1300" b="1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EB881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8526" y="3591598"/>
            <a:ext cx="1247140" cy="515620"/>
            <a:chOff x="348526" y="3591598"/>
            <a:chExt cx="1247140" cy="515620"/>
          </a:xfrm>
        </p:grpSpPr>
        <p:sp>
          <p:nvSpPr>
            <p:cNvPr id="29" name="object 29"/>
            <p:cNvSpPr/>
            <p:nvPr/>
          </p:nvSpPr>
          <p:spPr>
            <a:xfrm>
              <a:off x="354876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4876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7387" y="3720185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9185" y="3676650"/>
            <a:ext cx="597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endParaRPr sz="10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82927" y="3591598"/>
            <a:ext cx="1430020" cy="515620"/>
            <a:chOff x="1582927" y="3591598"/>
            <a:chExt cx="1430020" cy="515620"/>
          </a:xfrm>
        </p:grpSpPr>
        <p:sp>
          <p:nvSpPr>
            <p:cNvPr id="34" name="object 34"/>
            <p:cNvSpPr/>
            <p:nvPr/>
          </p:nvSpPr>
          <p:spPr>
            <a:xfrm>
              <a:off x="1589277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182879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82879" y="5486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89277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0" y="54862"/>
                  </a:moveTo>
                  <a:lnTo>
                    <a:pt x="182879" y="5486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215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215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855342" y="3720185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89301" y="3676650"/>
            <a:ext cx="431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Validate</a:t>
            </a:r>
            <a:endParaRPr sz="10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00248" y="3591598"/>
            <a:ext cx="1430020" cy="515620"/>
            <a:chOff x="3000248" y="3591598"/>
            <a:chExt cx="1430020" cy="515620"/>
          </a:xfrm>
        </p:grpSpPr>
        <p:sp>
          <p:nvSpPr>
            <p:cNvPr id="41" name="object 41"/>
            <p:cNvSpPr/>
            <p:nvPr/>
          </p:nvSpPr>
          <p:spPr>
            <a:xfrm>
              <a:off x="3006598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182880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82880" y="54862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6598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0" y="54862"/>
                  </a:moveTo>
                  <a:lnTo>
                    <a:pt x="182880" y="54862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12699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8947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8947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8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73297" y="3720185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39260" y="3676650"/>
            <a:ext cx="3714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Deduct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417567" y="3591598"/>
            <a:ext cx="1430020" cy="515620"/>
            <a:chOff x="4417567" y="3591598"/>
            <a:chExt cx="1430020" cy="515620"/>
          </a:xfrm>
        </p:grpSpPr>
        <p:sp>
          <p:nvSpPr>
            <p:cNvPr id="48" name="object 48"/>
            <p:cNvSpPr/>
            <p:nvPr/>
          </p:nvSpPr>
          <p:spPr>
            <a:xfrm>
              <a:off x="4423917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82879" y="5486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23917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2"/>
                  </a:moveTo>
                  <a:lnTo>
                    <a:pt x="182879" y="5486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0679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0679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8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690871" y="3720185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73979" y="3676650"/>
            <a:ext cx="335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endParaRPr sz="10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834888" y="3591598"/>
            <a:ext cx="1430020" cy="515620"/>
            <a:chOff x="5834888" y="3591598"/>
            <a:chExt cx="1430020" cy="515620"/>
          </a:xfrm>
        </p:grpSpPr>
        <p:sp>
          <p:nvSpPr>
            <p:cNvPr id="55" name="object 55"/>
            <p:cNvSpPr/>
            <p:nvPr/>
          </p:nvSpPr>
          <p:spPr>
            <a:xfrm>
              <a:off x="5841238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82879" y="5486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41238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2"/>
                  </a:moveTo>
                  <a:lnTo>
                    <a:pt x="182879" y="5486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2411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2411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8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108446" y="3720185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73266" y="3676650"/>
            <a:ext cx="3727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Update</a:t>
            </a:r>
            <a:endParaRPr sz="1000">
              <a:latin typeface="Times New Roman"/>
              <a:cs typeface="Times New Roman"/>
            </a:endParaRPr>
          </a:p>
          <a:p>
            <a:pPr marL="4445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Ledger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252207" y="3591598"/>
            <a:ext cx="1430020" cy="515620"/>
            <a:chOff x="7252207" y="3591598"/>
            <a:chExt cx="1430020" cy="515620"/>
          </a:xfrm>
        </p:grpSpPr>
        <p:sp>
          <p:nvSpPr>
            <p:cNvPr id="62" name="object 62"/>
            <p:cNvSpPr/>
            <p:nvPr/>
          </p:nvSpPr>
          <p:spPr>
            <a:xfrm>
              <a:off x="7258557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82879" y="5486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2A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58557" y="3817367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2"/>
                  </a:moveTo>
                  <a:lnTo>
                    <a:pt x="182879" y="5486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12700">
              <a:solidFill>
                <a:srgbClr val="92A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4143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4143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26401" y="3720185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76336" y="3676650"/>
            <a:ext cx="8178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COMMIT</a:t>
            </a:r>
            <a:endParaRPr sz="10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ROLLBACK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95" y="43740"/>
            <a:ext cx="416814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Execution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Flow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Step-by-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Step</a:t>
            </a:r>
            <a:r>
              <a:rPr sz="1300" b="0" i="1" spc="1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Request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→</a:t>
            </a:r>
            <a:r>
              <a:rPr sz="1300" b="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Response</a:t>
            </a:r>
            <a:r>
              <a:rPr sz="1300" b="0" i="1" spc="-3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Journey</a:t>
            </a:r>
            <a:r>
              <a:rPr sz="1300" b="0" i="1" spc="-4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4B6D2"/>
                </a:solidFill>
                <a:latin typeface="Times New Roman"/>
                <a:cs typeface="Times New Roman"/>
              </a:rPr>
              <a:t>Through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the</a:t>
            </a:r>
            <a:r>
              <a:rPr sz="1300" b="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879" y="987552"/>
            <a:ext cx="2057400" cy="1719580"/>
            <a:chOff x="182879" y="987552"/>
            <a:chExt cx="2057400" cy="1719580"/>
          </a:xfrm>
        </p:grpSpPr>
        <p:sp>
          <p:nvSpPr>
            <p:cNvPr id="4" name="object 4"/>
            <p:cNvSpPr/>
            <p:nvPr/>
          </p:nvSpPr>
          <p:spPr>
            <a:xfrm>
              <a:off x="182879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6111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45" y="3429"/>
                  </a:lnTo>
                  <a:lnTo>
                    <a:pt x="227609" y="13589"/>
                  </a:lnTo>
                  <a:lnTo>
                    <a:pt x="185115" y="29718"/>
                  </a:lnTo>
                  <a:lnTo>
                    <a:pt x="145770" y="51562"/>
                  </a:lnTo>
                  <a:lnTo>
                    <a:pt x="110070" y="78486"/>
                  </a:lnTo>
                  <a:lnTo>
                    <a:pt x="78498" y="110109"/>
                  </a:lnTo>
                  <a:lnTo>
                    <a:pt x="51562" y="145796"/>
                  </a:lnTo>
                  <a:lnTo>
                    <a:pt x="29743" y="185166"/>
                  </a:lnTo>
                  <a:lnTo>
                    <a:pt x="13550" y="227584"/>
                  </a:lnTo>
                  <a:lnTo>
                    <a:pt x="3467" y="272796"/>
                  </a:lnTo>
                  <a:lnTo>
                    <a:pt x="0" y="320040"/>
                  </a:lnTo>
                  <a:lnTo>
                    <a:pt x="3467" y="367284"/>
                  </a:lnTo>
                  <a:lnTo>
                    <a:pt x="13550" y="412496"/>
                  </a:lnTo>
                  <a:lnTo>
                    <a:pt x="29743" y="454914"/>
                  </a:lnTo>
                  <a:lnTo>
                    <a:pt x="51562" y="494284"/>
                  </a:lnTo>
                  <a:lnTo>
                    <a:pt x="78498" y="529971"/>
                  </a:lnTo>
                  <a:lnTo>
                    <a:pt x="110070" y="561594"/>
                  </a:lnTo>
                  <a:lnTo>
                    <a:pt x="145770" y="588518"/>
                  </a:lnTo>
                  <a:lnTo>
                    <a:pt x="185115" y="610362"/>
                  </a:lnTo>
                  <a:lnTo>
                    <a:pt x="227609" y="626491"/>
                  </a:lnTo>
                  <a:lnTo>
                    <a:pt x="272745" y="636651"/>
                  </a:lnTo>
                  <a:lnTo>
                    <a:pt x="320040" y="640080"/>
                  </a:lnTo>
                  <a:lnTo>
                    <a:pt x="367334" y="636651"/>
                  </a:lnTo>
                  <a:lnTo>
                    <a:pt x="412496" y="626491"/>
                  </a:lnTo>
                  <a:lnTo>
                    <a:pt x="454913" y="610362"/>
                  </a:lnTo>
                  <a:lnTo>
                    <a:pt x="494284" y="588518"/>
                  </a:lnTo>
                  <a:lnTo>
                    <a:pt x="529971" y="561594"/>
                  </a:lnTo>
                  <a:lnTo>
                    <a:pt x="561594" y="529971"/>
                  </a:lnTo>
                  <a:lnTo>
                    <a:pt x="588518" y="494284"/>
                  </a:lnTo>
                  <a:lnTo>
                    <a:pt x="610362" y="454914"/>
                  </a:lnTo>
                  <a:lnTo>
                    <a:pt x="626491" y="412496"/>
                  </a:lnTo>
                  <a:lnTo>
                    <a:pt x="636651" y="367284"/>
                  </a:lnTo>
                  <a:lnTo>
                    <a:pt x="640079" y="320040"/>
                  </a:lnTo>
                  <a:lnTo>
                    <a:pt x="636651" y="272796"/>
                  </a:lnTo>
                  <a:lnTo>
                    <a:pt x="626491" y="227584"/>
                  </a:lnTo>
                  <a:lnTo>
                    <a:pt x="610362" y="185166"/>
                  </a:lnTo>
                  <a:lnTo>
                    <a:pt x="588518" y="145796"/>
                  </a:lnTo>
                  <a:lnTo>
                    <a:pt x="561594" y="110109"/>
                  </a:lnTo>
                  <a:lnTo>
                    <a:pt x="529971" y="78486"/>
                  </a:lnTo>
                  <a:lnTo>
                    <a:pt x="494284" y="51562"/>
                  </a:lnTo>
                  <a:lnTo>
                    <a:pt x="454913" y="29718"/>
                  </a:lnTo>
                  <a:lnTo>
                    <a:pt x="412496" y="13589"/>
                  </a:lnTo>
                  <a:lnTo>
                    <a:pt x="367334" y="342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6111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40"/>
                  </a:moveTo>
                  <a:lnTo>
                    <a:pt x="3467" y="272796"/>
                  </a:lnTo>
                  <a:lnTo>
                    <a:pt x="13550" y="227584"/>
                  </a:lnTo>
                  <a:lnTo>
                    <a:pt x="29743" y="185166"/>
                  </a:lnTo>
                  <a:lnTo>
                    <a:pt x="51562" y="145796"/>
                  </a:lnTo>
                  <a:lnTo>
                    <a:pt x="78498" y="110109"/>
                  </a:lnTo>
                  <a:lnTo>
                    <a:pt x="110070" y="78486"/>
                  </a:lnTo>
                  <a:lnTo>
                    <a:pt x="145770" y="51562"/>
                  </a:lnTo>
                  <a:lnTo>
                    <a:pt x="185115" y="29718"/>
                  </a:lnTo>
                  <a:lnTo>
                    <a:pt x="227609" y="13589"/>
                  </a:lnTo>
                  <a:lnTo>
                    <a:pt x="272745" y="3429"/>
                  </a:lnTo>
                  <a:lnTo>
                    <a:pt x="320040" y="0"/>
                  </a:lnTo>
                  <a:lnTo>
                    <a:pt x="367334" y="3429"/>
                  </a:lnTo>
                  <a:lnTo>
                    <a:pt x="412496" y="13589"/>
                  </a:lnTo>
                  <a:lnTo>
                    <a:pt x="454913" y="29718"/>
                  </a:lnTo>
                  <a:lnTo>
                    <a:pt x="494284" y="51562"/>
                  </a:lnTo>
                  <a:lnTo>
                    <a:pt x="529971" y="78486"/>
                  </a:lnTo>
                  <a:lnTo>
                    <a:pt x="561594" y="110109"/>
                  </a:lnTo>
                  <a:lnTo>
                    <a:pt x="588518" y="145796"/>
                  </a:lnTo>
                  <a:lnTo>
                    <a:pt x="610362" y="185166"/>
                  </a:lnTo>
                  <a:lnTo>
                    <a:pt x="626491" y="227584"/>
                  </a:lnTo>
                  <a:lnTo>
                    <a:pt x="636651" y="272796"/>
                  </a:lnTo>
                  <a:lnTo>
                    <a:pt x="640079" y="320040"/>
                  </a:lnTo>
                  <a:lnTo>
                    <a:pt x="636651" y="367284"/>
                  </a:lnTo>
                  <a:lnTo>
                    <a:pt x="626491" y="412496"/>
                  </a:lnTo>
                  <a:lnTo>
                    <a:pt x="610362" y="454914"/>
                  </a:lnTo>
                  <a:lnTo>
                    <a:pt x="588518" y="494284"/>
                  </a:lnTo>
                  <a:lnTo>
                    <a:pt x="561594" y="529971"/>
                  </a:lnTo>
                  <a:lnTo>
                    <a:pt x="529971" y="561594"/>
                  </a:lnTo>
                  <a:lnTo>
                    <a:pt x="494284" y="588518"/>
                  </a:lnTo>
                  <a:lnTo>
                    <a:pt x="454913" y="610362"/>
                  </a:lnTo>
                  <a:lnTo>
                    <a:pt x="412496" y="626491"/>
                  </a:lnTo>
                  <a:lnTo>
                    <a:pt x="367334" y="636651"/>
                  </a:lnTo>
                  <a:lnTo>
                    <a:pt x="320040" y="640080"/>
                  </a:lnTo>
                  <a:lnTo>
                    <a:pt x="272745" y="636651"/>
                  </a:lnTo>
                  <a:lnTo>
                    <a:pt x="227609" y="626491"/>
                  </a:lnTo>
                  <a:lnTo>
                    <a:pt x="185115" y="610362"/>
                  </a:lnTo>
                  <a:lnTo>
                    <a:pt x="145770" y="588518"/>
                  </a:lnTo>
                  <a:lnTo>
                    <a:pt x="110070" y="561594"/>
                  </a:lnTo>
                  <a:lnTo>
                    <a:pt x="78498" y="529971"/>
                  </a:lnTo>
                  <a:lnTo>
                    <a:pt x="51562" y="494284"/>
                  </a:lnTo>
                  <a:lnTo>
                    <a:pt x="29743" y="454914"/>
                  </a:lnTo>
                  <a:lnTo>
                    <a:pt x="13550" y="412496"/>
                  </a:lnTo>
                  <a:lnTo>
                    <a:pt x="3467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2879" y="987552"/>
            <a:ext cx="2057400" cy="1719580"/>
          </a:xfrm>
          <a:prstGeom prst="rect">
            <a:avLst/>
          </a:prstGeom>
          <a:ln w="15238">
            <a:solidFill>
              <a:srgbClr val="0891B0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205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</a:pP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User</a:t>
            </a:r>
            <a:r>
              <a:rPr sz="1200" b="1" spc="-3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Action</a:t>
            </a:r>
            <a:endParaRPr sz="1200">
              <a:latin typeface="Times New Roman"/>
              <a:cs typeface="Times New Roman"/>
            </a:endParaRPr>
          </a:p>
          <a:p>
            <a:pPr marL="165735" marR="151765" indent="-1270" algn="ctr">
              <a:lnSpc>
                <a:spcPct val="100000"/>
              </a:lnSpc>
              <a:spcBef>
                <a:spcPts val="910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User</a:t>
            </a:r>
            <a:r>
              <a:rPr sz="9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submits</a:t>
            </a:r>
            <a:r>
              <a:rPr sz="9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'Create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Order'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form</a:t>
            </a:r>
            <a:r>
              <a:rPr sz="9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in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browser.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HTTP</a:t>
            </a:r>
            <a:r>
              <a:rPr sz="9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POST</a:t>
            </a:r>
            <a:r>
              <a:rPr sz="9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/orders/create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with</a:t>
            </a:r>
            <a:r>
              <a:rPr sz="9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form</a:t>
            </a:r>
            <a:r>
              <a:rPr sz="9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data.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04872" y="987552"/>
            <a:ext cx="2057400" cy="1719580"/>
            <a:chOff x="2404872" y="987552"/>
            <a:chExt cx="2057400" cy="1719580"/>
          </a:xfrm>
        </p:grpSpPr>
        <p:sp>
          <p:nvSpPr>
            <p:cNvPr id="9" name="object 9"/>
            <p:cNvSpPr/>
            <p:nvPr/>
          </p:nvSpPr>
          <p:spPr>
            <a:xfrm>
              <a:off x="2404872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8104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40" y="0"/>
                  </a:moveTo>
                  <a:lnTo>
                    <a:pt x="272795" y="3429"/>
                  </a:lnTo>
                  <a:lnTo>
                    <a:pt x="227583" y="13589"/>
                  </a:lnTo>
                  <a:lnTo>
                    <a:pt x="185166" y="29718"/>
                  </a:lnTo>
                  <a:lnTo>
                    <a:pt x="145795" y="51562"/>
                  </a:lnTo>
                  <a:lnTo>
                    <a:pt x="110108" y="78486"/>
                  </a:lnTo>
                  <a:lnTo>
                    <a:pt x="78485" y="110109"/>
                  </a:lnTo>
                  <a:lnTo>
                    <a:pt x="51562" y="145796"/>
                  </a:lnTo>
                  <a:lnTo>
                    <a:pt x="29718" y="185166"/>
                  </a:lnTo>
                  <a:lnTo>
                    <a:pt x="13588" y="227584"/>
                  </a:lnTo>
                  <a:lnTo>
                    <a:pt x="3428" y="272796"/>
                  </a:lnTo>
                  <a:lnTo>
                    <a:pt x="0" y="320040"/>
                  </a:lnTo>
                  <a:lnTo>
                    <a:pt x="3428" y="367284"/>
                  </a:lnTo>
                  <a:lnTo>
                    <a:pt x="13588" y="412496"/>
                  </a:lnTo>
                  <a:lnTo>
                    <a:pt x="29718" y="454914"/>
                  </a:lnTo>
                  <a:lnTo>
                    <a:pt x="51562" y="494284"/>
                  </a:lnTo>
                  <a:lnTo>
                    <a:pt x="78485" y="529971"/>
                  </a:lnTo>
                  <a:lnTo>
                    <a:pt x="110108" y="561594"/>
                  </a:lnTo>
                  <a:lnTo>
                    <a:pt x="145795" y="588518"/>
                  </a:lnTo>
                  <a:lnTo>
                    <a:pt x="185166" y="610362"/>
                  </a:lnTo>
                  <a:lnTo>
                    <a:pt x="227583" y="626491"/>
                  </a:lnTo>
                  <a:lnTo>
                    <a:pt x="272795" y="636651"/>
                  </a:lnTo>
                  <a:lnTo>
                    <a:pt x="320040" y="640080"/>
                  </a:lnTo>
                  <a:lnTo>
                    <a:pt x="367283" y="636651"/>
                  </a:lnTo>
                  <a:lnTo>
                    <a:pt x="412495" y="626491"/>
                  </a:lnTo>
                  <a:lnTo>
                    <a:pt x="454913" y="610362"/>
                  </a:lnTo>
                  <a:lnTo>
                    <a:pt x="494283" y="588518"/>
                  </a:lnTo>
                  <a:lnTo>
                    <a:pt x="529970" y="561594"/>
                  </a:lnTo>
                  <a:lnTo>
                    <a:pt x="561594" y="529971"/>
                  </a:lnTo>
                  <a:lnTo>
                    <a:pt x="588518" y="494284"/>
                  </a:lnTo>
                  <a:lnTo>
                    <a:pt x="610361" y="454914"/>
                  </a:lnTo>
                  <a:lnTo>
                    <a:pt x="626491" y="412496"/>
                  </a:lnTo>
                  <a:lnTo>
                    <a:pt x="636650" y="367284"/>
                  </a:lnTo>
                  <a:lnTo>
                    <a:pt x="640080" y="320040"/>
                  </a:lnTo>
                  <a:lnTo>
                    <a:pt x="636650" y="272796"/>
                  </a:lnTo>
                  <a:lnTo>
                    <a:pt x="626491" y="227584"/>
                  </a:lnTo>
                  <a:lnTo>
                    <a:pt x="610361" y="185166"/>
                  </a:lnTo>
                  <a:lnTo>
                    <a:pt x="588518" y="145796"/>
                  </a:lnTo>
                  <a:lnTo>
                    <a:pt x="561594" y="110109"/>
                  </a:lnTo>
                  <a:lnTo>
                    <a:pt x="529970" y="78486"/>
                  </a:lnTo>
                  <a:lnTo>
                    <a:pt x="494283" y="51562"/>
                  </a:lnTo>
                  <a:lnTo>
                    <a:pt x="454913" y="29718"/>
                  </a:lnTo>
                  <a:lnTo>
                    <a:pt x="412495" y="13589"/>
                  </a:lnTo>
                  <a:lnTo>
                    <a:pt x="367283" y="342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4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18104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28" y="272796"/>
                  </a:lnTo>
                  <a:lnTo>
                    <a:pt x="13588" y="227584"/>
                  </a:lnTo>
                  <a:lnTo>
                    <a:pt x="29718" y="185166"/>
                  </a:lnTo>
                  <a:lnTo>
                    <a:pt x="51562" y="145796"/>
                  </a:lnTo>
                  <a:lnTo>
                    <a:pt x="78485" y="110109"/>
                  </a:lnTo>
                  <a:lnTo>
                    <a:pt x="110108" y="78486"/>
                  </a:lnTo>
                  <a:lnTo>
                    <a:pt x="145795" y="51562"/>
                  </a:lnTo>
                  <a:lnTo>
                    <a:pt x="185166" y="29718"/>
                  </a:lnTo>
                  <a:lnTo>
                    <a:pt x="227583" y="13589"/>
                  </a:lnTo>
                  <a:lnTo>
                    <a:pt x="272795" y="3429"/>
                  </a:lnTo>
                  <a:lnTo>
                    <a:pt x="320040" y="0"/>
                  </a:lnTo>
                  <a:lnTo>
                    <a:pt x="367283" y="3429"/>
                  </a:lnTo>
                  <a:lnTo>
                    <a:pt x="412495" y="13589"/>
                  </a:lnTo>
                  <a:lnTo>
                    <a:pt x="454913" y="29718"/>
                  </a:lnTo>
                  <a:lnTo>
                    <a:pt x="494283" y="51562"/>
                  </a:lnTo>
                  <a:lnTo>
                    <a:pt x="529970" y="78486"/>
                  </a:lnTo>
                  <a:lnTo>
                    <a:pt x="561594" y="110109"/>
                  </a:lnTo>
                  <a:lnTo>
                    <a:pt x="588518" y="145796"/>
                  </a:lnTo>
                  <a:lnTo>
                    <a:pt x="610361" y="185166"/>
                  </a:lnTo>
                  <a:lnTo>
                    <a:pt x="626491" y="227584"/>
                  </a:lnTo>
                  <a:lnTo>
                    <a:pt x="636650" y="272796"/>
                  </a:lnTo>
                  <a:lnTo>
                    <a:pt x="640080" y="320040"/>
                  </a:lnTo>
                  <a:lnTo>
                    <a:pt x="636650" y="367284"/>
                  </a:lnTo>
                  <a:lnTo>
                    <a:pt x="626491" y="412496"/>
                  </a:lnTo>
                  <a:lnTo>
                    <a:pt x="610361" y="454914"/>
                  </a:lnTo>
                  <a:lnTo>
                    <a:pt x="588518" y="494284"/>
                  </a:lnTo>
                  <a:lnTo>
                    <a:pt x="561594" y="529971"/>
                  </a:lnTo>
                  <a:lnTo>
                    <a:pt x="529970" y="561594"/>
                  </a:lnTo>
                  <a:lnTo>
                    <a:pt x="494283" y="588518"/>
                  </a:lnTo>
                  <a:lnTo>
                    <a:pt x="454913" y="610362"/>
                  </a:lnTo>
                  <a:lnTo>
                    <a:pt x="412495" y="626491"/>
                  </a:lnTo>
                  <a:lnTo>
                    <a:pt x="367283" y="636651"/>
                  </a:lnTo>
                  <a:lnTo>
                    <a:pt x="320040" y="640080"/>
                  </a:lnTo>
                  <a:lnTo>
                    <a:pt x="272795" y="636651"/>
                  </a:lnTo>
                  <a:lnTo>
                    <a:pt x="227583" y="626491"/>
                  </a:lnTo>
                  <a:lnTo>
                    <a:pt x="185166" y="610362"/>
                  </a:lnTo>
                  <a:lnTo>
                    <a:pt x="145795" y="588518"/>
                  </a:lnTo>
                  <a:lnTo>
                    <a:pt x="110108" y="561594"/>
                  </a:lnTo>
                  <a:lnTo>
                    <a:pt x="78485" y="529971"/>
                  </a:lnTo>
                  <a:lnTo>
                    <a:pt x="51562" y="494284"/>
                  </a:lnTo>
                  <a:lnTo>
                    <a:pt x="29718" y="454914"/>
                  </a:lnTo>
                  <a:lnTo>
                    <a:pt x="13588" y="412496"/>
                  </a:lnTo>
                  <a:lnTo>
                    <a:pt x="3428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4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04872" y="987552"/>
            <a:ext cx="2057400" cy="1719580"/>
          </a:xfrm>
          <a:prstGeom prst="rect">
            <a:avLst/>
          </a:prstGeom>
          <a:ln w="15240">
            <a:solidFill>
              <a:srgbClr val="04B6D2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205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</a:pPr>
            <a:r>
              <a:rPr sz="1200" b="1" spc="-10" dirty="0">
                <a:solidFill>
                  <a:srgbClr val="04B6D2"/>
                </a:solidFill>
                <a:latin typeface="Times New Roman"/>
                <a:cs typeface="Times New Roman"/>
              </a:rPr>
              <a:t>DispatcherServlet</a:t>
            </a:r>
            <a:endParaRPr sz="1200">
              <a:latin typeface="Times New Roman"/>
              <a:cs typeface="Times New Roman"/>
            </a:endParaRPr>
          </a:p>
          <a:p>
            <a:pPr marL="129539" marR="113030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Spring's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front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controller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intercepts</a:t>
            </a:r>
            <a:r>
              <a:rPr sz="95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the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request,</a:t>
            </a:r>
            <a:r>
              <a:rPr sz="95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identifies</a:t>
            </a:r>
            <a:r>
              <a:rPr sz="9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matching @RequestMapping 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in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OrderController.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26864" y="987552"/>
            <a:ext cx="2057400" cy="1719580"/>
            <a:chOff x="4626864" y="987552"/>
            <a:chExt cx="2057400" cy="1719580"/>
          </a:xfrm>
        </p:grpSpPr>
        <p:sp>
          <p:nvSpPr>
            <p:cNvPr id="14" name="object 14"/>
            <p:cNvSpPr/>
            <p:nvPr/>
          </p:nvSpPr>
          <p:spPr>
            <a:xfrm>
              <a:off x="4626864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399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399" y="1719072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0096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95" y="3429"/>
                  </a:lnTo>
                  <a:lnTo>
                    <a:pt x="227583" y="13589"/>
                  </a:lnTo>
                  <a:lnTo>
                    <a:pt x="185165" y="29718"/>
                  </a:lnTo>
                  <a:lnTo>
                    <a:pt x="145795" y="51562"/>
                  </a:lnTo>
                  <a:lnTo>
                    <a:pt x="110108" y="78486"/>
                  </a:lnTo>
                  <a:lnTo>
                    <a:pt x="78486" y="110109"/>
                  </a:lnTo>
                  <a:lnTo>
                    <a:pt x="51562" y="145796"/>
                  </a:lnTo>
                  <a:lnTo>
                    <a:pt x="29717" y="185166"/>
                  </a:lnTo>
                  <a:lnTo>
                    <a:pt x="13588" y="227584"/>
                  </a:lnTo>
                  <a:lnTo>
                    <a:pt x="3428" y="272796"/>
                  </a:lnTo>
                  <a:lnTo>
                    <a:pt x="0" y="320040"/>
                  </a:lnTo>
                  <a:lnTo>
                    <a:pt x="3428" y="367284"/>
                  </a:lnTo>
                  <a:lnTo>
                    <a:pt x="13588" y="412496"/>
                  </a:lnTo>
                  <a:lnTo>
                    <a:pt x="29717" y="454914"/>
                  </a:lnTo>
                  <a:lnTo>
                    <a:pt x="51562" y="494284"/>
                  </a:lnTo>
                  <a:lnTo>
                    <a:pt x="78486" y="529971"/>
                  </a:lnTo>
                  <a:lnTo>
                    <a:pt x="110108" y="561594"/>
                  </a:lnTo>
                  <a:lnTo>
                    <a:pt x="145795" y="588518"/>
                  </a:lnTo>
                  <a:lnTo>
                    <a:pt x="185165" y="610362"/>
                  </a:lnTo>
                  <a:lnTo>
                    <a:pt x="227583" y="626491"/>
                  </a:lnTo>
                  <a:lnTo>
                    <a:pt x="272795" y="636651"/>
                  </a:lnTo>
                  <a:lnTo>
                    <a:pt x="320039" y="640080"/>
                  </a:lnTo>
                  <a:lnTo>
                    <a:pt x="367283" y="636651"/>
                  </a:lnTo>
                  <a:lnTo>
                    <a:pt x="412495" y="626491"/>
                  </a:lnTo>
                  <a:lnTo>
                    <a:pt x="454913" y="610362"/>
                  </a:lnTo>
                  <a:lnTo>
                    <a:pt x="494283" y="588518"/>
                  </a:lnTo>
                  <a:lnTo>
                    <a:pt x="529970" y="561594"/>
                  </a:lnTo>
                  <a:lnTo>
                    <a:pt x="561593" y="529971"/>
                  </a:lnTo>
                  <a:lnTo>
                    <a:pt x="588517" y="494284"/>
                  </a:lnTo>
                  <a:lnTo>
                    <a:pt x="610362" y="454914"/>
                  </a:lnTo>
                  <a:lnTo>
                    <a:pt x="626490" y="412496"/>
                  </a:lnTo>
                  <a:lnTo>
                    <a:pt x="636651" y="367284"/>
                  </a:lnTo>
                  <a:lnTo>
                    <a:pt x="640079" y="320040"/>
                  </a:lnTo>
                  <a:lnTo>
                    <a:pt x="636651" y="272796"/>
                  </a:lnTo>
                  <a:lnTo>
                    <a:pt x="626490" y="227584"/>
                  </a:lnTo>
                  <a:lnTo>
                    <a:pt x="610362" y="185166"/>
                  </a:lnTo>
                  <a:lnTo>
                    <a:pt x="588517" y="145796"/>
                  </a:lnTo>
                  <a:lnTo>
                    <a:pt x="561593" y="110109"/>
                  </a:lnTo>
                  <a:lnTo>
                    <a:pt x="529970" y="78486"/>
                  </a:lnTo>
                  <a:lnTo>
                    <a:pt x="494283" y="51562"/>
                  </a:lnTo>
                  <a:lnTo>
                    <a:pt x="454913" y="29718"/>
                  </a:lnTo>
                  <a:lnTo>
                    <a:pt x="412495" y="13589"/>
                  </a:lnTo>
                  <a:lnTo>
                    <a:pt x="367283" y="342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40096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28" y="272796"/>
                  </a:lnTo>
                  <a:lnTo>
                    <a:pt x="13588" y="227584"/>
                  </a:lnTo>
                  <a:lnTo>
                    <a:pt x="29717" y="185166"/>
                  </a:lnTo>
                  <a:lnTo>
                    <a:pt x="51562" y="145796"/>
                  </a:lnTo>
                  <a:lnTo>
                    <a:pt x="78486" y="110109"/>
                  </a:lnTo>
                  <a:lnTo>
                    <a:pt x="110108" y="78486"/>
                  </a:lnTo>
                  <a:lnTo>
                    <a:pt x="145795" y="51562"/>
                  </a:lnTo>
                  <a:lnTo>
                    <a:pt x="185165" y="29718"/>
                  </a:lnTo>
                  <a:lnTo>
                    <a:pt x="227583" y="13589"/>
                  </a:lnTo>
                  <a:lnTo>
                    <a:pt x="272795" y="3429"/>
                  </a:lnTo>
                  <a:lnTo>
                    <a:pt x="320039" y="0"/>
                  </a:lnTo>
                  <a:lnTo>
                    <a:pt x="367283" y="3429"/>
                  </a:lnTo>
                  <a:lnTo>
                    <a:pt x="412495" y="13589"/>
                  </a:lnTo>
                  <a:lnTo>
                    <a:pt x="454913" y="29718"/>
                  </a:lnTo>
                  <a:lnTo>
                    <a:pt x="494283" y="51562"/>
                  </a:lnTo>
                  <a:lnTo>
                    <a:pt x="529970" y="78486"/>
                  </a:lnTo>
                  <a:lnTo>
                    <a:pt x="561593" y="110109"/>
                  </a:lnTo>
                  <a:lnTo>
                    <a:pt x="588517" y="145796"/>
                  </a:lnTo>
                  <a:lnTo>
                    <a:pt x="610362" y="185166"/>
                  </a:lnTo>
                  <a:lnTo>
                    <a:pt x="626490" y="227584"/>
                  </a:lnTo>
                  <a:lnTo>
                    <a:pt x="636651" y="272796"/>
                  </a:lnTo>
                  <a:lnTo>
                    <a:pt x="640079" y="320040"/>
                  </a:lnTo>
                  <a:lnTo>
                    <a:pt x="636651" y="367284"/>
                  </a:lnTo>
                  <a:lnTo>
                    <a:pt x="626490" y="412496"/>
                  </a:lnTo>
                  <a:lnTo>
                    <a:pt x="610362" y="454914"/>
                  </a:lnTo>
                  <a:lnTo>
                    <a:pt x="588517" y="494284"/>
                  </a:lnTo>
                  <a:lnTo>
                    <a:pt x="561593" y="529971"/>
                  </a:lnTo>
                  <a:lnTo>
                    <a:pt x="529970" y="561594"/>
                  </a:lnTo>
                  <a:lnTo>
                    <a:pt x="494283" y="588518"/>
                  </a:lnTo>
                  <a:lnTo>
                    <a:pt x="454913" y="610362"/>
                  </a:lnTo>
                  <a:lnTo>
                    <a:pt x="412495" y="626491"/>
                  </a:lnTo>
                  <a:lnTo>
                    <a:pt x="367283" y="636651"/>
                  </a:lnTo>
                  <a:lnTo>
                    <a:pt x="320039" y="640080"/>
                  </a:lnTo>
                  <a:lnTo>
                    <a:pt x="272795" y="636651"/>
                  </a:lnTo>
                  <a:lnTo>
                    <a:pt x="227583" y="626491"/>
                  </a:lnTo>
                  <a:lnTo>
                    <a:pt x="185165" y="610362"/>
                  </a:lnTo>
                  <a:lnTo>
                    <a:pt x="145795" y="588518"/>
                  </a:lnTo>
                  <a:lnTo>
                    <a:pt x="110108" y="561594"/>
                  </a:lnTo>
                  <a:lnTo>
                    <a:pt x="78486" y="529971"/>
                  </a:lnTo>
                  <a:lnTo>
                    <a:pt x="51562" y="494284"/>
                  </a:lnTo>
                  <a:lnTo>
                    <a:pt x="29717" y="454914"/>
                  </a:lnTo>
                  <a:lnTo>
                    <a:pt x="13588" y="412496"/>
                  </a:lnTo>
                  <a:lnTo>
                    <a:pt x="3428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26864" y="987552"/>
            <a:ext cx="2057400" cy="1719580"/>
          </a:xfrm>
          <a:prstGeom prst="rect">
            <a:avLst/>
          </a:prstGeom>
          <a:ln w="15240">
            <a:solidFill>
              <a:srgbClr val="895CF6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205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1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Controller</a:t>
            </a:r>
            <a:r>
              <a:rPr sz="1200" b="1" spc="5" dirty="0">
                <a:solidFill>
                  <a:srgbClr val="89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Processes</a:t>
            </a:r>
            <a:endParaRPr sz="1200">
              <a:latin typeface="Times New Roman"/>
              <a:cs typeface="Times New Roman"/>
            </a:endParaRPr>
          </a:p>
          <a:p>
            <a:pPr marL="230504" marR="208279" indent="-5715" algn="ctr">
              <a:lnSpc>
                <a:spcPct val="100000"/>
              </a:lnSpc>
              <a:spcBef>
                <a:spcPts val="310"/>
              </a:spcBef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OrderController</a:t>
            </a:r>
            <a:r>
              <a:rPr sz="95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validates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@ModelAttribute</a:t>
            </a:r>
            <a:r>
              <a:rPr sz="95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OrderDTO</a:t>
            </a:r>
            <a:r>
              <a:rPr sz="950" spc="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via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@Valid.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On</a:t>
            </a:r>
            <a:r>
              <a:rPr sz="9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error</a:t>
            </a:r>
            <a:r>
              <a:rPr sz="9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→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returns</a:t>
            </a:r>
            <a:r>
              <a:rPr sz="9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form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view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with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BindingResult.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48856" y="987552"/>
            <a:ext cx="2057400" cy="1719580"/>
            <a:chOff x="6848856" y="987552"/>
            <a:chExt cx="2057400" cy="1719580"/>
          </a:xfrm>
        </p:grpSpPr>
        <p:sp>
          <p:nvSpPr>
            <p:cNvPr id="19" name="object 19"/>
            <p:cNvSpPr/>
            <p:nvPr/>
          </p:nvSpPr>
          <p:spPr>
            <a:xfrm>
              <a:off x="6848856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62088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95" y="3429"/>
                  </a:lnTo>
                  <a:lnTo>
                    <a:pt x="227583" y="13589"/>
                  </a:lnTo>
                  <a:lnTo>
                    <a:pt x="185165" y="29718"/>
                  </a:lnTo>
                  <a:lnTo>
                    <a:pt x="145795" y="51562"/>
                  </a:lnTo>
                  <a:lnTo>
                    <a:pt x="110108" y="78486"/>
                  </a:lnTo>
                  <a:lnTo>
                    <a:pt x="78485" y="110109"/>
                  </a:lnTo>
                  <a:lnTo>
                    <a:pt x="51561" y="145796"/>
                  </a:lnTo>
                  <a:lnTo>
                    <a:pt x="29717" y="185166"/>
                  </a:lnTo>
                  <a:lnTo>
                    <a:pt x="13588" y="227584"/>
                  </a:lnTo>
                  <a:lnTo>
                    <a:pt x="3428" y="272796"/>
                  </a:lnTo>
                  <a:lnTo>
                    <a:pt x="0" y="320040"/>
                  </a:lnTo>
                  <a:lnTo>
                    <a:pt x="3428" y="367284"/>
                  </a:lnTo>
                  <a:lnTo>
                    <a:pt x="13588" y="412496"/>
                  </a:lnTo>
                  <a:lnTo>
                    <a:pt x="29717" y="454914"/>
                  </a:lnTo>
                  <a:lnTo>
                    <a:pt x="51561" y="494284"/>
                  </a:lnTo>
                  <a:lnTo>
                    <a:pt x="78485" y="529971"/>
                  </a:lnTo>
                  <a:lnTo>
                    <a:pt x="110108" y="561594"/>
                  </a:lnTo>
                  <a:lnTo>
                    <a:pt x="145795" y="588518"/>
                  </a:lnTo>
                  <a:lnTo>
                    <a:pt x="185165" y="610362"/>
                  </a:lnTo>
                  <a:lnTo>
                    <a:pt x="227583" y="626491"/>
                  </a:lnTo>
                  <a:lnTo>
                    <a:pt x="272795" y="636651"/>
                  </a:lnTo>
                  <a:lnTo>
                    <a:pt x="320039" y="640080"/>
                  </a:lnTo>
                  <a:lnTo>
                    <a:pt x="367283" y="636651"/>
                  </a:lnTo>
                  <a:lnTo>
                    <a:pt x="412495" y="626491"/>
                  </a:lnTo>
                  <a:lnTo>
                    <a:pt x="454913" y="610362"/>
                  </a:lnTo>
                  <a:lnTo>
                    <a:pt x="494283" y="588518"/>
                  </a:lnTo>
                  <a:lnTo>
                    <a:pt x="529970" y="561594"/>
                  </a:lnTo>
                  <a:lnTo>
                    <a:pt x="561593" y="529971"/>
                  </a:lnTo>
                  <a:lnTo>
                    <a:pt x="588517" y="494284"/>
                  </a:lnTo>
                  <a:lnTo>
                    <a:pt x="610361" y="454914"/>
                  </a:lnTo>
                  <a:lnTo>
                    <a:pt x="626490" y="412496"/>
                  </a:lnTo>
                  <a:lnTo>
                    <a:pt x="636651" y="367284"/>
                  </a:lnTo>
                  <a:lnTo>
                    <a:pt x="640079" y="320040"/>
                  </a:lnTo>
                  <a:lnTo>
                    <a:pt x="636651" y="272796"/>
                  </a:lnTo>
                  <a:lnTo>
                    <a:pt x="626490" y="227584"/>
                  </a:lnTo>
                  <a:lnTo>
                    <a:pt x="610361" y="185166"/>
                  </a:lnTo>
                  <a:lnTo>
                    <a:pt x="588517" y="145796"/>
                  </a:lnTo>
                  <a:lnTo>
                    <a:pt x="561593" y="110109"/>
                  </a:lnTo>
                  <a:lnTo>
                    <a:pt x="529970" y="78486"/>
                  </a:lnTo>
                  <a:lnTo>
                    <a:pt x="494283" y="51562"/>
                  </a:lnTo>
                  <a:lnTo>
                    <a:pt x="454913" y="29718"/>
                  </a:lnTo>
                  <a:lnTo>
                    <a:pt x="412495" y="13589"/>
                  </a:lnTo>
                  <a:lnTo>
                    <a:pt x="367283" y="342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62088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28" y="272796"/>
                  </a:lnTo>
                  <a:lnTo>
                    <a:pt x="13588" y="227584"/>
                  </a:lnTo>
                  <a:lnTo>
                    <a:pt x="29717" y="185166"/>
                  </a:lnTo>
                  <a:lnTo>
                    <a:pt x="51561" y="145796"/>
                  </a:lnTo>
                  <a:lnTo>
                    <a:pt x="78485" y="110109"/>
                  </a:lnTo>
                  <a:lnTo>
                    <a:pt x="110108" y="78486"/>
                  </a:lnTo>
                  <a:lnTo>
                    <a:pt x="145795" y="51562"/>
                  </a:lnTo>
                  <a:lnTo>
                    <a:pt x="185165" y="29718"/>
                  </a:lnTo>
                  <a:lnTo>
                    <a:pt x="227583" y="13589"/>
                  </a:lnTo>
                  <a:lnTo>
                    <a:pt x="272795" y="3429"/>
                  </a:lnTo>
                  <a:lnTo>
                    <a:pt x="320039" y="0"/>
                  </a:lnTo>
                  <a:lnTo>
                    <a:pt x="367283" y="3429"/>
                  </a:lnTo>
                  <a:lnTo>
                    <a:pt x="412495" y="13589"/>
                  </a:lnTo>
                  <a:lnTo>
                    <a:pt x="454913" y="29718"/>
                  </a:lnTo>
                  <a:lnTo>
                    <a:pt x="494283" y="51562"/>
                  </a:lnTo>
                  <a:lnTo>
                    <a:pt x="529970" y="78486"/>
                  </a:lnTo>
                  <a:lnTo>
                    <a:pt x="561593" y="110109"/>
                  </a:lnTo>
                  <a:lnTo>
                    <a:pt x="588517" y="145796"/>
                  </a:lnTo>
                  <a:lnTo>
                    <a:pt x="610361" y="185166"/>
                  </a:lnTo>
                  <a:lnTo>
                    <a:pt x="626490" y="227584"/>
                  </a:lnTo>
                  <a:lnTo>
                    <a:pt x="636651" y="272796"/>
                  </a:lnTo>
                  <a:lnTo>
                    <a:pt x="640079" y="320040"/>
                  </a:lnTo>
                  <a:lnTo>
                    <a:pt x="636651" y="367284"/>
                  </a:lnTo>
                  <a:lnTo>
                    <a:pt x="626490" y="412496"/>
                  </a:lnTo>
                  <a:lnTo>
                    <a:pt x="610361" y="454914"/>
                  </a:lnTo>
                  <a:lnTo>
                    <a:pt x="588517" y="494284"/>
                  </a:lnTo>
                  <a:lnTo>
                    <a:pt x="561593" y="529971"/>
                  </a:lnTo>
                  <a:lnTo>
                    <a:pt x="529970" y="561594"/>
                  </a:lnTo>
                  <a:lnTo>
                    <a:pt x="494283" y="588518"/>
                  </a:lnTo>
                  <a:lnTo>
                    <a:pt x="454913" y="610362"/>
                  </a:lnTo>
                  <a:lnTo>
                    <a:pt x="412495" y="626491"/>
                  </a:lnTo>
                  <a:lnTo>
                    <a:pt x="367283" y="636651"/>
                  </a:lnTo>
                  <a:lnTo>
                    <a:pt x="320039" y="640080"/>
                  </a:lnTo>
                  <a:lnTo>
                    <a:pt x="272795" y="636651"/>
                  </a:lnTo>
                  <a:lnTo>
                    <a:pt x="227583" y="626491"/>
                  </a:lnTo>
                  <a:lnTo>
                    <a:pt x="185165" y="610362"/>
                  </a:lnTo>
                  <a:lnTo>
                    <a:pt x="145795" y="588518"/>
                  </a:lnTo>
                  <a:lnTo>
                    <a:pt x="110108" y="561594"/>
                  </a:lnTo>
                  <a:lnTo>
                    <a:pt x="78485" y="529971"/>
                  </a:lnTo>
                  <a:lnTo>
                    <a:pt x="51561" y="494284"/>
                  </a:lnTo>
                  <a:lnTo>
                    <a:pt x="29717" y="454914"/>
                  </a:lnTo>
                  <a:lnTo>
                    <a:pt x="13588" y="412496"/>
                  </a:lnTo>
                  <a:lnTo>
                    <a:pt x="3428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48856" y="987552"/>
            <a:ext cx="2057400" cy="1719580"/>
          </a:xfrm>
          <a:prstGeom prst="rect">
            <a:avLst/>
          </a:prstGeom>
          <a:ln w="15240">
            <a:solidFill>
              <a:srgbClr val="0EB881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205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</a:pPr>
            <a:r>
              <a:rPr sz="1200" b="1" dirty="0">
                <a:solidFill>
                  <a:srgbClr val="0EB881"/>
                </a:solidFill>
                <a:latin typeface="Times New Roman"/>
                <a:cs typeface="Times New Roman"/>
              </a:rPr>
              <a:t>Service</a:t>
            </a:r>
            <a:r>
              <a:rPr sz="1200" b="1" spc="-55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Invoked</a:t>
            </a:r>
            <a:endParaRPr sz="12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Controller</a:t>
            </a:r>
            <a:r>
              <a:rPr sz="95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calls</a:t>
            </a:r>
            <a:endParaRPr sz="95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orderService.processOrder(dto).</a:t>
            </a:r>
            <a:endParaRPr sz="950">
              <a:latin typeface="Times New Roman"/>
              <a:cs typeface="Times New Roman"/>
            </a:endParaRPr>
          </a:p>
          <a:p>
            <a:pPr marL="133350" marR="123189" algn="ctr">
              <a:lnSpc>
                <a:spcPct val="100000"/>
              </a:lnSpc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Spring</a:t>
            </a:r>
            <a:r>
              <a:rPr sz="9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opens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@Transactional</a:t>
            </a:r>
            <a:r>
              <a:rPr sz="95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context here.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2879" y="2907792"/>
            <a:ext cx="2057400" cy="1719580"/>
            <a:chOff x="182879" y="2907792"/>
            <a:chExt cx="2057400" cy="1719580"/>
          </a:xfrm>
        </p:grpSpPr>
        <p:sp>
          <p:nvSpPr>
            <p:cNvPr id="24" name="object 24"/>
            <p:cNvSpPr/>
            <p:nvPr/>
          </p:nvSpPr>
          <p:spPr>
            <a:xfrm>
              <a:off x="182879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6111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29"/>
                  </a:lnTo>
                  <a:lnTo>
                    <a:pt x="227609" y="13588"/>
                  </a:lnTo>
                  <a:lnTo>
                    <a:pt x="185115" y="29718"/>
                  </a:lnTo>
                  <a:lnTo>
                    <a:pt x="145770" y="51562"/>
                  </a:lnTo>
                  <a:lnTo>
                    <a:pt x="110070" y="78486"/>
                  </a:lnTo>
                  <a:lnTo>
                    <a:pt x="78498" y="110109"/>
                  </a:lnTo>
                  <a:lnTo>
                    <a:pt x="51562" y="145796"/>
                  </a:lnTo>
                  <a:lnTo>
                    <a:pt x="29743" y="185166"/>
                  </a:lnTo>
                  <a:lnTo>
                    <a:pt x="13550" y="227584"/>
                  </a:lnTo>
                  <a:lnTo>
                    <a:pt x="3467" y="272796"/>
                  </a:lnTo>
                  <a:lnTo>
                    <a:pt x="0" y="320040"/>
                  </a:lnTo>
                  <a:lnTo>
                    <a:pt x="3467" y="367284"/>
                  </a:lnTo>
                  <a:lnTo>
                    <a:pt x="13550" y="412496"/>
                  </a:lnTo>
                  <a:lnTo>
                    <a:pt x="29743" y="454913"/>
                  </a:lnTo>
                  <a:lnTo>
                    <a:pt x="51562" y="494284"/>
                  </a:lnTo>
                  <a:lnTo>
                    <a:pt x="78498" y="529971"/>
                  </a:lnTo>
                  <a:lnTo>
                    <a:pt x="110070" y="561594"/>
                  </a:lnTo>
                  <a:lnTo>
                    <a:pt x="145770" y="588518"/>
                  </a:lnTo>
                  <a:lnTo>
                    <a:pt x="185115" y="610362"/>
                  </a:lnTo>
                  <a:lnTo>
                    <a:pt x="227609" y="626491"/>
                  </a:lnTo>
                  <a:lnTo>
                    <a:pt x="272745" y="636651"/>
                  </a:lnTo>
                  <a:lnTo>
                    <a:pt x="320040" y="640080"/>
                  </a:lnTo>
                  <a:lnTo>
                    <a:pt x="367334" y="636651"/>
                  </a:lnTo>
                  <a:lnTo>
                    <a:pt x="412496" y="626491"/>
                  </a:lnTo>
                  <a:lnTo>
                    <a:pt x="454913" y="610362"/>
                  </a:lnTo>
                  <a:lnTo>
                    <a:pt x="494284" y="588518"/>
                  </a:lnTo>
                  <a:lnTo>
                    <a:pt x="529971" y="561594"/>
                  </a:lnTo>
                  <a:lnTo>
                    <a:pt x="561594" y="529971"/>
                  </a:lnTo>
                  <a:lnTo>
                    <a:pt x="588518" y="494284"/>
                  </a:lnTo>
                  <a:lnTo>
                    <a:pt x="610362" y="454913"/>
                  </a:lnTo>
                  <a:lnTo>
                    <a:pt x="626491" y="412496"/>
                  </a:lnTo>
                  <a:lnTo>
                    <a:pt x="636651" y="367284"/>
                  </a:lnTo>
                  <a:lnTo>
                    <a:pt x="640079" y="320040"/>
                  </a:lnTo>
                  <a:lnTo>
                    <a:pt x="636651" y="272796"/>
                  </a:lnTo>
                  <a:lnTo>
                    <a:pt x="626491" y="227584"/>
                  </a:lnTo>
                  <a:lnTo>
                    <a:pt x="610362" y="185166"/>
                  </a:lnTo>
                  <a:lnTo>
                    <a:pt x="588518" y="145796"/>
                  </a:lnTo>
                  <a:lnTo>
                    <a:pt x="561594" y="110109"/>
                  </a:lnTo>
                  <a:lnTo>
                    <a:pt x="529971" y="78486"/>
                  </a:lnTo>
                  <a:lnTo>
                    <a:pt x="494284" y="51562"/>
                  </a:lnTo>
                  <a:lnTo>
                    <a:pt x="454913" y="29718"/>
                  </a:lnTo>
                  <a:lnTo>
                    <a:pt x="412496" y="13588"/>
                  </a:lnTo>
                  <a:lnTo>
                    <a:pt x="367334" y="342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6111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40"/>
                  </a:moveTo>
                  <a:lnTo>
                    <a:pt x="3467" y="272796"/>
                  </a:lnTo>
                  <a:lnTo>
                    <a:pt x="13550" y="227584"/>
                  </a:lnTo>
                  <a:lnTo>
                    <a:pt x="29743" y="185166"/>
                  </a:lnTo>
                  <a:lnTo>
                    <a:pt x="51562" y="145796"/>
                  </a:lnTo>
                  <a:lnTo>
                    <a:pt x="78498" y="110109"/>
                  </a:lnTo>
                  <a:lnTo>
                    <a:pt x="110070" y="78486"/>
                  </a:lnTo>
                  <a:lnTo>
                    <a:pt x="145770" y="51562"/>
                  </a:lnTo>
                  <a:lnTo>
                    <a:pt x="185115" y="29718"/>
                  </a:lnTo>
                  <a:lnTo>
                    <a:pt x="227609" y="13588"/>
                  </a:lnTo>
                  <a:lnTo>
                    <a:pt x="272745" y="3429"/>
                  </a:lnTo>
                  <a:lnTo>
                    <a:pt x="320040" y="0"/>
                  </a:lnTo>
                  <a:lnTo>
                    <a:pt x="367334" y="3429"/>
                  </a:lnTo>
                  <a:lnTo>
                    <a:pt x="412496" y="13588"/>
                  </a:lnTo>
                  <a:lnTo>
                    <a:pt x="454913" y="29718"/>
                  </a:lnTo>
                  <a:lnTo>
                    <a:pt x="494284" y="51562"/>
                  </a:lnTo>
                  <a:lnTo>
                    <a:pt x="529971" y="78486"/>
                  </a:lnTo>
                  <a:lnTo>
                    <a:pt x="561594" y="110109"/>
                  </a:lnTo>
                  <a:lnTo>
                    <a:pt x="588518" y="145796"/>
                  </a:lnTo>
                  <a:lnTo>
                    <a:pt x="610362" y="185166"/>
                  </a:lnTo>
                  <a:lnTo>
                    <a:pt x="626491" y="227584"/>
                  </a:lnTo>
                  <a:lnTo>
                    <a:pt x="636651" y="272796"/>
                  </a:lnTo>
                  <a:lnTo>
                    <a:pt x="640079" y="320040"/>
                  </a:lnTo>
                  <a:lnTo>
                    <a:pt x="636651" y="367284"/>
                  </a:lnTo>
                  <a:lnTo>
                    <a:pt x="626491" y="412496"/>
                  </a:lnTo>
                  <a:lnTo>
                    <a:pt x="610362" y="454913"/>
                  </a:lnTo>
                  <a:lnTo>
                    <a:pt x="588518" y="494284"/>
                  </a:lnTo>
                  <a:lnTo>
                    <a:pt x="561594" y="529971"/>
                  </a:lnTo>
                  <a:lnTo>
                    <a:pt x="529971" y="561594"/>
                  </a:lnTo>
                  <a:lnTo>
                    <a:pt x="494284" y="588518"/>
                  </a:lnTo>
                  <a:lnTo>
                    <a:pt x="454913" y="610362"/>
                  </a:lnTo>
                  <a:lnTo>
                    <a:pt x="412496" y="626491"/>
                  </a:lnTo>
                  <a:lnTo>
                    <a:pt x="367334" y="636651"/>
                  </a:lnTo>
                  <a:lnTo>
                    <a:pt x="320040" y="640080"/>
                  </a:lnTo>
                  <a:lnTo>
                    <a:pt x="272745" y="636651"/>
                  </a:lnTo>
                  <a:lnTo>
                    <a:pt x="227609" y="626491"/>
                  </a:lnTo>
                  <a:lnTo>
                    <a:pt x="185115" y="610362"/>
                  </a:lnTo>
                  <a:lnTo>
                    <a:pt x="145770" y="588518"/>
                  </a:lnTo>
                  <a:lnTo>
                    <a:pt x="110070" y="561594"/>
                  </a:lnTo>
                  <a:lnTo>
                    <a:pt x="78498" y="529971"/>
                  </a:lnTo>
                  <a:lnTo>
                    <a:pt x="51562" y="494284"/>
                  </a:lnTo>
                  <a:lnTo>
                    <a:pt x="29743" y="454913"/>
                  </a:lnTo>
                  <a:lnTo>
                    <a:pt x="13550" y="412496"/>
                  </a:lnTo>
                  <a:lnTo>
                    <a:pt x="3467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2879" y="2907792"/>
            <a:ext cx="2057400" cy="1719580"/>
          </a:xfrm>
          <a:prstGeom prst="rect">
            <a:avLst/>
          </a:prstGeom>
          <a:ln w="15238">
            <a:solidFill>
              <a:srgbClr val="F87316"/>
            </a:solidFill>
          </a:ln>
        </p:spPr>
        <p:txBody>
          <a:bodyPr vert="horz" wrap="square" lIns="0" tIns="260985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205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</a:pP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Business</a:t>
            </a:r>
            <a:r>
              <a:rPr sz="12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Logic</a:t>
            </a:r>
            <a:endParaRPr sz="1200">
              <a:latin typeface="Times New Roman"/>
              <a:cs typeface="Times New Roman"/>
            </a:endParaRPr>
          </a:p>
          <a:p>
            <a:pPr marL="126364" marR="114300" indent="-635" algn="ctr">
              <a:lnSpc>
                <a:spcPct val="100000"/>
              </a:lnSpc>
              <a:spcBef>
                <a:spcPts val="309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Service</a:t>
            </a:r>
            <a:r>
              <a:rPr sz="9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checks</a:t>
            </a:r>
            <a:r>
              <a:rPr sz="95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9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availability, deducts</a:t>
            </a:r>
            <a:r>
              <a:rPr sz="95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quantity,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creates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Order</a:t>
            </a:r>
            <a:r>
              <a:rPr sz="9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entity, updates StockMovement,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calls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threshold</a:t>
            </a:r>
            <a:r>
              <a:rPr sz="9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evaluator.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04872" y="2907792"/>
            <a:ext cx="2057400" cy="1719580"/>
            <a:chOff x="2404872" y="2907792"/>
            <a:chExt cx="2057400" cy="1719580"/>
          </a:xfrm>
        </p:grpSpPr>
        <p:sp>
          <p:nvSpPr>
            <p:cNvPr id="29" name="object 29"/>
            <p:cNvSpPr/>
            <p:nvPr/>
          </p:nvSpPr>
          <p:spPr>
            <a:xfrm>
              <a:off x="2404872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8104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2795" y="3429"/>
                  </a:lnTo>
                  <a:lnTo>
                    <a:pt x="227583" y="13588"/>
                  </a:lnTo>
                  <a:lnTo>
                    <a:pt x="185166" y="29718"/>
                  </a:lnTo>
                  <a:lnTo>
                    <a:pt x="145795" y="51562"/>
                  </a:lnTo>
                  <a:lnTo>
                    <a:pt x="110108" y="78486"/>
                  </a:lnTo>
                  <a:lnTo>
                    <a:pt x="78485" y="110109"/>
                  </a:lnTo>
                  <a:lnTo>
                    <a:pt x="51562" y="145796"/>
                  </a:lnTo>
                  <a:lnTo>
                    <a:pt x="29718" y="185166"/>
                  </a:lnTo>
                  <a:lnTo>
                    <a:pt x="13588" y="227584"/>
                  </a:lnTo>
                  <a:lnTo>
                    <a:pt x="3428" y="272796"/>
                  </a:lnTo>
                  <a:lnTo>
                    <a:pt x="0" y="320040"/>
                  </a:lnTo>
                  <a:lnTo>
                    <a:pt x="3428" y="367284"/>
                  </a:lnTo>
                  <a:lnTo>
                    <a:pt x="13588" y="412496"/>
                  </a:lnTo>
                  <a:lnTo>
                    <a:pt x="29718" y="454913"/>
                  </a:lnTo>
                  <a:lnTo>
                    <a:pt x="51562" y="494284"/>
                  </a:lnTo>
                  <a:lnTo>
                    <a:pt x="78485" y="529971"/>
                  </a:lnTo>
                  <a:lnTo>
                    <a:pt x="110108" y="561594"/>
                  </a:lnTo>
                  <a:lnTo>
                    <a:pt x="145795" y="588518"/>
                  </a:lnTo>
                  <a:lnTo>
                    <a:pt x="185166" y="610362"/>
                  </a:lnTo>
                  <a:lnTo>
                    <a:pt x="227583" y="626491"/>
                  </a:lnTo>
                  <a:lnTo>
                    <a:pt x="272795" y="636651"/>
                  </a:lnTo>
                  <a:lnTo>
                    <a:pt x="320040" y="640080"/>
                  </a:lnTo>
                  <a:lnTo>
                    <a:pt x="367283" y="636651"/>
                  </a:lnTo>
                  <a:lnTo>
                    <a:pt x="412495" y="626491"/>
                  </a:lnTo>
                  <a:lnTo>
                    <a:pt x="454913" y="610362"/>
                  </a:lnTo>
                  <a:lnTo>
                    <a:pt x="494283" y="588518"/>
                  </a:lnTo>
                  <a:lnTo>
                    <a:pt x="529970" y="561594"/>
                  </a:lnTo>
                  <a:lnTo>
                    <a:pt x="561594" y="529971"/>
                  </a:lnTo>
                  <a:lnTo>
                    <a:pt x="588518" y="494284"/>
                  </a:lnTo>
                  <a:lnTo>
                    <a:pt x="610361" y="454913"/>
                  </a:lnTo>
                  <a:lnTo>
                    <a:pt x="626491" y="412496"/>
                  </a:lnTo>
                  <a:lnTo>
                    <a:pt x="636650" y="367284"/>
                  </a:lnTo>
                  <a:lnTo>
                    <a:pt x="640080" y="320040"/>
                  </a:lnTo>
                  <a:lnTo>
                    <a:pt x="636650" y="272796"/>
                  </a:lnTo>
                  <a:lnTo>
                    <a:pt x="626491" y="227584"/>
                  </a:lnTo>
                  <a:lnTo>
                    <a:pt x="610361" y="185166"/>
                  </a:lnTo>
                  <a:lnTo>
                    <a:pt x="588518" y="145796"/>
                  </a:lnTo>
                  <a:lnTo>
                    <a:pt x="561594" y="110109"/>
                  </a:lnTo>
                  <a:lnTo>
                    <a:pt x="529970" y="78486"/>
                  </a:lnTo>
                  <a:lnTo>
                    <a:pt x="494283" y="51562"/>
                  </a:lnTo>
                  <a:lnTo>
                    <a:pt x="454913" y="29718"/>
                  </a:lnTo>
                  <a:lnTo>
                    <a:pt x="412495" y="13588"/>
                  </a:lnTo>
                  <a:lnTo>
                    <a:pt x="367283" y="342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8104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28" y="272796"/>
                  </a:lnTo>
                  <a:lnTo>
                    <a:pt x="13588" y="227584"/>
                  </a:lnTo>
                  <a:lnTo>
                    <a:pt x="29718" y="185166"/>
                  </a:lnTo>
                  <a:lnTo>
                    <a:pt x="51562" y="145796"/>
                  </a:lnTo>
                  <a:lnTo>
                    <a:pt x="78485" y="110109"/>
                  </a:lnTo>
                  <a:lnTo>
                    <a:pt x="110108" y="78486"/>
                  </a:lnTo>
                  <a:lnTo>
                    <a:pt x="145795" y="51562"/>
                  </a:lnTo>
                  <a:lnTo>
                    <a:pt x="185166" y="29718"/>
                  </a:lnTo>
                  <a:lnTo>
                    <a:pt x="227583" y="13588"/>
                  </a:lnTo>
                  <a:lnTo>
                    <a:pt x="272795" y="3429"/>
                  </a:lnTo>
                  <a:lnTo>
                    <a:pt x="320040" y="0"/>
                  </a:lnTo>
                  <a:lnTo>
                    <a:pt x="367283" y="3429"/>
                  </a:lnTo>
                  <a:lnTo>
                    <a:pt x="412495" y="13588"/>
                  </a:lnTo>
                  <a:lnTo>
                    <a:pt x="454913" y="29718"/>
                  </a:lnTo>
                  <a:lnTo>
                    <a:pt x="494283" y="51562"/>
                  </a:lnTo>
                  <a:lnTo>
                    <a:pt x="529970" y="78486"/>
                  </a:lnTo>
                  <a:lnTo>
                    <a:pt x="561594" y="110109"/>
                  </a:lnTo>
                  <a:lnTo>
                    <a:pt x="588518" y="145796"/>
                  </a:lnTo>
                  <a:lnTo>
                    <a:pt x="610361" y="185166"/>
                  </a:lnTo>
                  <a:lnTo>
                    <a:pt x="626491" y="227584"/>
                  </a:lnTo>
                  <a:lnTo>
                    <a:pt x="636650" y="272796"/>
                  </a:lnTo>
                  <a:lnTo>
                    <a:pt x="640080" y="320040"/>
                  </a:lnTo>
                  <a:lnTo>
                    <a:pt x="636650" y="367284"/>
                  </a:lnTo>
                  <a:lnTo>
                    <a:pt x="626491" y="412496"/>
                  </a:lnTo>
                  <a:lnTo>
                    <a:pt x="610361" y="454913"/>
                  </a:lnTo>
                  <a:lnTo>
                    <a:pt x="588518" y="494284"/>
                  </a:lnTo>
                  <a:lnTo>
                    <a:pt x="561594" y="529971"/>
                  </a:lnTo>
                  <a:lnTo>
                    <a:pt x="529970" y="561594"/>
                  </a:lnTo>
                  <a:lnTo>
                    <a:pt x="494283" y="588518"/>
                  </a:lnTo>
                  <a:lnTo>
                    <a:pt x="454913" y="610362"/>
                  </a:lnTo>
                  <a:lnTo>
                    <a:pt x="412495" y="626491"/>
                  </a:lnTo>
                  <a:lnTo>
                    <a:pt x="367283" y="636651"/>
                  </a:lnTo>
                  <a:lnTo>
                    <a:pt x="320040" y="640080"/>
                  </a:lnTo>
                  <a:lnTo>
                    <a:pt x="272795" y="636651"/>
                  </a:lnTo>
                  <a:lnTo>
                    <a:pt x="227583" y="626491"/>
                  </a:lnTo>
                  <a:lnTo>
                    <a:pt x="185166" y="610362"/>
                  </a:lnTo>
                  <a:lnTo>
                    <a:pt x="145795" y="588518"/>
                  </a:lnTo>
                  <a:lnTo>
                    <a:pt x="110108" y="561594"/>
                  </a:lnTo>
                  <a:lnTo>
                    <a:pt x="78485" y="529971"/>
                  </a:lnTo>
                  <a:lnTo>
                    <a:pt x="51562" y="494284"/>
                  </a:lnTo>
                  <a:lnTo>
                    <a:pt x="29718" y="454913"/>
                  </a:lnTo>
                  <a:lnTo>
                    <a:pt x="13588" y="412496"/>
                  </a:lnTo>
                  <a:lnTo>
                    <a:pt x="3428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404872" y="2907792"/>
            <a:ext cx="2057400" cy="1719580"/>
          </a:xfrm>
          <a:prstGeom prst="rect">
            <a:avLst/>
          </a:prstGeom>
          <a:ln w="15240">
            <a:solidFill>
              <a:srgbClr val="F59E09"/>
            </a:solidFill>
          </a:ln>
        </p:spPr>
        <p:txBody>
          <a:bodyPr vert="horz" wrap="square" lIns="0" tIns="260985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205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0160" algn="ctr">
              <a:lnSpc>
                <a:spcPct val="100000"/>
              </a:lnSpc>
            </a:pPr>
            <a:r>
              <a:rPr sz="12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Repository </a:t>
            </a:r>
            <a:r>
              <a:rPr sz="1200" b="1" spc="-20" dirty="0">
                <a:solidFill>
                  <a:srgbClr val="F59E09"/>
                </a:solidFill>
                <a:latin typeface="Times New Roman"/>
                <a:cs typeface="Times New Roman"/>
              </a:rPr>
              <a:t>Saves</a:t>
            </a:r>
            <a:endParaRPr sz="1200">
              <a:latin typeface="Times New Roman"/>
              <a:cs typeface="Times New Roman"/>
            </a:endParaRPr>
          </a:p>
          <a:p>
            <a:pPr marL="129539" marR="114935" indent="3810" algn="ctr">
              <a:lnSpc>
                <a:spcPct val="100000"/>
              </a:lnSpc>
              <a:spcBef>
                <a:spcPts val="309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JPA</a:t>
            </a:r>
            <a:r>
              <a:rPr sz="95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repositories</a:t>
            </a:r>
            <a:r>
              <a:rPr sz="95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persist</a:t>
            </a:r>
            <a:r>
              <a:rPr sz="9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Order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92A1B8"/>
                </a:solidFill>
                <a:latin typeface="Times New Roman"/>
                <a:cs typeface="Times New Roman"/>
              </a:rPr>
              <a:t>+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 StockMovement</a:t>
            </a:r>
            <a:r>
              <a:rPr sz="95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entities.</a:t>
            </a:r>
            <a:r>
              <a:rPr sz="95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Hibernate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generates</a:t>
            </a:r>
            <a:r>
              <a:rPr sz="950" spc="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INSERT/UPDATE</a:t>
            </a:r>
            <a:r>
              <a:rPr sz="950" spc="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SQL</a:t>
            </a:r>
            <a:r>
              <a:rPr sz="9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on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MySQL.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26864" y="2907792"/>
            <a:ext cx="2057400" cy="1719580"/>
            <a:chOff x="4626864" y="2907792"/>
            <a:chExt cx="2057400" cy="1719580"/>
          </a:xfrm>
        </p:grpSpPr>
        <p:sp>
          <p:nvSpPr>
            <p:cNvPr id="34" name="object 34"/>
            <p:cNvSpPr/>
            <p:nvPr/>
          </p:nvSpPr>
          <p:spPr>
            <a:xfrm>
              <a:off x="4626864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399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399" y="1719072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40096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95" y="3429"/>
                  </a:lnTo>
                  <a:lnTo>
                    <a:pt x="227583" y="13588"/>
                  </a:lnTo>
                  <a:lnTo>
                    <a:pt x="185165" y="29718"/>
                  </a:lnTo>
                  <a:lnTo>
                    <a:pt x="145795" y="51562"/>
                  </a:lnTo>
                  <a:lnTo>
                    <a:pt x="110108" y="78486"/>
                  </a:lnTo>
                  <a:lnTo>
                    <a:pt x="78486" y="110109"/>
                  </a:lnTo>
                  <a:lnTo>
                    <a:pt x="51562" y="145796"/>
                  </a:lnTo>
                  <a:lnTo>
                    <a:pt x="29717" y="185166"/>
                  </a:lnTo>
                  <a:lnTo>
                    <a:pt x="13588" y="227584"/>
                  </a:lnTo>
                  <a:lnTo>
                    <a:pt x="3428" y="272796"/>
                  </a:lnTo>
                  <a:lnTo>
                    <a:pt x="0" y="320040"/>
                  </a:lnTo>
                  <a:lnTo>
                    <a:pt x="3428" y="367284"/>
                  </a:lnTo>
                  <a:lnTo>
                    <a:pt x="13588" y="412496"/>
                  </a:lnTo>
                  <a:lnTo>
                    <a:pt x="29717" y="454913"/>
                  </a:lnTo>
                  <a:lnTo>
                    <a:pt x="51562" y="494284"/>
                  </a:lnTo>
                  <a:lnTo>
                    <a:pt x="78486" y="529971"/>
                  </a:lnTo>
                  <a:lnTo>
                    <a:pt x="110108" y="561594"/>
                  </a:lnTo>
                  <a:lnTo>
                    <a:pt x="145795" y="588518"/>
                  </a:lnTo>
                  <a:lnTo>
                    <a:pt x="185165" y="610362"/>
                  </a:lnTo>
                  <a:lnTo>
                    <a:pt x="227583" y="626491"/>
                  </a:lnTo>
                  <a:lnTo>
                    <a:pt x="272795" y="636651"/>
                  </a:lnTo>
                  <a:lnTo>
                    <a:pt x="320039" y="640080"/>
                  </a:lnTo>
                  <a:lnTo>
                    <a:pt x="367283" y="636651"/>
                  </a:lnTo>
                  <a:lnTo>
                    <a:pt x="412495" y="626491"/>
                  </a:lnTo>
                  <a:lnTo>
                    <a:pt x="454913" y="610362"/>
                  </a:lnTo>
                  <a:lnTo>
                    <a:pt x="494283" y="588518"/>
                  </a:lnTo>
                  <a:lnTo>
                    <a:pt x="529970" y="561594"/>
                  </a:lnTo>
                  <a:lnTo>
                    <a:pt x="561593" y="529971"/>
                  </a:lnTo>
                  <a:lnTo>
                    <a:pt x="588517" y="494284"/>
                  </a:lnTo>
                  <a:lnTo>
                    <a:pt x="610362" y="454913"/>
                  </a:lnTo>
                  <a:lnTo>
                    <a:pt x="626490" y="412496"/>
                  </a:lnTo>
                  <a:lnTo>
                    <a:pt x="636651" y="367284"/>
                  </a:lnTo>
                  <a:lnTo>
                    <a:pt x="640079" y="320040"/>
                  </a:lnTo>
                  <a:lnTo>
                    <a:pt x="636651" y="272796"/>
                  </a:lnTo>
                  <a:lnTo>
                    <a:pt x="626490" y="227584"/>
                  </a:lnTo>
                  <a:lnTo>
                    <a:pt x="610362" y="185166"/>
                  </a:lnTo>
                  <a:lnTo>
                    <a:pt x="588517" y="145796"/>
                  </a:lnTo>
                  <a:lnTo>
                    <a:pt x="561593" y="110109"/>
                  </a:lnTo>
                  <a:lnTo>
                    <a:pt x="529970" y="78486"/>
                  </a:lnTo>
                  <a:lnTo>
                    <a:pt x="494283" y="51562"/>
                  </a:lnTo>
                  <a:lnTo>
                    <a:pt x="454913" y="29718"/>
                  </a:lnTo>
                  <a:lnTo>
                    <a:pt x="412495" y="13588"/>
                  </a:lnTo>
                  <a:lnTo>
                    <a:pt x="367283" y="342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40096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28" y="272796"/>
                  </a:lnTo>
                  <a:lnTo>
                    <a:pt x="13588" y="227584"/>
                  </a:lnTo>
                  <a:lnTo>
                    <a:pt x="29717" y="185166"/>
                  </a:lnTo>
                  <a:lnTo>
                    <a:pt x="51562" y="145796"/>
                  </a:lnTo>
                  <a:lnTo>
                    <a:pt x="78486" y="110109"/>
                  </a:lnTo>
                  <a:lnTo>
                    <a:pt x="110108" y="78486"/>
                  </a:lnTo>
                  <a:lnTo>
                    <a:pt x="145795" y="51562"/>
                  </a:lnTo>
                  <a:lnTo>
                    <a:pt x="185165" y="29718"/>
                  </a:lnTo>
                  <a:lnTo>
                    <a:pt x="227583" y="13588"/>
                  </a:lnTo>
                  <a:lnTo>
                    <a:pt x="272795" y="3429"/>
                  </a:lnTo>
                  <a:lnTo>
                    <a:pt x="320039" y="0"/>
                  </a:lnTo>
                  <a:lnTo>
                    <a:pt x="367283" y="3429"/>
                  </a:lnTo>
                  <a:lnTo>
                    <a:pt x="412495" y="13588"/>
                  </a:lnTo>
                  <a:lnTo>
                    <a:pt x="454913" y="29718"/>
                  </a:lnTo>
                  <a:lnTo>
                    <a:pt x="494283" y="51562"/>
                  </a:lnTo>
                  <a:lnTo>
                    <a:pt x="529970" y="78486"/>
                  </a:lnTo>
                  <a:lnTo>
                    <a:pt x="561593" y="110109"/>
                  </a:lnTo>
                  <a:lnTo>
                    <a:pt x="588517" y="145796"/>
                  </a:lnTo>
                  <a:lnTo>
                    <a:pt x="610362" y="185166"/>
                  </a:lnTo>
                  <a:lnTo>
                    <a:pt x="626490" y="227584"/>
                  </a:lnTo>
                  <a:lnTo>
                    <a:pt x="636651" y="272796"/>
                  </a:lnTo>
                  <a:lnTo>
                    <a:pt x="640079" y="320040"/>
                  </a:lnTo>
                  <a:lnTo>
                    <a:pt x="636651" y="367284"/>
                  </a:lnTo>
                  <a:lnTo>
                    <a:pt x="626490" y="412496"/>
                  </a:lnTo>
                  <a:lnTo>
                    <a:pt x="610362" y="454913"/>
                  </a:lnTo>
                  <a:lnTo>
                    <a:pt x="588517" y="494284"/>
                  </a:lnTo>
                  <a:lnTo>
                    <a:pt x="561593" y="529971"/>
                  </a:lnTo>
                  <a:lnTo>
                    <a:pt x="529970" y="561594"/>
                  </a:lnTo>
                  <a:lnTo>
                    <a:pt x="494283" y="588518"/>
                  </a:lnTo>
                  <a:lnTo>
                    <a:pt x="454913" y="610362"/>
                  </a:lnTo>
                  <a:lnTo>
                    <a:pt x="412495" y="626491"/>
                  </a:lnTo>
                  <a:lnTo>
                    <a:pt x="367283" y="636651"/>
                  </a:lnTo>
                  <a:lnTo>
                    <a:pt x="320039" y="640080"/>
                  </a:lnTo>
                  <a:lnTo>
                    <a:pt x="272795" y="636651"/>
                  </a:lnTo>
                  <a:lnTo>
                    <a:pt x="227583" y="626491"/>
                  </a:lnTo>
                  <a:lnTo>
                    <a:pt x="185165" y="610362"/>
                  </a:lnTo>
                  <a:lnTo>
                    <a:pt x="145795" y="588518"/>
                  </a:lnTo>
                  <a:lnTo>
                    <a:pt x="110108" y="561594"/>
                  </a:lnTo>
                  <a:lnTo>
                    <a:pt x="78486" y="529971"/>
                  </a:lnTo>
                  <a:lnTo>
                    <a:pt x="51562" y="494284"/>
                  </a:lnTo>
                  <a:lnTo>
                    <a:pt x="29717" y="454913"/>
                  </a:lnTo>
                  <a:lnTo>
                    <a:pt x="13588" y="412496"/>
                  </a:lnTo>
                  <a:lnTo>
                    <a:pt x="3428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26864" y="2907792"/>
            <a:ext cx="2057400" cy="1719580"/>
          </a:xfrm>
          <a:prstGeom prst="rect">
            <a:avLst/>
          </a:prstGeom>
          <a:ln w="15240">
            <a:solidFill>
              <a:srgbClr val="0EB881"/>
            </a:solidFill>
          </a:ln>
        </p:spPr>
        <p:txBody>
          <a:bodyPr vert="horz" wrap="square" lIns="0" tIns="260985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205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0160" algn="ctr">
              <a:lnSpc>
                <a:spcPct val="100000"/>
              </a:lnSpc>
            </a:pPr>
            <a:r>
              <a:rPr sz="1200" b="1" spc="-20" dirty="0">
                <a:solidFill>
                  <a:srgbClr val="0EB881"/>
                </a:solidFill>
                <a:latin typeface="Times New Roman"/>
                <a:cs typeface="Times New Roman"/>
              </a:rPr>
              <a:t>Transaction</a:t>
            </a:r>
            <a:r>
              <a:rPr sz="1200" b="1" spc="10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EB881"/>
                </a:solidFill>
                <a:latin typeface="Times New Roman"/>
                <a:cs typeface="Times New Roman"/>
              </a:rPr>
              <a:t>Committed</a:t>
            </a:r>
            <a:endParaRPr sz="1200">
              <a:latin typeface="Times New Roman"/>
              <a:cs typeface="Times New Roman"/>
            </a:endParaRPr>
          </a:p>
          <a:p>
            <a:pPr marL="139065" marR="114935" indent="-5080" algn="just">
              <a:lnSpc>
                <a:spcPct val="100000"/>
              </a:lnSpc>
              <a:spcBef>
                <a:spcPts val="910"/>
              </a:spcBef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All</a:t>
            </a:r>
            <a:r>
              <a:rPr sz="95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DB</a:t>
            </a:r>
            <a:r>
              <a:rPr sz="95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writes</a:t>
            </a:r>
            <a:r>
              <a:rPr sz="95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committed</a:t>
            </a:r>
            <a:r>
              <a:rPr sz="95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atomically.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If</a:t>
            </a:r>
            <a:r>
              <a:rPr sz="950" spc="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any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step</a:t>
            </a:r>
            <a:r>
              <a:rPr sz="950" spc="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threw</a:t>
            </a:r>
            <a:r>
              <a:rPr sz="950" spc="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RuntimeException,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full</a:t>
            </a:r>
            <a:r>
              <a:rPr sz="9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rollback</a:t>
            </a:r>
            <a:r>
              <a:rPr sz="9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would</a:t>
            </a:r>
            <a:r>
              <a:rPr sz="95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have</a:t>
            </a:r>
            <a:r>
              <a:rPr sz="9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occurred.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48856" y="2907792"/>
            <a:ext cx="2057400" cy="1719580"/>
            <a:chOff x="6848856" y="2907792"/>
            <a:chExt cx="2057400" cy="1719580"/>
          </a:xfrm>
        </p:grpSpPr>
        <p:sp>
          <p:nvSpPr>
            <p:cNvPr id="39" name="object 39"/>
            <p:cNvSpPr/>
            <p:nvPr/>
          </p:nvSpPr>
          <p:spPr>
            <a:xfrm>
              <a:off x="6848856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62088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95" y="3429"/>
                  </a:lnTo>
                  <a:lnTo>
                    <a:pt x="227583" y="13588"/>
                  </a:lnTo>
                  <a:lnTo>
                    <a:pt x="185165" y="29718"/>
                  </a:lnTo>
                  <a:lnTo>
                    <a:pt x="145795" y="51562"/>
                  </a:lnTo>
                  <a:lnTo>
                    <a:pt x="110108" y="78486"/>
                  </a:lnTo>
                  <a:lnTo>
                    <a:pt x="78485" y="110109"/>
                  </a:lnTo>
                  <a:lnTo>
                    <a:pt x="51561" y="145796"/>
                  </a:lnTo>
                  <a:lnTo>
                    <a:pt x="29717" y="185166"/>
                  </a:lnTo>
                  <a:lnTo>
                    <a:pt x="13588" y="227584"/>
                  </a:lnTo>
                  <a:lnTo>
                    <a:pt x="3428" y="272796"/>
                  </a:lnTo>
                  <a:lnTo>
                    <a:pt x="0" y="320040"/>
                  </a:lnTo>
                  <a:lnTo>
                    <a:pt x="3428" y="367284"/>
                  </a:lnTo>
                  <a:lnTo>
                    <a:pt x="13588" y="412496"/>
                  </a:lnTo>
                  <a:lnTo>
                    <a:pt x="29717" y="454913"/>
                  </a:lnTo>
                  <a:lnTo>
                    <a:pt x="51561" y="494284"/>
                  </a:lnTo>
                  <a:lnTo>
                    <a:pt x="78485" y="529971"/>
                  </a:lnTo>
                  <a:lnTo>
                    <a:pt x="110108" y="561594"/>
                  </a:lnTo>
                  <a:lnTo>
                    <a:pt x="145795" y="588518"/>
                  </a:lnTo>
                  <a:lnTo>
                    <a:pt x="185165" y="610362"/>
                  </a:lnTo>
                  <a:lnTo>
                    <a:pt x="227583" y="626491"/>
                  </a:lnTo>
                  <a:lnTo>
                    <a:pt x="272795" y="636651"/>
                  </a:lnTo>
                  <a:lnTo>
                    <a:pt x="320039" y="640080"/>
                  </a:lnTo>
                  <a:lnTo>
                    <a:pt x="367283" y="636651"/>
                  </a:lnTo>
                  <a:lnTo>
                    <a:pt x="412495" y="626491"/>
                  </a:lnTo>
                  <a:lnTo>
                    <a:pt x="454913" y="610362"/>
                  </a:lnTo>
                  <a:lnTo>
                    <a:pt x="494283" y="588518"/>
                  </a:lnTo>
                  <a:lnTo>
                    <a:pt x="529970" y="561594"/>
                  </a:lnTo>
                  <a:lnTo>
                    <a:pt x="561593" y="529971"/>
                  </a:lnTo>
                  <a:lnTo>
                    <a:pt x="588517" y="494284"/>
                  </a:lnTo>
                  <a:lnTo>
                    <a:pt x="610361" y="454913"/>
                  </a:lnTo>
                  <a:lnTo>
                    <a:pt x="626490" y="412496"/>
                  </a:lnTo>
                  <a:lnTo>
                    <a:pt x="636651" y="367284"/>
                  </a:lnTo>
                  <a:lnTo>
                    <a:pt x="640079" y="320040"/>
                  </a:lnTo>
                  <a:lnTo>
                    <a:pt x="636651" y="272796"/>
                  </a:lnTo>
                  <a:lnTo>
                    <a:pt x="626490" y="227584"/>
                  </a:lnTo>
                  <a:lnTo>
                    <a:pt x="610361" y="185166"/>
                  </a:lnTo>
                  <a:lnTo>
                    <a:pt x="588517" y="145796"/>
                  </a:lnTo>
                  <a:lnTo>
                    <a:pt x="561593" y="110109"/>
                  </a:lnTo>
                  <a:lnTo>
                    <a:pt x="529970" y="78486"/>
                  </a:lnTo>
                  <a:lnTo>
                    <a:pt x="494283" y="51562"/>
                  </a:lnTo>
                  <a:lnTo>
                    <a:pt x="454913" y="29718"/>
                  </a:lnTo>
                  <a:lnTo>
                    <a:pt x="412495" y="13588"/>
                  </a:lnTo>
                  <a:lnTo>
                    <a:pt x="367283" y="342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62088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28" y="272796"/>
                  </a:lnTo>
                  <a:lnTo>
                    <a:pt x="13588" y="227584"/>
                  </a:lnTo>
                  <a:lnTo>
                    <a:pt x="29717" y="185166"/>
                  </a:lnTo>
                  <a:lnTo>
                    <a:pt x="51561" y="145796"/>
                  </a:lnTo>
                  <a:lnTo>
                    <a:pt x="78485" y="110109"/>
                  </a:lnTo>
                  <a:lnTo>
                    <a:pt x="110108" y="78486"/>
                  </a:lnTo>
                  <a:lnTo>
                    <a:pt x="145795" y="51562"/>
                  </a:lnTo>
                  <a:lnTo>
                    <a:pt x="185165" y="29718"/>
                  </a:lnTo>
                  <a:lnTo>
                    <a:pt x="227583" y="13588"/>
                  </a:lnTo>
                  <a:lnTo>
                    <a:pt x="272795" y="3429"/>
                  </a:lnTo>
                  <a:lnTo>
                    <a:pt x="320039" y="0"/>
                  </a:lnTo>
                  <a:lnTo>
                    <a:pt x="367283" y="3429"/>
                  </a:lnTo>
                  <a:lnTo>
                    <a:pt x="412495" y="13588"/>
                  </a:lnTo>
                  <a:lnTo>
                    <a:pt x="454913" y="29718"/>
                  </a:lnTo>
                  <a:lnTo>
                    <a:pt x="494283" y="51562"/>
                  </a:lnTo>
                  <a:lnTo>
                    <a:pt x="529970" y="78486"/>
                  </a:lnTo>
                  <a:lnTo>
                    <a:pt x="561593" y="110109"/>
                  </a:lnTo>
                  <a:lnTo>
                    <a:pt x="588517" y="145796"/>
                  </a:lnTo>
                  <a:lnTo>
                    <a:pt x="610361" y="185166"/>
                  </a:lnTo>
                  <a:lnTo>
                    <a:pt x="626490" y="227584"/>
                  </a:lnTo>
                  <a:lnTo>
                    <a:pt x="636651" y="272796"/>
                  </a:lnTo>
                  <a:lnTo>
                    <a:pt x="640079" y="320040"/>
                  </a:lnTo>
                  <a:lnTo>
                    <a:pt x="636651" y="367284"/>
                  </a:lnTo>
                  <a:lnTo>
                    <a:pt x="626490" y="412496"/>
                  </a:lnTo>
                  <a:lnTo>
                    <a:pt x="610361" y="454913"/>
                  </a:lnTo>
                  <a:lnTo>
                    <a:pt x="588517" y="494284"/>
                  </a:lnTo>
                  <a:lnTo>
                    <a:pt x="561593" y="529971"/>
                  </a:lnTo>
                  <a:lnTo>
                    <a:pt x="529970" y="561594"/>
                  </a:lnTo>
                  <a:lnTo>
                    <a:pt x="494283" y="588518"/>
                  </a:lnTo>
                  <a:lnTo>
                    <a:pt x="454913" y="610362"/>
                  </a:lnTo>
                  <a:lnTo>
                    <a:pt x="412495" y="626491"/>
                  </a:lnTo>
                  <a:lnTo>
                    <a:pt x="367283" y="636651"/>
                  </a:lnTo>
                  <a:lnTo>
                    <a:pt x="320039" y="640080"/>
                  </a:lnTo>
                  <a:lnTo>
                    <a:pt x="272795" y="636651"/>
                  </a:lnTo>
                  <a:lnTo>
                    <a:pt x="227583" y="626491"/>
                  </a:lnTo>
                  <a:lnTo>
                    <a:pt x="185165" y="610362"/>
                  </a:lnTo>
                  <a:lnTo>
                    <a:pt x="145795" y="588518"/>
                  </a:lnTo>
                  <a:lnTo>
                    <a:pt x="110108" y="561594"/>
                  </a:lnTo>
                  <a:lnTo>
                    <a:pt x="78485" y="529971"/>
                  </a:lnTo>
                  <a:lnTo>
                    <a:pt x="51561" y="494284"/>
                  </a:lnTo>
                  <a:lnTo>
                    <a:pt x="29717" y="454913"/>
                  </a:lnTo>
                  <a:lnTo>
                    <a:pt x="13588" y="412496"/>
                  </a:lnTo>
                  <a:lnTo>
                    <a:pt x="3428" y="367284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848856" y="2907792"/>
            <a:ext cx="2057400" cy="1719580"/>
          </a:xfrm>
          <a:prstGeom prst="rect">
            <a:avLst/>
          </a:prstGeom>
          <a:ln w="15240">
            <a:solidFill>
              <a:srgbClr val="0891B0"/>
            </a:solidFill>
          </a:ln>
        </p:spPr>
        <p:txBody>
          <a:bodyPr vert="horz" wrap="square" lIns="0" tIns="260985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205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</a:pPr>
            <a:r>
              <a:rPr sz="12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Response</a:t>
            </a:r>
            <a:r>
              <a:rPr sz="1200" b="1" spc="-4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Rendered</a:t>
            </a:r>
            <a:endParaRPr sz="1200">
              <a:latin typeface="Times New Roman"/>
              <a:cs typeface="Times New Roman"/>
            </a:endParaRPr>
          </a:p>
          <a:p>
            <a:pPr marL="124460" marR="107314" algn="ctr">
              <a:lnSpc>
                <a:spcPct val="100000"/>
              </a:lnSpc>
              <a:spcBef>
                <a:spcPts val="309"/>
              </a:spcBef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Controller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adds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success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flash</a:t>
            </a:r>
            <a:r>
              <a:rPr sz="950" spc="-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message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via</a:t>
            </a:r>
            <a:r>
              <a:rPr sz="950" spc="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92A1B8"/>
                </a:solidFill>
                <a:latin typeface="Times New Roman"/>
                <a:cs typeface="Times New Roman"/>
              </a:rPr>
              <a:t>RedirectAttributes,</a:t>
            </a:r>
            <a:r>
              <a:rPr sz="950" spc="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redirects</a:t>
            </a:r>
            <a:r>
              <a:rPr sz="95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2A1B8"/>
                </a:solidFill>
                <a:latin typeface="Times New Roman"/>
                <a:cs typeface="Times New Roman"/>
              </a:rPr>
              <a:t>to</a:t>
            </a:r>
            <a:endParaRPr sz="95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</a:pP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/orders</a:t>
            </a:r>
            <a:r>
              <a:rPr sz="95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—</a:t>
            </a:r>
            <a:r>
              <a:rPr sz="9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Thymeleaf</a:t>
            </a:r>
            <a:r>
              <a:rPr sz="95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renders</a:t>
            </a:r>
            <a:r>
              <a:rPr sz="95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updated</a:t>
            </a:r>
            <a:endParaRPr sz="95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</a:pPr>
            <a:r>
              <a:rPr sz="950" dirty="0">
                <a:solidFill>
                  <a:srgbClr val="92A1B8"/>
                </a:solidFill>
                <a:latin typeface="Times New Roman"/>
                <a:cs typeface="Times New Roman"/>
              </a:rPr>
              <a:t>order</a:t>
            </a:r>
            <a:r>
              <a:rPr sz="95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2A1B8"/>
                </a:solidFill>
                <a:latin typeface="Times New Roman"/>
                <a:cs typeface="Times New Roman"/>
              </a:rPr>
              <a:t>list.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70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spc="-10" dirty="0"/>
              <a:t>Approach?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21748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Design</a:t>
            </a:r>
            <a:r>
              <a:rPr sz="1300" i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Decisions</a:t>
            </a:r>
            <a:r>
              <a:rPr sz="1300" i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&amp;</a:t>
            </a:r>
            <a:r>
              <a:rPr sz="1300" i="1" spc="-3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Justification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785"/>
            <a:ext cx="8808085" cy="962660"/>
            <a:chOff x="137160" y="877785"/>
            <a:chExt cx="8808085" cy="962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785"/>
              <a:ext cx="8807958" cy="9624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84" y="960119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8540496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40496" y="749808"/>
                  </a:lnTo>
                  <a:lnTo>
                    <a:pt x="8540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19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960119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2" y="749808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0E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960119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2" y="749808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9184" y="960119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9184" y="960119"/>
            <a:ext cx="2240280" cy="749935"/>
          </a:xfrm>
          <a:prstGeom prst="rect">
            <a:avLst/>
          </a:prstGeom>
          <a:solidFill>
            <a:srgbClr val="0EB881">
              <a:alpha val="12156"/>
            </a:srgbClr>
          </a:solidFill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20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sz="1200" b="1" dirty="0">
                <a:solidFill>
                  <a:srgbClr val="0EB881"/>
                </a:solidFill>
                <a:latin typeface="Times New Roman"/>
                <a:cs typeface="Times New Roman"/>
              </a:rPr>
              <a:t>Why</a:t>
            </a:r>
            <a:r>
              <a:rPr sz="1200" b="1" spc="-45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B881"/>
                </a:solidFill>
                <a:latin typeface="Times New Roman"/>
                <a:cs typeface="Times New Roman"/>
              </a:rPr>
              <a:t>Spring</a:t>
            </a:r>
            <a:r>
              <a:rPr sz="1200" b="1" spc="-45" dirty="0">
                <a:solidFill>
                  <a:srgbClr val="0EB881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EB881"/>
                </a:solidFill>
                <a:latin typeface="Times New Roman"/>
                <a:cs typeface="Times New Roman"/>
              </a:rPr>
              <a:t>Boot?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75813" y="966469"/>
            <a:ext cx="6287770" cy="737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Times New Roman"/>
              <a:cs typeface="Times New Roman"/>
            </a:endParaRPr>
          </a:p>
          <a:p>
            <a:pPr marL="76200" marR="41211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Spring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Boot</a:t>
            </a:r>
            <a:r>
              <a:rPr sz="1100" spc="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eliminates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XML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configuration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boilerplate,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auto-configures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embedded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Tomcat,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provides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production-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ready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features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(actuator,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security)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out of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the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box</a:t>
            </a:r>
            <a:r>
              <a:rPr sz="11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100" spc="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significantly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reducing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development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7160" y="1719033"/>
            <a:ext cx="8808085" cy="962660"/>
            <a:chOff x="137160" y="1719033"/>
            <a:chExt cx="8808085" cy="96266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719033"/>
              <a:ext cx="8807958" cy="9624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9184" y="1801367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8540496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40496" y="749808"/>
                  </a:lnTo>
                  <a:lnTo>
                    <a:pt x="8540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801367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801367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2" y="749808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1801367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2" y="749808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9184" y="1801367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29184" y="1801367"/>
            <a:ext cx="2240280" cy="749935"/>
          </a:xfrm>
          <a:prstGeom prst="rect">
            <a:avLst/>
          </a:prstGeom>
          <a:solidFill>
            <a:srgbClr val="0891B0">
              <a:alpha val="12156"/>
            </a:srgbClr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imes New Roman"/>
              <a:cs typeface="Times New Roman"/>
            </a:endParaRPr>
          </a:p>
          <a:p>
            <a:pPr marL="81915" marR="799465">
              <a:lnSpc>
                <a:spcPct val="100000"/>
              </a:lnSpc>
            </a:pPr>
            <a:r>
              <a:rPr sz="12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Why</a:t>
            </a:r>
            <a:r>
              <a:rPr sz="1200" b="1" spc="-8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0"/>
                </a:solidFill>
                <a:latin typeface="Times New Roman"/>
                <a:cs typeface="Times New Roman"/>
              </a:rPr>
              <a:t>Thymeleaf</a:t>
            </a:r>
            <a:r>
              <a:rPr sz="1200" b="1" spc="-4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0891B0"/>
                </a:solidFill>
                <a:latin typeface="Times New Roman"/>
                <a:cs typeface="Times New Roman"/>
              </a:rPr>
              <a:t>over </a:t>
            </a:r>
            <a:r>
              <a:rPr sz="12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React/Angular?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75813" y="1807717"/>
            <a:ext cx="6287770" cy="737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Times New Roman"/>
              <a:cs typeface="Times New Roman"/>
            </a:endParaRPr>
          </a:p>
          <a:p>
            <a:pPr marL="76200" marR="17653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enterprise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MVC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application,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Thymeleaf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integrates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naturally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with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Spring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model</a:t>
            </a:r>
            <a:r>
              <a:rPr sz="11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attributes.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No</a:t>
            </a:r>
            <a:r>
              <a:rPr sz="1100" spc="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separate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frontend</a:t>
            </a:r>
            <a:r>
              <a:rPr sz="1100" spc="-9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build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pipeline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needed.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Server-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side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rendering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ensures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SEO</a:t>
            </a:r>
            <a:r>
              <a:rPr sz="1100" spc="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 immediate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page</a:t>
            </a:r>
            <a:r>
              <a:rPr sz="1100" spc="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7160" y="2560281"/>
            <a:ext cx="8808085" cy="962660"/>
            <a:chOff x="137160" y="2560281"/>
            <a:chExt cx="8808085" cy="96266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60281"/>
              <a:ext cx="8807958" cy="9624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9184" y="2642615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8540496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8540496" y="749807"/>
                  </a:lnTo>
                  <a:lnTo>
                    <a:pt x="8540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2642615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7"/>
                  </a:moveTo>
                  <a:lnTo>
                    <a:pt x="8595360" y="74980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" y="2642615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2" y="749807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89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2642615"/>
              <a:ext cx="2295525" cy="749935"/>
            </a:xfrm>
            <a:custGeom>
              <a:avLst/>
              <a:gdLst/>
              <a:ahLst/>
              <a:cxnLst/>
              <a:rect l="l" t="t" r="r" b="b"/>
              <a:pathLst>
                <a:path w="2295525" h="749935">
                  <a:moveTo>
                    <a:pt x="0" y="749807"/>
                  </a:moveTo>
                  <a:lnTo>
                    <a:pt x="54862" y="749807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  <a:path w="2295525" h="749935">
                  <a:moveTo>
                    <a:pt x="54864" y="749807"/>
                  </a:moveTo>
                  <a:lnTo>
                    <a:pt x="2295144" y="749807"/>
                  </a:lnTo>
                  <a:lnTo>
                    <a:pt x="2295144" y="0"/>
                  </a:lnTo>
                  <a:lnTo>
                    <a:pt x="54864" y="0"/>
                  </a:lnTo>
                  <a:lnTo>
                    <a:pt x="54864" y="749807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29184" y="2642616"/>
            <a:ext cx="2240280" cy="749935"/>
          </a:xfrm>
          <a:prstGeom prst="rect">
            <a:avLst/>
          </a:prstGeom>
          <a:solidFill>
            <a:srgbClr val="895CF6">
              <a:alpha val="12156"/>
            </a:srgbClr>
          </a:solidFill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120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895CF6"/>
                </a:solidFill>
                <a:latin typeface="Times New Roman"/>
                <a:cs typeface="Times New Roman"/>
              </a:rPr>
              <a:t>Why</a:t>
            </a:r>
            <a:r>
              <a:rPr sz="1200" b="1" spc="-75" dirty="0">
                <a:solidFill>
                  <a:srgbClr val="895CF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895CF6"/>
                </a:solidFill>
                <a:latin typeface="Times New Roman"/>
                <a:cs typeface="Times New Roman"/>
              </a:rPr>
              <a:t>Layered</a:t>
            </a:r>
            <a:r>
              <a:rPr sz="1200" b="1" spc="-20" dirty="0">
                <a:solidFill>
                  <a:srgbClr val="89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95CF6"/>
                </a:solidFill>
                <a:latin typeface="Times New Roman"/>
                <a:cs typeface="Times New Roman"/>
              </a:rPr>
              <a:t>Architecture?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75814" y="2648966"/>
            <a:ext cx="6287770" cy="737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Times New Roman"/>
              <a:cs typeface="Times New Roman"/>
            </a:endParaRPr>
          </a:p>
          <a:p>
            <a:pPr marL="76200" marR="186055">
              <a:lnSpc>
                <a:spcPct val="100000"/>
              </a:lnSpc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Strict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separation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of</a:t>
            </a:r>
            <a:r>
              <a:rPr sz="1100" spc="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Controller/Service/Repository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layers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enforces</a:t>
            </a:r>
            <a:r>
              <a:rPr sz="1100" spc="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Single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Responsibility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Principle.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Each</a:t>
            </a:r>
            <a:r>
              <a:rPr sz="1100" spc="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layer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can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be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unit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tested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independently,</a:t>
            </a:r>
            <a:r>
              <a:rPr sz="11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business</a:t>
            </a:r>
            <a:r>
              <a:rPr sz="1100" spc="-8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logic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changes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don't</a:t>
            </a:r>
            <a:r>
              <a:rPr sz="1100" spc="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ripple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to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the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presentation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layer.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7160" y="3401555"/>
            <a:ext cx="8808085" cy="962660"/>
            <a:chOff x="137160" y="3401555"/>
            <a:chExt cx="8808085" cy="96266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401555"/>
              <a:ext cx="8807958" cy="9624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9184" y="3483863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8540496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40496" y="749808"/>
                  </a:lnTo>
                  <a:lnTo>
                    <a:pt x="8540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320" y="3483863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320" y="3483863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2" y="749808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483863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2" y="749808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9184" y="3483863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8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9184" y="3483864"/>
            <a:ext cx="2240280" cy="749935"/>
          </a:xfrm>
          <a:prstGeom prst="rect">
            <a:avLst/>
          </a:prstGeom>
          <a:solidFill>
            <a:srgbClr val="F87316">
              <a:alpha val="12156"/>
            </a:srgbClr>
          </a:solidFill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Times New Roman"/>
              <a:cs typeface="Times New Roman"/>
            </a:endParaRPr>
          </a:p>
          <a:p>
            <a:pPr marL="81915" marR="30353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Why</a:t>
            </a:r>
            <a:r>
              <a:rPr sz="1200" b="1" spc="-3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@Transactional </a:t>
            </a: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for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All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Operations?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75813" y="3490214"/>
            <a:ext cx="6287770" cy="737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1100">
              <a:latin typeface="Times New Roman"/>
              <a:cs typeface="Times New Roman"/>
            </a:endParaRPr>
          </a:p>
          <a:p>
            <a:pPr marL="76200" marR="319405">
              <a:lnSpc>
                <a:spcPct val="100000"/>
              </a:lnSpc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Inventory</a:t>
            </a:r>
            <a:r>
              <a:rPr sz="1100" spc="-3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operations</a:t>
            </a:r>
            <a:r>
              <a:rPr sz="1100" spc="-8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inherently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involve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multiple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DB</a:t>
            </a:r>
            <a:r>
              <a:rPr sz="1100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writes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(stock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+</a:t>
            </a:r>
            <a:r>
              <a:rPr sz="11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order</a:t>
            </a:r>
            <a:r>
              <a:rPr sz="1100" spc="-5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+</a:t>
            </a:r>
            <a:r>
              <a:rPr sz="11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ledger).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Without</a:t>
            </a:r>
            <a:r>
              <a:rPr sz="1100" spc="-8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atomicity,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a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server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crash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mid-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operation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would</a:t>
            </a:r>
            <a:r>
              <a:rPr sz="11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leave</a:t>
            </a:r>
            <a:r>
              <a:rPr sz="1100" spc="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data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</a:t>
            </a:r>
            <a:r>
              <a:rPr sz="1100" spc="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inconsistent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state</a:t>
            </a:r>
            <a:r>
              <a:rPr sz="1100" spc="-3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—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unacceptable</a:t>
            </a:r>
            <a:r>
              <a:rPr sz="1100" spc="-7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in</a:t>
            </a:r>
            <a:r>
              <a:rPr sz="1100" spc="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enterprise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37160" y="4242813"/>
            <a:ext cx="8808085" cy="901065"/>
            <a:chOff x="137160" y="4242813"/>
            <a:chExt cx="8808085" cy="90106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4242813"/>
              <a:ext cx="8807958" cy="90068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29184" y="4325110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8540496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40496" y="749808"/>
                  </a:lnTo>
                  <a:lnTo>
                    <a:pt x="8540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4320" y="4325110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4320" y="432511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2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2" y="749808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ED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320" y="4325110"/>
              <a:ext cx="2295525" cy="749935"/>
            </a:xfrm>
            <a:custGeom>
              <a:avLst/>
              <a:gdLst/>
              <a:ahLst/>
              <a:cxnLst/>
              <a:rect l="l" t="t" r="r" b="b"/>
              <a:pathLst>
                <a:path w="2295525" h="749935">
                  <a:moveTo>
                    <a:pt x="0" y="749808"/>
                  </a:moveTo>
                  <a:lnTo>
                    <a:pt x="54862" y="749808"/>
                  </a:lnTo>
                  <a:lnTo>
                    <a:pt x="54862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  <a:path w="2295525" h="749935">
                  <a:moveTo>
                    <a:pt x="54864" y="749808"/>
                  </a:moveTo>
                  <a:lnTo>
                    <a:pt x="2295144" y="749808"/>
                  </a:lnTo>
                  <a:lnTo>
                    <a:pt x="2295144" y="0"/>
                  </a:lnTo>
                  <a:lnTo>
                    <a:pt x="54864" y="0"/>
                  </a:lnTo>
                  <a:lnTo>
                    <a:pt x="54864" y="749808"/>
                  </a:lnTo>
                  <a:close/>
                </a:path>
              </a:pathLst>
            </a:custGeom>
            <a:ln w="1270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9184" y="4325110"/>
            <a:ext cx="2240280" cy="749935"/>
          </a:xfrm>
          <a:prstGeom prst="rect">
            <a:avLst/>
          </a:prstGeom>
          <a:solidFill>
            <a:srgbClr val="ED4444">
              <a:alpha val="12156"/>
            </a:srgbClr>
          </a:solidFill>
        </p:spPr>
        <p:txBody>
          <a:bodyPr vert="horz" wrap="square" lIns="0" tIns="100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endParaRPr sz="120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sz="1200" b="1" dirty="0">
                <a:solidFill>
                  <a:srgbClr val="ED4444"/>
                </a:solidFill>
                <a:latin typeface="Times New Roman"/>
                <a:cs typeface="Times New Roman"/>
              </a:rPr>
              <a:t>Why</a:t>
            </a:r>
            <a:r>
              <a:rPr sz="1200" b="1" spc="-55" dirty="0">
                <a:solidFill>
                  <a:srgbClr val="ED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4444"/>
                </a:solidFill>
                <a:latin typeface="Times New Roman"/>
                <a:cs typeface="Times New Roman"/>
              </a:rPr>
              <a:t>a</a:t>
            </a:r>
            <a:r>
              <a:rPr sz="1200" b="1" spc="-30" dirty="0">
                <a:solidFill>
                  <a:srgbClr val="ED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4444"/>
                </a:solidFill>
                <a:latin typeface="Times New Roman"/>
                <a:cs typeface="Times New Roman"/>
              </a:rPr>
              <a:t>Simulation</a:t>
            </a:r>
            <a:r>
              <a:rPr sz="1200" b="1" spc="-15" dirty="0">
                <a:solidFill>
                  <a:srgbClr val="ED4444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D4444"/>
                </a:solidFill>
                <a:latin typeface="Times New Roman"/>
                <a:cs typeface="Times New Roman"/>
              </a:rPr>
              <a:t>Module?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75814" y="4331460"/>
            <a:ext cx="6287770" cy="737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Real-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world</a:t>
            </a:r>
            <a:r>
              <a:rPr sz="1100" spc="-1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systems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are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tested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under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load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before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production.</a:t>
            </a:r>
            <a:r>
              <a:rPr sz="1100" spc="-5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The simulation</a:t>
            </a:r>
            <a:r>
              <a:rPr sz="1100" spc="-4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module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validates</a:t>
            </a:r>
            <a:r>
              <a:rPr sz="1100" spc="-6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behavior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under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concurrent</a:t>
            </a:r>
            <a:r>
              <a:rPr sz="1100" spc="-8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order</a:t>
            </a:r>
            <a:r>
              <a:rPr sz="1100" spc="-20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processing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ensures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threshold</a:t>
            </a:r>
            <a:r>
              <a:rPr sz="1100" spc="-7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logic</a:t>
            </a:r>
            <a:r>
              <a:rPr sz="1100" spc="-2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fires</a:t>
            </a:r>
            <a:r>
              <a:rPr sz="1100" spc="-4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correctly</a:t>
            </a:r>
            <a:r>
              <a:rPr sz="1100" spc="-65" dirty="0">
                <a:solidFill>
                  <a:srgbClr val="1E293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9"/>
                </a:solidFill>
                <a:latin typeface="Times New Roman"/>
                <a:cs typeface="Times New Roman"/>
              </a:rPr>
              <a:t>at</a:t>
            </a:r>
            <a:r>
              <a:rPr sz="1100" spc="-10" dirty="0">
                <a:solidFill>
                  <a:srgbClr val="1E2939"/>
                </a:solidFill>
                <a:latin typeface="Times New Roman"/>
                <a:cs typeface="Times New Roman"/>
              </a:rPr>
              <a:t> scale.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8"/>
            <a:ext cx="9156700" cy="5149850"/>
            <a:chOff x="-6350" y="-6348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5070475"/>
            </a:xfrm>
            <a:custGeom>
              <a:avLst/>
              <a:gdLst/>
              <a:ahLst/>
              <a:cxnLst/>
              <a:rect l="l" t="t" r="r" b="b"/>
              <a:pathLst>
                <a:path w="9144000" h="5070475">
                  <a:moveTo>
                    <a:pt x="0" y="5070347"/>
                  </a:moveTo>
                  <a:lnTo>
                    <a:pt x="9144000" y="507034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070347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95" y="43740"/>
            <a:ext cx="4896485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pc="-20" dirty="0">
                <a:solidFill>
                  <a:srgbClr val="000000"/>
                </a:solidFill>
              </a:rPr>
              <a:t>Project</a:t>
            </a:r>
            <a:r>
              <a:rPr spc="-2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Achievements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Outcomes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What</a:t>
            </a:r>
            <a:r>
              <a:rPr sz="1300" b="0" i="1" spc="-1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Was</a:t>
            </a:r>
            <a:r>
              <a:rPr sz="1300" b="0" i="1" spc="-2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Delivered</a:t>
            </a:r>
            <a:r>
              <a:rPr sz="1300" b="0" i="1" spc="-5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6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What Was</a:t>
            </a:r>
            <a:r>
              <a:rPr sz="1300" b="0" i="1" spc="-3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Learned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320" y="1005839"/>
            <a:ext cx="2011680" cy="1417320"/>
          </a:xfrm>
          <a:prstGeom prst="rect">
            <a:avLst/>
          </a:prstGeom>
          <a:solidFill>
            <a:srgbClr val="1B2A3C"/>
          </a:solidFill>
          <a:ln w="19050">
            <a:solidFill>
              <a:srgbClr val="0891B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4000" b="1" spc="-25" dirty="0">
                <a:solidFill>
                  <a:srgbClr val="0891B0"/>
                </a:solidFill>
                <a:latin typeface="Times New Roman"/>
                <a:cs typeface="Times New Roman"/>
              </a:rPr>
              <a:t>7+</a:t>
            </a:r>
            <a:endParaRPr sz="4000">
              <a:latin typeface="Times New Roman"/>
              <a:cs typeface="Times New Roman"/>
            </a:endParaRPr>
          </a:p>
          <a:p>
            <a:pPr marL="617220" marR="600075" algn="ctr">
              <a:lnSpc>
                <a:spcPct val="100000"/>
              </a:lnSpc>
              <a:spcBef>
                <a:spcPts val="15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Modules Delivered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3160" y="1005839"/>
            <a:ext cx="2011680" cy="1417320"/>
          </a:xfrm>
          <a:prstGeom prst="rect">
            <a:avLst/>
          </a:prstGeom>
          <a:solidFill>
            <a:srgbClr val="1B2A3C"/>
          </a:solidFill>
          <a:ln w="19050">
            <a:solidFill>
              <a:srgbClr val="0EB881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50"/>
              </a:spcBef>
            </a:pPr>
            <a:r>
              <a:rPr sz="4000" b="1" spc="-20" dirty="0">
                <a:solidFill>
                  <a:srgbClr val="0EB881"/>
                </a:solidFill>
                <a:latin typeface="Times New Roman"/>
                <a:cs typeface="Times New Roman"/>
              </a:rPr>
              <a:t>100%</a:t>
            </a:r>
            <a:endParaRPr sz="4000">
              <a:latin typeface="Times New Roman"/>
              <a:cs typeface="Times New Roman"/>
            </a:endParaRPr>
          </a:p>
          <a:p>
            <a:pPr marL="536575" marR="520700" algn="ctr">
              <a:lnSpc>
                <a:spcPct val="100000"/>
              </a:lnSpc>
              <a:spcBef>
                <a:spcPts val="1500"/>
              </a:spcBef>
            </a:pPr>
            <a:r>
              <a:rPr sz="1100" spc="-45" dirty="0">
                <a:solidFill>
                  <a:srgbClr val="FFFFFF"/>
                </a:solidFill>
                <a:latin typeface="Times New Roman"/>
                <a:cs typeface="Times New Roman"/>
              </a:rPr>
              <a:t>ACID-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Compliant Transactions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0" y="1005839"/>
            <a:ext cx="2011680" cy="1417320"/>
          </a:xfrm>
          <a:prstGeom prst="rect">
            <a:avLst/>
          </a:prstGeom>
          <a:solidFill>
            <a:srgbClr val="1B2A3C"/>
          </a:solidFill>
          <a:ln w="19050">
            <a:solidFill>
              <a:srgbClr val="895CF6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750"/>
              </a:spcBef>
            </a:pPr>
            <a:r>
              <a:rPr sz="4000" b="1" spc="-50" dirty="0">
                <a:solidFill>
                  <a:srgbClr val="895CF6"/>
                </a:solidFill>
                <a:latin typeface="Times New Roman"/>
                <a:cs typeface="Times New Roman"/>
              </a:rPr>
              <a:t>3</a:t>
            </a:r>
            <a:endParaRPr sz="4000">
              <a:latin typeface="Times New Roman"/>
              <a:cs typeface="Times New Roman"/>
            </a:endParaRPr>
          </a:p>
          <a:p>
            <a:pPr marL="706120" marR="687705" algn="ctr">
              <a:lnSpc>
                <a:spcPct val="100000"/>
              </a:lnSpc>
              <a:spcBef>
                <a:spcPts val="15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1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Roles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(RBAC)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0840" y="1005839"/>
            <a:ext cx="2011680" cy="1417320"/>
          </a:xfrm>
          <a:prstGeom prst="rect">
            <a:avLst/>
          </a:prstGeom>
          <a:solidFill>
            <a:srgbClr val="1B2A3C"/>
          </a:solidFill>
          <a:ln w="19050">
            <a:solidFill>
              <a:srgbClr val="F87316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750"/>
              </a:spcBef>
            </a:pPr>
            <a:r>
              <a:rPr sz="40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4</a:t>
            </a:r>
            <a:endParaRPr sz="4000">
              <a:latin typeface="Times New Roman"/>
              <a:cs typeface="Times New Roman"/>
            </a:endParaRPr>
          </a:p>
          <a:p>
            <a:pPr marL="668655" marR="648970" algn="ctr">
              <a:lnSpc>
                <a:spcPct val="100000"/>
              </a:lnSpc>
              <a:spcBef>
                <a:spcPts val="1500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 Layers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60" y="2523730"/>
            <a:ext cx="3001645" cy="2590165"/>
            <a:chOff x="137160" y="2523730"/>
            <a:chExt cx="3001645" cy="25901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23730"/>
              <a:ext cx="3001518" cy="259003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320" y="2953512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2788920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2788920" y="2029968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2606040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698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2606040"/>
              <a:ext cx="2788920" cy="347980"/>
            </a:xfrm>
            <a:custGeom>
              <a:avLst/>
              <a:gdLst/>
              <a:ahLst/>
              <a:cxnLst/>
              <a:rect l="l" t="t" r="r" b="b"/>
              <a:pathLst>
                <a:path w="2788920" h="347980">
                  <a:moveTo>
                    <a:pt x="0" y="347980"/>
                  </a:moveTo>
                  <a:lnTo>
                    <a:pt x="2788920" y="34798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34798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7970" y="2599689"/>
            <a:ext cx="2801620" cy="360680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8064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Skills</a:t>
            </a:r>
            <a:r>
              <a:rPr sz="12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Gained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2562" y="2523730"/>
            <a:ext cx="5632450" cy="2590165"/>
            <a:chOff x="432562" y="2523730"/>
            <a:chExt cx="5632450" cy="259016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2" y="3175763"/>
              <a:ext cx="122428" cy="1224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2" y="3578098"/>
              <a:ext cx="122428" cy="1224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562" y="4135882"/>
              <a:ext cx="122428" cy="1224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562" y="4607852"/>
              <a:ext cx="122428" cy="12242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0" y="2523730"/>
              <a:ext cx="3001517" cy="259003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00400" y="2953512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2788920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2788920" y="2029968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400" y="2606040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0" y="2606040"/>
              <a:ext cx="2788920" cy="347980"/>
            </a:xfrm>
            <a:custGeom>
              <a:avLst/>
              <a:gdLst/>
              <a:ahLst/>
              <a:cxnLst/>
              <a:rect l="l" t="t" r="r" b="b"/>
              <a:pathLst>
                <a:path w="2788920" h="347980">
                  <a:moveTo>
                    <a:pt x="0" y="347980"/>
                  </a:moveTo>
                  <a:lnTo>
                    <a:pt x="2788920" y="34798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347980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1791" y="3133090"/>
            <a:ext cx="2215515" cy="115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Spring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Boot</a:t>
            </a:r>
            <a:r>
              <a:rPr sz="110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auto-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configuration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mastery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JPA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entity</a:t>
            </a:r>
            <a:r>
              <a:rPr sz="1100" spc="-7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relationships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(OneToMany,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ManyToOne)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@Transactional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rollback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handling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1791" y="4560214"/>
            <a:ext cx="176593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Thymeleaf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fragment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templating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94050" y="2599689"/>
            <a:ext cx="2801620" cy="360680"/>
          </a:xfrm>
          <a:prstGeom prst="rect">
            <a:avLst/>
          </a:prstGeom>
          <a:solidFill>
            <a:srgbClr val="0EB881"/>
          </a:solidFill>
        </p:spPr>
        <p:txBody>
          <a:bodyPr vert="horz" wrap="square" lIns="0" tIns="8064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12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sz="1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52419" y="2523730"/>
            <a:ext cx="5638800" cy="2590165"/>
            <a:chOff x="3352419" y="2523730"/>
            <a:chExt cx="5638800" cy="2590165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8642" y="3166619"/>
              <a:ext cx="122427" cy="12242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3689" y="3660394"/>
              <a:ext cx="122426" cy="1224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2419" y="4126014"/>
              <a:ext cx="122426" cy="12242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62960" y="4601502"/>
              <a:ext cx="122426" cy="12242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9320" y="2523730"/>
              <a:ext cx="3001518" cy="259003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126479" y="2953512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2788920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2788920" y="2029968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26479" y="2606040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26479" y="2606040"/>
              <a:ext cx="2788920" cy="347980"/>
            </a:xfrm>
            <a:custGeom>
              <a:avLst/>
              <a:gdLst/>
              <a:ahLst/>
              <a:cxnLst/>
              <a:rect l="l" t="t" r="r" b="b"/>
              <a:pathLst>
                <a:path w="2788920" h="347980">
                  <a:moveTo>
                    <a:pt x="0" y="347980"/>
                  </a:moveTo>
                  <a:lnTo>
                    <a:pt x="2788920" y="34798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347980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549141" y="3133090"/>
            <a:ext cx="20173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Full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CRUD</a:t>
            </a:r>
            <a:r>
              <a:rPr sz="1100" spc="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all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inventory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entities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49141" y="3609213"/>
            <a:ext cx="176148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Real-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time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alert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dashboard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49141" y="4084726"/>
            <a:ext cx="175196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Simulation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engine</a:t>
            </a:r>
            <a:r>
              <a:rPr sz="11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with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logging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49141" y="4560214"/>
            <a:ext cx="144526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Role-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based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access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control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20129" y="2599689"/>
            <a:ext cx="2801620" cy="360680"/>
          </a:xfrm>
          <a:prstGeom prst="rect">
            <a:avLst/>
          </a:prstGeom>
          <a:solidFill>
            <a:srgbClr val="895CF6"/>
          </a:solidFill>
        </p:spPr>
        <p:txBody>
          <a:bodyPr vert="horz" wrap="square" lIns="0" tIns="8064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12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Principles</a:t>
            </a:r>
            <a:r>
              <a:rPr sz="12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Applied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84721" y="3175763"/>
            <a:ext cx="122555" cy="1555115"/>
            <a:chOff x="6284721" y="3175763"/>
            <a:chExt cx="122555" cy="1555115"/>
          </a:xfrm>
        </p:grpSpPr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4721" y="3175763"/>
              <a:ext cx="122426" cy="12242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4721" y="3651250"/>
              <a:ext cx="122426" cy="12242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84721" y="4135399"/>
              <a:ext cx="122426" cy="12242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84721" y="4607852"/>
              <a:ext cx="122426" cy="12242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475729" y="3133090"/>
            <a:ext cx="195516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SOLID</a:t>
            </a:r>
            <a:r>
              <a:rPr sz="1100" spc="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principles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service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design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75729" y="3609213"/>
            <a:ext cx="20110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DRY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via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utility</a:t>
            </a:r>
            <a:r>
              <a:rPr sz="1100" spc="-8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classes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&amp;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fragments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75729" y="4084726"/>
            <a:ext cx="18141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Separation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of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Concerns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layers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75729" y="4560214"/>
            <a:ext cx="175958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Fail-fast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validation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at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controller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Real-</a:t>
            </a:r>
            <a:r>
              <a:rPr dirty="0"/>
              <a:t>World</a:t>
            </a:r>
            <a:r>
              <a:rPr spc="-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665479"/>
            <a:ext cx="23406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Industry</a:t>
            </a:r>
            <a:r>
              <a:rPr sz="1300" i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Use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Cases</a:t>
            </a:r>
            <a:r>
              <a:rPr sz="1300" i="1" spc="-5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for</a:t>
            </a:r>
            <a:r>
              <a:rPr sz="1300" i="1" spc="-4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0"/>
                </a:solidFill>
                <a:latin typeface="Times New Roman"/>
                <a:cs typeface="Times New Roman"/>
              </a:rPr>
              <a:t>This</a:t>
            </a:r>
            <a:r>
              <a:rPr sz="1300" i="1" spc="-35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0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824"/>
            <a:ext cx="2955925" cy="2023110"/>
            <a:chOff x="137160" y="877824"/>
            <a:chExt cx="2955925" cy="2023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824"/>
              <a:ext cx="2955798" cy="20231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2743200" y="0"/>
                  </a:moveTo>
                  <a:lnTo>
                    <a:pt x="0" y="0"/>
                  </a:lnTo>
                  <a:lnTo>
                    <a:pt x="0" y="1426463"/>
                  </a:lnTo>
                  <a:lnTo>
                    <a:pt x="2743200" y="1426463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960120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0" y="384175"/>
                  </a:moveTo>
                  <a:lnTo>
                    <a:pt x="2743200" y="384175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4175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7970" y="953769"/>
            <a:ext cx="2755900" cy="396875"/>
          </a:xfrm>
          <a:prstGeom prst="rect">
            <a:avLst/>
          </a:prstGeom>
          <a:solidFill>
            <a:srgbClr val="0891B0"/>
          </a:solidFill>
        </p:spPr>
        <p:txBody>
          <a:bodyPr vert="horz" wrap="square" lIns="0" tIns="8953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Retail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E-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Commerce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79" y="1397508"/>
            <a:ext cx="915162" cy="74599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0670" y="2096262"/>
            <a:ext cx="273050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116205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Track</a:t>
            </a:r>
            <a:r>
              <a:rPr sz="1100" spc="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SKUs</a:t>
            </a:r>
            <a:r>
              <a:rPr sz="1100" spc="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across</a:t>
            </a:r>
            <a:r>
              <a:rPr sz="1100" spc="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multiple</a:t>
            </a:r>
            <a:r>
              <a:rPr sz="1100" spc="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outlets,</a:t>
            </a:r>
            <a:r>
              <a:rPr sz="1100" spc="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reorder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points,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sync</a:t>
            </a:r>
            <a:r>
              <a:rPr sz="1100" spc="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online and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in-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store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stock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real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time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prevent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overselling.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4951" y="877824"/>
            <a:ext cx="2955925" cy="2023110"/>
            <a:chOff x="3044951" y="877824"/>
            <a:chExt cx="2955925" cy="20231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877824"/>
              <a:ext cx="2955798" cy="20231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82111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2743200" y="0"/>
                  </a:moveTo>
                  <a:lnTo>
                    <a:pt x="0" y="0"/>
                  </a:lnTo>
                  <a:lnTo>
                    <a:pt x="0" y="1426463"/>
                  </a:lnTo>
                  <a:lnTo>
                    <a:pt x="2743200" y="1426463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82111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82111" y="960120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0" y="384175"/>
                  </a:moveTo>
                  <a:lnTo>
                    <a:pt x="2743200" y="384175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4175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75761" y="953769"/>
            <a:ext cx="2755900" cy="396875"/>
          </a:xfrm>
          <a:prstGeom prst="rect">
            <a:avLst/>
          </a:prstGeom>
          <a:solidFill>
            <a:srgbClr val="F87316"/>
          </a:solidFill>
        </p:spPr>
        <p:txBody>
          <a:bodyPr vert="horz" wrap="square" lIns="0" tIns="8953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Manufacturing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0672" y="1397508"/>
            <a:ext cx="915162" cy="74599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188461" y="2012442"/>
            <a:ext cx="273050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9685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Monitor</a:t>
            </a:r>
            <a:r>
              <a:rPr sz="1100" spc="-9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raw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material</a:t>
            </a:r>
            <a:r>
              <a:rPr sz="1100" spc="-9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inventory,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track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work- 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in-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progress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stock,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manage finished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goods,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coordinate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with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suppliers</a:t>
            </a:r>
            <a:r>
              <a:rPr sz="1100" spc="-9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JIT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procurement.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52744" y="877824"/>
            <a:ext cx="2955925" cy="2023110"/>
            <a:chOff x="5952744" y="877824"/>
            <a:chExt cx="2955925" cy="202311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877824"/>
              <a:ext cx="2955798" cy="20231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89904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2743200" y="0"/>
                  </a:moveTo>
                  <a:lnTo>
                    <a:pt x="0" y="0"/>
                  </a:lnTo>
                  <a:lnTo>
                    <a:pt x="0" y="1426463"/>
                  </a:lnTo>
                  <a:lnTo>
                    <a:pt x="2743200" y="1426463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89904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89904" y="960120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0" y="384175"/>
                  </a:moveTo>
                  <a:lnTo>
                    <a:pt x="2743200" y="384175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4175"/>
                  </a:lnTo>
                  <a:close/>
                </a:path>
              </a:pathLst>
            </a:custGeom>
            <a:ln w="12700">
              <a:solidFill>
                <a:srgbClr val="ED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83553" y="953769"/>
            <a:ext cx="2755900" cy="396875"/>
          </a:xfrm>
          <a:prstGeom prst="rect">
            <a:avLst/>
          </a:prstGeom>
          <a:solidFill>
            <a:srgbClr val="ED4444"/>
          </a:solidFill>
        </p:spPr>
        <p:txBody>
          <a:bodyPr vert="horz" wrap="square" lIns="0" tIns="8953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Healthcare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Pharmacy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8464" y="1397508"/>
            <a:ext cx="915162" cy="74599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096253" y="2012442"/>
            <a:ext cx="273050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243204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Track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medical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supply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expiry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dates,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critical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thresholds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life-saving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medicines,</a:t>
            </a:r>
            <a:r>
              <a:rPr sz="1100" spc="-6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automate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procurement</a:t>
            </a:r>
            <a:r>
              <a:rPr sz="1100" spc="-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of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low-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stock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items.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7160" y="2843783"/>
            <a:ext cx="2955925" cy="2023110"/>
            <a:chOff x="137160" y="2843783"/>
            <a:chExt cx="2955925" cy="202311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843783"/>
              <a:ext cx="2955798" cy="202311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4320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2743200" y="0"/>
                  </a:moveTo>
                  <a:lnTo>
                    <a:pt x="0" y="0"/>
                  </a:lnTo>
                  <a:lnTo>
                    <a:pt x="0" y="1426464"/>
                  </a:lnTo>
                  <a:lnTo>
                    <a:pt x="2743200" y="1426464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320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4320" y="2926079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0" y="384175"/>
                  </a:moveTo>
                  <a:lnTo>
                    <a:pt x="2743200" y="384175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4175"/>
                  </a:lnTo>
                  <a:close/>
                </a:path>
              </a:pathLst>
            </a:custGeom>
            <a:ln w="12700">
              <a:solidFill>
                <a:srgbClr val="89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67970" y="2919729"/>
            <a:ext cx="2755900" cy="396875"/>
          </a:xfrm>
          <a:prstGeom prst="rect">
            <a:avLst/>
          </a:prstGeom>
          <a:solidFill>
            <a:srgbClr val="895CF6"/>
          </a:solidFill>
        </p:spPr>
        <p:txBody>
          <a:bodyPr vert="horz" wrap="square" lIns="0" tIns="9017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Warehousing</a:t>
            </a:r>
            <a:r>
              <a:rPr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879" y="3363467"/>
            <a:ext cx="915162" cy="74599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80670" y="4063390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1270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Multi-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location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stock tracking,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shipment management,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inbound/outbound</a:t>
            </a:r>
            <a:r>
              <a:rPr sz="1100" spc="-8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logging,</a:t>
            </a:r>
            <a:r>
              <a:rPr sz="1100" spc="5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and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automated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space</a:t>
            </a:r>
            <a:r>
              <a:rPr sz="1100" spc="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optimization alerts.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044951" y="2843783"/>
            <a:ext cx="2955925" cy="2023110"/>
            <a:chOff x="3044951" y="2843783"/>
            <a:chExt cx="2955925" cy="202311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2843783"/>
              <a:ext cx="2955798" cy="202311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182111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2743200" y="0"/>
                  </a:moveTo>
                  <a:lnTo>
                    <a:pt x="0" y="0"/>
                  </a:lnTo>
                  <a:lnTo>
                    <a:pt x="0" y="1426464"/>
                  </a:lnTo>
                  <a:lnTo>
                    <a:pt x="2743200" y="1426464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82111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82111" y="2926079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0" y="384175"/>
                  </a:moveTo>
                  <a:lnTo>
                    <a:pt x="2743200" y="384175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4175"/>
                  </a:lnTo>
                  <a:close/>
                </a:path>
              </a:pathLst>
            </a:custGeom>
            <a:ln w="12700">
              <a:solidFill>
                <a:srgbClr val="0E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175761" y="2919729"/>
            <a:ext cx="2755900" cy="396875"/>
          </a:xfrm>
          <a:prstGeom prst="rect">
            <a:avLst/>
          </a:prstGeom>
          <a:solidFill>
            <a:srgbClr val="0EB881"/>
          </a:solidFill>
        </p:spPr>
        <p:txBody>
          <a:bodyPr vert="horz" wrap="square" lIns="0" tIns="9017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Restaurant</a:t>
            </a:r>
            <a:r>
              <a:rPr sz="13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F&amp;B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90672" y="3363467"/>
            <a:ext cx="915162" cy="745997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188461" y="4063390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9812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Manage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perishable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ingredient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inventory,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track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daily</a:t>
            </a:r>
            <a:r>
              <a:rPr sz="1100" spc="-4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consumption</a:t>
            </a:r>
            <a:r>
              <a:rPr sz="1100" spc="-6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patterns,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set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critical thresholds</a:t>
            </a:r>
            <a:r>
              <a:rPr sz="1100" spc="-8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essential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ingredients.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952744" y="2843783"/>
            <a:ext cx="2955925" cy="2023110"/>
            <a:chOff x="5952744" y="2843783"/>
            <a:chExt cx="2955925" cy="202311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2843783"/>
              <a:ext cx="2955798" cy="202311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089904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2743200" y="0"/>
                  </a:moveTo>
                  <a:lnTo>
                    <a:pt x="0" y="0"/>
                  </a:lnTo>
                  <a:lnTo>
                    <a:pt x="0" y="1426464"/>
                  </a:lnTo>
                  <a:lnTo>
                    <a:pt x="2743200" y="1426464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89904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89904" y="2926079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0" y="384175"/>
                  </a:moveTo>
                  <a:lnTo>
                    <a:pt x="2743200" y="384175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4175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083553" y="2919729"/>
            <a:ext cx="2755900" cy="396875"/>
          </a:xfrm>
          <a:prstGeom prst="rect">
            <a:avLst/>
          </a:prstGeom>
          <a:solidFill>
            <a:srgbClr val="F59E09"/>
          </a:solidFill>
        </p:spPr>
        <p:txBody>
          <a:bodyPr vert="horz" wrap="square" lIns="0" tIns="9017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Asset</a:t>
            </a:r>
            <a:r>
              <a:rPr sz="13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98464" y="3363467"/>
            <a:ext cx="915162" cy="745997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6096253" y="4063390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132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Track</a:t>
            </a:r>
            <a:r>
              <a:rPr sz="1100" spc="1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2A1B8"/>
                </a:solidFill>
                <a:latin typeface="Times New Roman"/>
                <a:cs typeface="Times New Roman"/>
              </a:rPr>
              <a:t>hardware/software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 assets,</a:t>
            </a:r>
            <a:r>
              <a:rPr sz="1100" spc="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manage procurement</a:t>
            </a:r>
            <a:r>
              <a:rPr sz="1100" spc="-7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cycles</a:t>
            </a:r>
            <a:r>
              <a:rPr sz="1100" spc="-3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devices,</a:t>
            </a:r>
            <a:r>
              <a:rPr sz="1100" spc="-3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maintain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audit</a:t>
            </a:r>
            <a:r>
              <a:rPr sz="1100" spc="-25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trails</a:t>
            </a:r>
            <a:r>
              <a:rPr sz="1100" spc="-5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2A1B8"/>
                </a:solidFill>
                <a:latin typeface="Times New Roman"/>
                <a:cs typeface="Times New Roman"/>
              </a:rPr>
              <a:t>for</a:t>
            </a:r>
            <a:r>
              <a:rPr sz="1100" spc="1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compliance</a:t>
            </a:r>
            <a:r>
              <a:rPr sz="1100" spc="-40" dirty="0">
                <a:solidFill>
                  <a:srgbClr val="92A1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2A1B8"/>
                </a:solidFill>
                <a:latin typeface="Times New Roman"/>
                <a:cs typeface="Times New Roman"/>
              </a:rPr>
              <a:t>reporting.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8"/>
            <a:ext cx="9156700" cy="5149850"/>
            <a:chOff x="-6350" y="-6348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5070475"/>
            </a:xfrm>
            <a:custGeom>
              <a:avLst/>
              <a:gdLst/>
              <a:ahLst/>
              <a:cxnLst/>
              <a:rect l="l" t="t" r="r" b="b"/>
              <a:pathLst>
                <a:path w="9144000" h="5070475">
                  <a:moveTo>
                    <a:pt x="0" y="5070347"/>
                  </a:moveTo>
                  <a:lnTo>
                    <a:pt x="9144000" y="507034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070347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95" y="47471"/>
            <a:ext cx="2697480" cy="7912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3000" spc="-10" dirty="0">
                <a:solidFill>
                  <a:srgbClr val="000000"/>
                </a:solidFill>
              </a:rPr>
              <a:t>Conclusion</a:t>
            </a:r>
            <a:endParaRPr sz="3000"/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Summary,</a:t>
            </a:r>
            <a:r>
              <a:rPr sz="1300" b="0" i="1" spc="-5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4B6D2"/>
                </a:solidFill>
                <a:latin typeface="Times New Roman"/>
                <a:cs typeface="Times New Roman"/>
              </a:rPr>
              <a:t>Learnings</a:t>
            </a:r>
            <a:r>
              <a:rPr sz="1300" b="0" i="1" spc="-3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4B6D2"/>
                </a:solidFill>
                <a:latin typeface="Times New Roman"/>
                <a:cs typeface="Times New Roman"/>
              </a:rPr>
              <a:t>Future</a:t>
            </a:r>
            <a:r>
              <a:rPr sz="1300" b="0" i="1" spc="-3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Roadmap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408175"/>
            <a:ext cx="8807958" cy="16299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4320" y="1490472"/>
            <a:ext cx="8595360" cy="1417320"/>
          </a:xfrm>
          <a:prstGeom prst="rect">
            <a:avLst/>
          </a:prstGeom>
          <a:solidFill>
            <a:srgbClr val="1B2A3C"/>
          </a:solidFill>
          <a:ln w="12700">
            <a:solidFill>
              <a:srgbClr val="E0E8EE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40"/>
              </a:spcBef>
            </a:pPr>
            <a:r>
              <a:rPr sz="1300" b="1" dirty="0">
                <a:solidFill>
                  <a:srgbClr val="0891B0"/>
                </a:solidFill>
                <a:latin typeface="Times New Roman"/>
                <a:cs typeface="Times New Roman"/>
              </a:rPr>
              <a:t>Project</a:t>
            </a:r>
            <a:r>
              <a:rPr sz="1300" b="1" spc="-80" dirty="0">
                <a:solidFill>
                  <a:srgbClr val="0891B0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891B0"/>
                </a:solidFill>
                <a:latin typeface="Times New Roman"/>
                <a:cs typeface="Times New Roman"/>
              </a:rPr>
              <a:t>Summary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300">
              <a:latin typeface="Times New Roman"/>
              <a:cs typeface="Times New Roman"/>
            </a:endParaRPr>
          </a:p>
          <a:p>
            <a:pPr marL="90805" marR="306705">
              <a:lnSpc>
                <a:spcPct val="100000"/>
              </a:lnSpc>
            </a:pP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The</a:t>
            </a:r>
            <a:r>
              <a:rPr sz="1150" spc="-5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Enterprise</a:t>
            </a:r>
            <a:r>
              <a:rPr sz="1150" spc="-2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Inventory </a:t>
            </a:r>
            <a:r>
              <a:rPr sz="1150" spc="-20" dirty="0">
                <a:solidFill>
                  <a:srgbClr val="E0E8EE"/>
                </a:solidFill>
                <a:latin typeface="Times New Roman"/>
                <a:cs typeface="Times New Roman"/>
              </a:rPr>
              <a:t>Management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System</a:t>
            </a:r>
            <a:r>
              <a:rPr sz="1150" spc="2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successfully</a:t>
            </a:r>
            <a:r>
              <a:rPr sz="1150" spc="-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demonstrates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the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E0E8EE"/>
                </a:solidFill>
                <a:latin typeface="Times New Roman"/>
                <a:cs typeface="Times New Roman"/>
              </a:rPr>
              <a:t>development</a:t>
            </a:r>
            <a:r>
              <a:rPr sz="1150" spc="-2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of</a:t>
            </a:r>
            <a:r>
              <a:rPr sz="1150" spc="-4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a</a:t>
            </a:r>
            <a:r>
              <a:rPr sz="1150" spc="-4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production-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grade,</a:t>
            </a:r>
            <a:r>
              <a:rPr sz="1150" spc="-2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E0E8EE"/>
                </a:solidFill>
                <a:latin typeface="Times New Roman"/>
                <a:cs typeface="Times New Roman"/>
              </a:rPr>
              <a:t>full-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stack</a:t>
            </a:r>
            <a:r>
              <a:rPr sz="1150" spc="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Java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application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using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Spring</a:t>
            </a:r>
            <a:r>
              <a:rPr sz="1150" spc="-5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Boot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and</a:t>
            </a:r>
            <a:r>
              <a:rPr sz="1150" spc="-6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Thymeleaf.</a:t>
            </a:r>
            <a:r>
              <a:rPr sz="1150" spc="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The</a:t>
            </a:r>
            <a:r>
              <a:rPr sz="1150" spc="-6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system</a:t>
            </a:r>
            <a:r>
              <a:rPr sz="1150" spc="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implements</a:t>
            </a:r>
            <a:r>
              <a:rPr sz="1150" spc="-5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industry-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standard</a:t>
            </a:r>
            <a:r>
              <a:rPr sz="1150" spc="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architectural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patterns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(MVC,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Layered</a:t>
            </a:r>
            <a:r>
              <a:rPr sz="1150" spc="1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Architecture),</a:t>
            </a:r>
            <a:r>
              <a:rPr sz="1150" spc="-4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enforces 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ACID-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compliant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transactional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integrity,</a:t>
            </a:r>
            <a:r>
              <a:rPr sz="1150" spc="2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and</a:t>
            </a:r>
            <a:r>
              <a:rPr sz="1150" spc="-5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delivers</a:t>
            </a:r>
            <a:r>
              <a:rPr sz="1150" spc="-2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a</a:t>
            </a:r>
            <a:r>
              <a:rPr sz="1150" spc="-4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E0E8EE"/>
                </a:solidFill>
                <a:latin typeface="Times New Roman"/>
                <a:cs typeface="Times New Roman"/>
              </a:rPr>
              <a:t>comprehensive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suite</a:t>
            </a:r>
            <a:r>
              <a:rPr sz="1150" spc="-2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of</a:t>
            </a:r>
            <a:r>
              <a:rPr sz="1150" spc="-5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modules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covering</a:t>
            </a:r>
            <a:r>
              <a:rPr sz="1150" spc="-4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the</a:t>
            </a:r>
            <a:r>
              <a:rPr sz="1150" spc="-4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full</a:t>
            </a:r>
            <a:r>
              <a:rPr sz="1150" spc="-2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inventory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lifecycle</a:t>
            </a:r>
            <a:r>
              <a:rPr sz="1150" spc="9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—</a:t>
            </a:r>
            <a:r>
              <a:rPr sz="1150" spc="-5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from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 product management</a:t>
            </a:r>
            <a:r>
              <a:rPr sz="1150" spc="-3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and</a:t>
            </a:r>
            <a:r>
              <a:rPr sz="1150" spc="-6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supplier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coordination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to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simulation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testing</a:t>
            </a:r>
            <a:r>
              <a:rPr sz="1150" spc="-4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and</a:t>
            </a:r>
            <a:r>
              <a:rPr sz="1150" spc="-5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risk</a:t>
            </a:r>
            <a:r>
              <a:rPr sz="1150" spc="-25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0E8EE"/>
                </a:solidFill>
                <a:latin typeface="Times New Roman"/>
                <a:cs typeface="Times New Roman"/>
              </a:rPr>
              <a:t>threshold</a:t>
            </a:r>
            <a:r>
              <a:rPr sz="1150" spc="-30" dirty="0">
                <a:solidFill>
                  <a:srgbClr val="E0E8EE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0E8EE"/>
                </a:solidFill>
                <a:latin typeface="Times New Roman"/>
                <a:cs typeface="Times New Roman"/>
              </a:rPr>
              <a:t>monitoring.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6737" y="3818026"/>
            <a:ext cx="8115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95065" marR="5080" indent="-36830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This</a:t>
            </a:r>
            <a:r>
              <a:rPr sz="1200" i="1" spc="-7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project</a:t>
            </a:r>
            <a:r>
              <a:rPr sz="120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has</a:t>
            </a:r>
            <a:r>
              <a:rPr sz="1200" i="1" spc="-5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successfully</a:t>
            </a:r>
            <a:r>
              <a:rPr sz="1200" i="1" spc="-2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met</a:t>
            </a:r>
            <a:r>
              <a:rPr sz="120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all</a:t>
            </a:r>
            <a:r>
              <a:rPr sz="1200" i="1" spc="-4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academic</a:t>
            </a:r>
            <a:r>
              <a:rPr sz="1200" i="1" spc="-1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objectives</a:t>
            </a:r>
            <a:r>
              <a:rPr sz="1200" i="1" spc="2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while</a:t>
            </a:r>
            <a:r>
              <a:rPr sz="1200" i="1" spc="-4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laying</a:t>
            </a:r>
            <a:r>
              <a:rPr sz="1200" i="1" spc="-2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a</a:t>
            </a:r>
            <a:r>
              <a:rPr sz="1200" i="1" spc="-5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strong</a:t>
            </a:r>
            <a:r>
              <a:rPr sz="1200" i="1" spc="-7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foundation</a:t>
            </a:r>
            <a:r>
              <a:rPr sz="1200" i="1" spc="-4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for</a:t>
            </a:r>
            <a:r>
              <a:rPr sz="1200" i="1" spc="-6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spc="-25" dirty="0">
                <a:solidFill>
                  <a:srgbClr val="04B6D2"/>
                </a:solidFill>
                <a:latin typeface="Times New Roman"/>
                <a:cs typeface="Times New Roman"/>
              </a:rPr>
              <a:t>real-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world</a:t>
            </a:r>
            <a:r>
              <a:rPr sz="1200" i="1" spc="-2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enterprise</a:t>
            </a:r>
            <a:r>
              <a:rPr sz="1200" i="1" spc="-3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4B6D2"/>
                </a:solidFill>
                <a:latin typeface="Times New Roman"/>
                <a:cs typeface="Times New Roman"/>
              </a:rPr>
              <a:t>inventory</a:t>
            </a:r>
            <a:r>
              <a:rPr sz="1200" i="1" spc="-3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04B6D2"/>
                </a:solidFill>
                <a:latin typeface="Times New Roman"/>
                <a:cs typeface="Times New Roman"/>
              </a:rPr>
              <a:t>system deployment.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8"/>
            <a:ext cx="9156700" cy="5156200"/>
            <a:chOff x="-6350" y="-6348"/>
            <a:chExt cx="91567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4997450"/>
            </a:xfrm>
            <a:custGeom>
              <a:avLst/>
              <a:gdLst/>
              <a:ahLst/>
              <a:cxnLst/>
              <a:rect l="l" t="t" r="r" b="b"/>
              <a:pathLst>
                <a:path w="9144000" h="4997450">
                  <a:moveTo>
                    <a:pt x="0" y="4997194"/>
                  </a:moveTo>
                  <a:lnTo>
                    <a:pt x="9144000" y="499719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997194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70346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0"/>
                  </a:lnTo>
                  <a:lnTo>
                    <a:pt x="9144000" y="73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891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070346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0"/>
                  </a:moveTo>
                  <a:lnTo>
                    <a:pt x="9144000" y="731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0"/>
                  </a:lnTo>
                  <a:close/>
                </a:path>
              </a:pathLst>
            </a:custGeom>
            <a:ln w="12699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0320" y="342137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59" h="4023360">
                  <a:moveTo>
                    <a:pt x="2011680" y="0"/>
                  </a:moveTo>
                  <a:lnTo>
                    <a:pt x="1963546" y="508"/>
                  </a:lnTo>
                  <a:lnTo>
                    <a:pt x="1915668" y="2286"/>
                  </a:lnTo>
                  <a:lnTo>
                    <a:pt x="1868043" y="5079"/>
                  </a:lnTo>
                  <a:lnTo>
                    <a:pt x="1820671" y="8889"/>
                  </a:lnTo>
                  <a:lnTo>
                    <a:pt x="1773682" y="13970"/>
                  </a:lnTo>
                  <a:lnTo>
                    <a:pt x="1727072" y="19938"/>
                  </a:lnTo>
                  <a:lnTo>
                    <a:pt x="1680718" y="27050"/>
                  </a:lnTo>
                  <a:lnTo>
                    <a:pt x="1634744" y="35306"/>
                  </a:lnTo>
                  <a:lnTo>
                    <a:pt x="1589151" y="44450"/>
                  </a:lnTo>
                  <a:lnTo>
                    <a:pt x="1543939" y="54610"/>
                  </a:lnTo>
                  <a:lnTo>
                    <a:pt x="1499108" y="65912"/>
                  </a:lnTo>
                  <a:lnTo>
                    <a:pt x="1454784" y="78104"/>
                  </a:lnTo>
                  <a:lnTo>
                    <a:pt x="1410716" y="91312"/>
                  </a:lnTo>
                  <a:lnTo>
                    <a:pt x="1367155" y="105410"/>
                  </a:lnTo>
                  <a:lnTo>
                    <a:pt x="1323975" y="120650"/>
                  </a:lnTo>
                  <a:lnTo>
                    <a:pt x="1281303" y="136651"/>
                  </a:lnTo>
                  <a:lnTo>
                    <a:pt x="1239139" y="153670"/>
                  </a:lnTo>
                  <a:lnTo>
                    <a:pt x="1197356" y="171576"/>
                  </a:lnTo>
                  <a:lnTo>
                    <a:pt x="1156208" y="190500"/>
                  </a:lnTo>
                  <a:lnTo>
                    <a:pt x="1115441" y="210185"/>
                  </a:lnTo>
                  <a:lnTo>
                    <a:pt x="1075182" y="230759"/>
                  </a:lnTo>
                  <a:lnTo>
                    <a:pt x="1035557" y="252349"/>
                  </a:lnTo>
                  <a:lnTo>
                    <a:pt x="996315" y="274700"/>
                  </a:lnTo>
                  <a:lnTo>
                    <a:pt x="957707" y="297814"/>
                  </a:lnTo>
                  <a:lnTo>
                    <a:pt x="919733" y="321817"/>
                  </a:lnTo>
                  <a:lnTo>
                    <a:pt x="882269" y="346710"/>
                  </a:lnTo>
                  <a:lnTo>
                    <a:pt x="845439" y="372363"/>
                  </a:lnTo>
                  <a:lnTo>
                    <a:pt x="809244" y="398779"/>
                  </a:lnTo>
                  <a:lnTo>
                    <a:pt x="773557" y="426085"/>
                  </a:lnTo>
                  <a:lnTo>
                    <a:pt x="738505" y="454025"/>
                  </a:lnTo>
                  <a:lnTo>
                    <a:pt x="704215" y="482853"/>
                  </a:lnTo>
                  <a:lnTo>
                    <a:pt x="670560" y="512317"/>
                  </a:lnTo>
                  <a:lnTo>
                    <a:pt x="637540" y="542544"/>
                  </a:lnTo>
                  <a:lnTo>
                    <a:pt x="605155" y="573532"/>
                  </a:lnTo>
                  <a:lnTo>
                    <a:pt x="573532" y="605154"/>
                  </a:lnTo>
                  <a:lnTo>
                    <a:pt x="542544" y="637539"/>
                  </a:lnTo>
                  <a:lnTo>
                    <a:pt x="512318" y="670560"/>
                  </a:lnTo>
                  <a:lnTo>
                    <a:pt x="482854" y="704214"/>
                  </a:lnTo>
                  <a:lnTo>
                    <a:pt x="454025" y="738504"/>
                  </a:lnTo>
                  <a:lnTo>
                    <a:pt x="426085" y="773557"/>
                  </a:lnTo>
                  <a:lnTo>
                    <a:pt x="398780" y="809244"/>
                  </a:lnTo>
                  <a:lnTo>
                    <a:pt x="372363" y="845438"/>
                  </a:lnTo>
                  <a:lnTo>
                    <a:pt x="346710" y="882269"/>
                  </a:lnTo>
                  <a:lnTo>
                    <a:pt x="321818" y="919734"/>
                  </a:lnTo>
                  <a:lnTo>
                    <a:pt x="297815" y="957707"/>
                  </a:lnTo>
                  <a:lnTo>
                    <a:pt x="274700" y="996314"/>
                  </a:lnTo>
                  <a:lnTo>
                    <a:pt x="252349" y="1035558"/>
                  </a:lnTo>
                  <a:lnTo>
                    <a:pt x="230759" y="1075182"/>
                  </a:lnTo>
                  <a:lnTo>
                    <a:pt x="210185" y="1115440"/>
                  </a:lnTo>
                  <a:lnTo>
                    <a:pt x="190500" y="1156208"/>
                  </a:lnTo>
                  <a:lnTo>
                    <a:pt x="171577" y="1197356"/>
                  </a:lnTo>
                  <a:lnTo>
                    <a:pt x="153669" y="1239139"/>
                  </a:lnTo>
                  <a:lnTo>
                    <a:pt x="136652" y="1281302"/>
                  </a:lnTo>
                  <a:lnTo>
                    <a:pt x="120650" y="1323975"/>
                  </a:lnTo>
                  <a:lnTo>
                    <a:pt x="105410" y="1367154"/>
                  </a:lnTo>
                  <a:lnTo>
                    <a:pt x="91312" y="1410715"/>
                  </a:lnTo>
                  <a:lnTo>
                    <a:pt x="78105" y="1454785"/>
                  </a:lnTo>
                  <a:lnTo>
                    <a:pt x="65912" y="1499108"/>
                  </a:lnTo>
                  <a:lnTo>
                    <a:pt x="54610" y="1543939"/>
                  </a:lnTo>
                  <a:lnTo>
                    <a:pt x="44450" y="1589151"/>
                  </a:lnTo>
                  <a:lnTo>
                    <a:pt x="35306" y="1634744"/>
                  </a:lnTo>
                  <a:lnTo>
                    <a:pt x="27050" y="1680718"/>
                  </a:lnTo>
                  <a:lnTo>
                    <a:pt x="19938" y="1727073"/>
                  </a:lnTo>
                  <a:lnTo>
                    <a:pt x="13969" y="1773682"/>
                  </a:lnTo>
                  <a:lnTo>
                    <a:pt x="8890" y="1820672"/>
                  </a:lnTo>
                  <a:lnTo>
                    <a:pt x="5080" y="1868043"/>
                  </a:lnTo>
                  <a:lnTo>
                    <a:pt x="2286" y="1915668"/>
                  </a:lnTo>
                  <a:lnTo>
                    <a:pt x="507" y="1963547"/>
                  </a:lnTo>
                  <a:lnTo>
                    <a:pt x="0" y="2011680"/>
                  </a:lnTo>
                  <a:lnTo>
                    <a:pt x="507" y="2059813"/>
                  </a:lnTo>
                  <a:lnTo>
                    <a:pt x="2286" y="2107692"/>
                  </a:lnTo>
                  <a:lnTo>
                    <a:pt x="5080" y="2155317"/>
                  </a:lnTo>
                  <a:lnTo>
                    <a:pt x="8890" y="2202688"/>
                  </a:lnTo>
                  <a:lnTo>
                    <a:pt x="13969" y="2249678"/>
                  </a:lnTo>
                  <a:lnTo>
                    <a:pt x="19938" y="2296287"/>
                  </a:lnTo>
                  <a:lnTo>
                    <a:pt x="27050" y="2342642"/>
                  </a:lnTo>
                  <a:lnTo>
                    <a:pt x="35306" y="2388616"/>
                  </a:lnTo>
                  <a:lnTo>
                    <a:pt x="44450" y="2434209"/>
                  </a:lnTo>
                  <a:lnTo>
                    <a:pt x="54610" y="2479421"/>
                  </a:lnTo>
                  <a:lnTo>
                    <a:pt x="65912" y="2524252"/>
                  </a:lnTo>
                  <a:lnTo>
                    <a:pt x="78105" y="2568575"/>
                  </a:lnTo>
                  <a:lnTo>
                    <a:pt x="91312" y="2612644"/>
                  </a:lnTo>
                  <a:lnTo>
                    <a:pt x="105410" y="2656205"/>
                  </a:lnTo>
                  <a:lnTo>
                    <a:pt x="120650" y="2699385"/>
                  </a:lnTo>
                  <a:lnTo>
                    <a:pt x="136652" y="2742057"/>
                  </a:lnTo>
                  <a:lnTo>
                    <a:pt x="153669" y="2784221"/>
                  </a:lnTo>
                  <a:lnTo>
                    <a:pt x="171577" y="2826004"/>
                  </a:lnTo>
                  <a:lnTo>
                    <a:pt x="190500" y="2867152"/>
                  </a:lnTo>
                  <a:lnTo>
                    <a:pt x="210185" y="2907919"/>
                  </a:lnTo>
                  <a:lnTo>
                    <a:pt x="230759" y="2948178"/>
                  </a:lnTo>
                  <a:lnTo>
                    <a:pt x="252349" y="2987802"/>
                  </a:lnTo>
                  <a:lnTo>
                    <a:pt x="274700" y="3027045"/>
                  </a:lnTo>
                  <a:lnTo>
                    <a:pt x="297815" y="3065653"/>
                  </a:lnTo>
                  <a:lnTo>
                    <a:pt x="321818" y="3103626"/>
                  </a:lnTo>
                  <a:lnTo>
                    <a:pt x="346710" y="3141091"/>
                  </a:lnTo>
                  <a:lnTo>
                    <a:pt x="372363" y="3177921"/>
                  </a:lnTo>
                  <a:lnTo>
                    <a:pt x="398780" y="3214116"/>
                  </a:lnTo>
                  <a:lnTo>
                    <a:pt x="426085" y="3249803"/>
                  </a:lnTo>
                  <a:lnTo>
                    <a:pt x="454025" y="3284854"/>
                  </a:lnTo>
                  <a:lnTo>
                    <a:pt x="482854" y="3319145"/>
                  </a:lnTo>
                  <a:lnTo>
                    <a:pt x="512318" y="3352800"/>
                  </a:lnTo>
                  <a:lnTo>
                    <a:pt x="542544" y="3385820"/>
                  </a:lnTo>
                  <a:lnTo>
                    <a:pt x="573532" y="3418204"/>
                  </a:lnTo>
                  <a:lnTo>
                    <a:pt x="605155" y="3449828"/>
                  </a:lnTo>
                  <a:lnTo>
                    <a:pt x="637540" y="3480816"/>
                  </a:lnTo>
                  <a:lnTo>
                    <a:pt x="670560" y="3511042"/>
                  </a:lnTo>
                  <a:lnTo>
                    <a:pt x="704215" y="3540556"/>
                  </a:lnTo>
                  <a:lnTo>
                    <a:pt x="738505" y="3569309"/>
                  </a:lnTo>
                  <a:lnTo>
                    <a:pt x="773557" y="3597313"/>
                  </a:lnTo>
                  <a:lnTo>
                    <a:pt x="809244" y="3624541"/>
                  </a:lnTo>
                  <a:lnTo>
                    <a:pt x="845439" y="3650983"/>
                  </a:lnTo>
                  <a:lnTo>
                    <a:pt x="882269" y="3676637"/>
                  </a:lnTo>
                  <a:lnTo>
                    <a:pt x="919733" y="3701478"/>
                  </a:lnTo>
                  <a:lnTo>
                    <a:pt x="957707" y="3725506"/>
                  </a:lnTo>
                  <a:lnTo>
                    <a:pt x="996315" y="3748697"/>
                  </a:lnTo>
                  <a:lnTo>
                    <a:pt x="1035557" y="3771049"/>
                  </a:lnTo>
                  <a:lnTo>
                    <a:pt x="1075182" y="3792537"/>
                  </a:lnTo>
                  <a:lnTo>
                    <a:pt x="1115441" y="3813149"/>
                  </a:lnTo>
                  <a:lnTo>
                    <a:pt x="1156208" y="3832885"/>
                  </a:lnTo>
                  <a:lnTo>
                    <a:pt x="1197356" y="3851732"/>
                  </a:lnTo>
                  <a:lnTo>
                    <a:pt x="1239139" y="3869664"/>
                  </a:lnTo>
                  <a:lnTo>
                    <a:pt x="1281303" y="3886682"/>
                  </a:lnTo>
                  <a:lnTo>
                    <a:pt x="1323975" y="3902760"/>
                  </a:lnTo>
                  <a:lnTo>
                    <a:pt x="1367155" y="3917886"/>
                  </a:lnTo>
                  <a:lnTo>
                    <a:pt x="1410716" y="3932059"/>
                  </a:lnTo>
                  <a:lnTo>
                    <a:pt x="1454784" y="3945267"/>
                  </a:lnTo>
                  <a:lnTo>
                    <a:pt x="1499108" y="3957485"/>
                  </a:lnTo>
                  <a:lnTo>
                    <a:pt x="1543939" y="3968711"/>
                  </a:lnTo>
                  <a:lnTo>
                    <a:pt x="1589151" y="3978922"/>
                  </a:lnTo>
                  <a:lnTo>
                    <a:pt x="1634744" y="3988117"/>
                  </a:lnTo>
                  <a:lnTo>
                    <a:pt x="1680718" y="3996270"/>
                  </a:lnTo>
                  <a:lnTo>
                    <a:pt x="1727072" y="4003382"/>
                  </a:lnTo>
                  <a:lnTo>
                    <a:pt x="1773682" y="4009428"/>
                  </a:lnTo>
                  <a:lnTo>
                    <a:pt x="1820671" y="4014406"/>
                  </a:lnTo>
                  <a:lnTo>
                    <a:pt x="1868043" y="4018305"/>
                  </a:lnTo>
                  <a:lnTo>
                    <a:pt x="1915668" y="4021112"/>
                  </a:lnTo>
                  <a:lnTo>
                    <a:pt x="1963546" y="4022788"/>
                  </a:lnTo>
                  <a:lnTo>
                    <a:pt x="2011680" y="4023360"/>
                  </a:lnTo>
                  <a:lnTo>
                    <a:pt x="2059813" y="4022788"/>
                  </a:lnTo>
                  <a:lnTo>
                    <a:pt x="2107692" y="4021112"/>
                  </a:lnTo>
                  <a:lnTo>
                    <a:pt x="2155317" y="4018305"/>
                  </a:lnTo>
                  <a:lnTo>
                    <a:pt x="2202688" y="4014406"/>
                  </a:lnTo>
                  <a:lnTo>
                    <a:pt x="2249678" y="4009428"/>
                  </a:lnTo>
                  <a:lnTo>
                    <a:pt x="2296287" y="4003382"/>
                  </a:lnTo>
                  <a:lnTo>
                    <a:pt x="2342642" y="3996270"/>
                  </a:lnTo>
                  <a:lnTo>
                    <a:pt x="2388616" y="3988117"/>
                  </a:lnTo>
                  <a:lnTo>
                    <a:pt x="2434209" y="3978922"/>
                  </a:lnTo>
                  <a:lnTo>
                    <a:pt x="2479421" y="3968711"/>
                  </a:lnTo>
                  <a:lnTo>
                    <a:pt x="2524252" y="3957485"/>
                  </a:lnTo>
                  <a:lnTo>
                    <a:pt x="2568575" y="3945267"/>
                  </a:lnTo>
                  <a:lnTo>
                    <a:pt x="2612644" y="3932059"/>
                  </a:lnTo>
                  <a:lnTo>
                    <a:pt x="2656205" y="3917886"/>
                  </a:lnTo>
                  <a:lnTo>
                    <a:pt x="2699385" y="3902760"/>
                  </a:lnTo>
                  <a:lnTo>
                    <a:pt x="2742057" y="3886682"/>
                  </a:lnTo>
                  <a:lnTo>
                    <a:pt x="2784221" y="3869664"/>
                  </a:lnTo>
                  <a:lnTo>
                    <a:pt x="2826004" y="3851732"/>
                  </a:lnTo>
                  <a:lnTo>
                    <a:pt x="2867152" y="3832885"/>
                  </a:lnTo>
                  <a:lnTo>
                    <a:pt x="2907919" y="3813149"/>
                  </a:lnTo>
                  <a:lnTo>
                    <a:pt x="2948178" y="3792537"/>
                  </a:lnTo>
                  <a:lnTo>
                    <a:pt x="2987802" y="3771049"/>
                  </a:lnTo>
                  <a:lnTo>
                    <a:pt x="3027045" y="3748697"/>
                  </a:lnTo>
                  <a:lnTo>
                    <a:pt x="3065653" y="3725506"/>
                  </a:lnTo>
                  <a:lnTo>
                    <a:pt x="3103626" y="3701478"/>
                  </a:lnTo>
                  <a:lnTo>
                    <a:pt x="3141091" y="3676637"/>
                  </a:lnTo>
                  <a:lnTo>
                    <a:pt x="3177921" y="3650983"/>
                  </a:lnTo>
                  <a:lnTo>
                    <a:pt x="3214116" y="3624541"/>
                  </a:lnTo>
                  <a:lnTo>
                    <a:pt x="3249803" y="3597313"/>
                  </a:lnTo>
                  <a:lnTo>
                    <a:pt x="3284854" y="3569309"/>
                  </a:lnTo>
                  <a:lnTo>
                    <a:pt x="3319145" y="3540556"/>
                  </a:lnTo>
                  <a:lnTo>
                    <a:pt x="3352800" y="3511042"/>
                  </a:lnTo>
                  <a:lnTo>
                    <a:pt x="3385820" y="3480816"/>
                  </a:lnTo>
                  <a:lnTo>
                    <a:pt x="3418204" y="3449828"/>
                  </a:lnTo>
                  <a:lnTo>
                    <a:pt x="3449828" y="3418204"/>
                  </a:lnTo>
                  <a:lnTo>
                    <a:pt x="3480816" y="3385820"/>
                  </a:lnTo>
                  <a:lnTo>
                    <a:pt x="3511042" y="3352800"/>
                  </a:lnTo>
                  <a:lnTo>
                    <a:pt x="3540505" y="3319145"/>
                  </a:lnTo>
                  <a:lnTo>
                    <a:pt x="3569334" y="3284854"/>
                  </a:lnTo>
                  <a:lnTo>
                    <a:pt x="3597275" y="3249803"/>
                  </a:lnTo>
                  <a:lnTo>
                    <a:pt x="3624579" y="3214116"/>
                  </a:lnTo>
                  <a:lnTo>
                    <a:pt x="3650996" y="3177921"/>
                  </a:lnTo>
                  <a:lnTo>
                    <a:pt x="3676650" y="3141091"/>
                  </a:lnTo>
                  <a:lnTo>
                    <a:pt x="3701542" y="3103626"/>
                  </a:lnTo>
                  <a:lnTo>
                    <a:pt x="3725545" y="3065653"/>
                  </a:lnTo>
                  <a:lnTo>
                    <a:pt x="3748658" y="3027045"/>
                  </a:lnTo>
                  <a:lnTo>
                    <a:pt x="3771010" y="2987802"/>
                  </a:lnTo>
                  <a:lnTo>
                    <a:pt x="3792601" y="2948178"/>
                  </a:lnTo>
                  <a:lnTo>
                    <a:pt x="3813175" y="2907919"/>
                  </a:lnTo>
                  <a:lnTo>
                    <a:pt x="3832859" y="2867152"/>
                  </a:lnTo>
                  <a:lnTo>
                    <a:pt x="3851782" y="2826004"/>
                  </a:lnTo>
                  <a:lnTo>
                    <a:pt x="3869690" y="2784221"/>
                  </a:lnTo>
                  <a:lnTo>
                    <a:pt x="3886707" y="2742057"/>
                  </a:lnTo>
                  <a:lnTo>
                    <a:pt x="3902709" y="2699385"/>
                  </a:lnTo>
                  <a:lnTo>
                    <a:pt x="3917950" y="2656205"/>
                  </a:lnTo>
                  <a:lnTo>
                    <a:pt x="3932047" y="2612644"/>
                  </a:lnTo>
                  <a:lnTo>
                    <a:pt x="3945254" y="2568575"/>
                  </a:lnTo>
                  <a:lnTo>
                    <a:pt x="3957447" y="2524252"/>
                  </a:lnTo>
                  <a:lnTo>
                    <a:pt x="3968750" y="2479421"/>
                  </a:lnTo>
                  <a:lnTo>
                    <a:pt x="3978909" y="2434209"/>
                  </a:lnTo>
                  <a:lnTo>
                    <a:pt x="3988054" y="2388616"/>
                  </a:lnTo>
                  <a:lnTo>
                    <a:pt x="3996308" y="2342642"/>
                  </a:lnTo>
                  <a:lnTo>
                    <a:pt x="4003421" y="2296287"/>
                  </a:lnTo>
                  <a:lnTo>
                    <a:pt x="4009389" y="2249678"/>
                  </a:lnTo>
                  <a:lnTo>
                    <a:pt x="4014470" y="2202688"/>
                  </a:lnTo>
                  <a:lnTo>
                    <a:pt x="4018279" y="2155317"/>
                  </a:lnTo>
                  <a:lnTo>
                    <a:pt x="4021074" y="2107692"/>
                  </a:lnTo>
                  <a:lnTo>
                    <a:pt x="4022852" y="2059813"/>
                  </a:lnTo>
                  <a:lnTo>
                    <a:pt x="4023359" y="2011680"/>
                  </a:lnTo>
                  <a:lnTo>
                    <a:pt x="4022852" y="1963547"/>
                  </a:lnTo>
                  <a:lnTo>
                    <a:pt x="4021074" y="1915668"/>
                  </a:lnTo>
                  <a:lnTo>
                    <a:pt x="4018279" y="1868043"/>
                  </a:lnTo>
                  <a:lnTo>
                    <a:pt x="4014470" y="1820672"/>
                  </a:lnTo>
                  <a:lnTo>
                    <a:pt x="4009389" y="1773682"/>
                  </a:lnTo>
                  <a:lnTo>
                    <a:pt x="4003421" y="1727073"/>
                  </a:lnTo>
                  <a:lnTo>
                    <a:pt x="3996308" y="1680718"/>
                  </a:lnTo>
                  <a:lnTo>
                    <a:pt x="3988054" y="1634744"/>
                  </a:lnTo>
                  <a:lnTo>
                    <a:pt x="3978909" y="1589151"/>
                  </a:lnTo>
                  <a:lnTo>
                    <a:pt x="3968750" y="1543939"/>
                  </a:lnTo>
                  <a:lnTo>
                    <a:pt x="3957447" y="1499108"/>
                  </a:lnTo>
                  <a:lnTo>
                    <a:pt x="3945254" y="1454785"/>
                  </a:lnTo>
                  <a:lnTo>
                    <a:pt x="3932047" y="1410715"/>
                  </a:lnTo>
                  <a:lnTo>
                    <a:pt x="3917950" y="1367154"/>
                  </a:lnTo>
                  <a:lnTo>
                    <a:pt x="3902709" y="1323975"/>
                  </a:lnTo>
                  <a:lnTo>
                    <a:pt x="3886707" y="1281302"/>
                  </a:lnTo>
                  <a:lnTo>
                    <a:pt x="3869690" y="1239139"/>
                  </a:lnTo>
                  <a:lnTo>
                    <a:pt x="3851782" y="1197356"/>
                  </a:lnTo>
                  <a:lnTo>
                    <a:pt x="3832859" y="1156208"/>
                  </a:lnTo>
                  <a:lnTo>
                    <a:pt x="3813175" y="1115440"/>
                  </a:lnTo>
                  <a:lnTo>
                    <a:pt x="3792601" y="1075182"/>
                  </a:lnTo>
                  <a:lnTo>
                    <a:pt x="3771010" y="1035558"/>
                  </a:lnTo>
                  <a:lnTo>
                    <a:pt x="3748658" y="996314"/>
                  </a:lnTo>
                  <a:lnTo>
                    <a:pt x="3725545" y="957707"/>
                  </a:lnTo>
                  <a:lnTo>
                    <a:pt x="3701542" y="919734"/>
                  </a:lnTo>
                  <a:lnTo>
                    <a:pt x="3676650" y="882269"/>
                  </a:lnTo>
                  <a:lnTo>
                    <a:pt x="3650996" y="845438"/>
                  </a:lnTo>
                  <a:lnTo>
                    <a:pt x="3624579" y="809244"/>
                  </a:lnTo>
                  <a:lnTo>
                    <a:pt x="3597275" y="773557"/>
                  </a:lnTo>
                  <a:lnTo>
                    <a:pt x="3569334" y="738504"/>
                  </a:lnTo>
                  <a:lnTo>
                    <a:pt x="3540505" y="704214"/>
                  </a:lnTo>
                  <a:lnTo>
                    <a:pt x="3511042" y="670560"/>
                  </a:lnTo>
                  <a:lnTo>
                    <a:pt x="3480816" y="637539"/>
                  </a:lnTo>
                  <a:lnTo>
                    <a:pt x="3449828" y="605154"/>
                  </a:lnTo>
                  <a:lnTo>
                    <a:pt x="3418204" y="573532"/>
                  </a:lnTo>
                  <a:lnTo>
                    <a:pt x="3385820" y="542544"/>
                  </a:lnTo>
                  <a:lnTo>
                    <a:pt x="3352800" y="512317"/>
                  </a:lnTo>
                  <a:lnTo>
                    <a:pt x="3319145" y="482853"/>
                  </a:lnTo>
                  <a:lnTo>
                    <a:pt x="3284854" y="454025"/>
                  </a:lnTo>
                  <a:lnTo>
                    <a:pt x="3249803" y="426085"/>
                  </a:lnTo>
                  <a:lnTo>
                    <a:pt x="3214116" y="398779"/>
                  </a:lnTo>
                  <a:lnTo>
                    <a:pt x="3177921" y="372363"/>
                  </a:lnTo>
                  <a:lnTo>
                    <a:pt x="3141091" y="346710"/>
                  </a:lnTo>
                  <a:lnTo>
                    <a:pt x="3103626" y="321817"/>
                  </a:lnTo>
                  <a:lnTo>
                    <a:pt x="3065653" y="297814"/>
                  </a:lnTo>
                  <a:lnTo>
                    <a:pt x="3027045" y="274700"/>
                  </a:lnTo>
                  <a:lnTo>
                    <a:pt x="2987802" y="252349"/>
                  </a:lnTo>
                  <a:lnTo>
                    <a:pt x="2948178" y="230759"/>
                  </a:lnTo>
                  <a:lnTo>
                    <a:pt x="2907919" y="210185"/>
                  </a:lnTo>
                  <a:lnTo>
                    <a:pt x="2867152" y="190500"/>
                  </a:lnTo>
                  <a:lnTo>
                    <a:pt x="2826004" y="171576"/>
                  </a:lnTo>
                  <a:lnTo>
                    <a:pt x="2784221" y="153670"/>
                  </a:lnTo>
                  <a:lnTo>
                    <a:pt x="2742057" y="136651"/>
                  </a:lnTo>
                  <a:lnTo>
                    <a:pt x="2699385" y="120650"/>
                  </a:lnTo>
                  <a:lnTo>
                    <a:pt x="2656205" y="105410"/>
                  </a:lnTo>
                  <a:lnTo>
                    <a:pt x="2612644" y="91312"/>
                  </a:lnTo>
                  <a:lnTo>
                    <a:pt x="2568575" y="78104"/>
                  </a:lnTo>
                  <a:lnTo>
                    <a:pt x="2524252" y="65912"/>
                  </a:lnTo>
                  <a:lnTo>
                    <a:pt x="2479421" y="54610"/>
                  </a:lnTo>
                  <a:lnTo>
                    <a:pt x="2434209" y="44450"/>
                  </a:lnTo>
                  <a:lnTo>
                    <a:pt x="2388616" y="35306"/>
                  </a:lnTo>
                  <a:lnTo>
                    <a:pt x="2342642" y="27050"/>
                  </a:lnTo>
                  <a:lnTo>
                    <a:pt x="2296287" y="19938"/>
                  </a:lnTo>
                  <a:lnTo>
                    <a:pt x="2249678" y="13970"/>
                  </a:lnTo>
                  <a:lnTo>
                    <a:pt x="2202688" y="8889"/>
                  </a:lnTo>
                  <a:lnTo>
                    <a:pt x="2155317" y="5079"/>
                  </a:lnTo>
                  <a:lnTo>
                    <a:pt x="2107692" y="2286"/>
                  </a:lnTo>
                  <a:lnTo>
                    <a:pt x="2059813" y="508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60320" y="342137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59" h="4023360">
                  <a:moveTo>
                    <a:pt x="0" y="2011680"/>
                  </a:moveTo>
                  <a:lnTo>
                    <a:pt x="507" y="1963547"/>
                  </a:lnTo>
                  <a:lnTo>
                    <a:pt x="2286" y="1915668"/>
                  </a:lnTo>
                  <a:lnTo>
                    <a:pt x="5080" y="1868043"/>
                  </a:lnTo>
                  <a:lnTo>
                    <a:pt x="8890" y="1820672"/>
                  </a:lnTo>
                  <a:lnTo>
                    <a:pt x="13969" y="1773682"/>
                  </a:lnTo>
                  <a:lnTo>
                    <a:pt x="19938" y="1727073"/>
                  </a:lnTo>
                  <a:lnTo>
                    <a:pt x="27050" y="1680718"/>
                  </a:lnTo>
                  <a:lnTo>
                    <a:pt x="35306" y="1634744"/>
                  </a:lnTo>
                  <a:lnTo>
                    <a:pt x="44450" y="1589151"/>
                  </a:lnTo>
                  <a:lnTo>
                    <a:pt x="54610" y="1543939"/>
                  </a:lnTo>
                  <a:lnTo>
                    <a:pt x="65912" y="1499108"/>
                  </a:lnTo>
                  <a:lnTo>
                    <a:pt x="78105" y="1454785"/>
                  </a:lnTo>
                  <a:lnTo>
                    <a:pt x="91312" y="1410715"/>
                  </a:lnTo>
                  <a:lnTo>
                    <a:pt x="105410" y="1367154"/>
                  </a:lnTo>
                  <a:lnTo>
                    <a:pt x="120650" y="1323975"/>
                  </a:lnTo>
                  <a:lnTo>
                    <a:pt x="136652" y="1281302"/>
                  </a:lnTo>
                  <a:lnTo>
                    <a:pt x="153669" y="1239139"/>
                  </a:lnTo>
                  <a:lnTo>
                    <a:pt x="171577" y="1197356"/>
                  </a:lnTo>
                  <a:lnTo>
                    <a:pt x="190500" y="1156208"/>
                  </a:lnTo>
                  <a:lnTo>
                    <a:pt x="210185" y="1115440"/>
                  </a:lnTo>
                  <a:lnTo>
                    <a:pt x="230759" y="1075182"/>
                  </a:lnTo>
                  <a:lnTo>
                    <a:pt x="252349" y="1035558"/>
                  </a:lnTo>
                  <a:lnTo>
                    <a:pt x="274700" y="996314"/>
                  </a:lnTo>
                  <a:lnTo>
                    <a:pt x="297815" y="957707"/>
                  </a:lnTo>
                  <a:lnTo>
                    <a:pt x="321818" y="919734"/>
                  </a:lnTo>
                  <a:lnTo>
                    <a:pt x="346710" y="882269"/>
                  </a:lnTo>
                  <a:lnTo>
                    <a:pt x="372363" y="845438"/>
                  </a:lnTo>
                  <a:lnTo>
                    <a:pt x="398780" y="809244"/>
                  </a:lnTo>
                  <a:lnTo>
                    <a:pt x="426085" y="773557"/>
                  </a:lnTo>
                  <a:lnTo>
                    <a:pt x="454025" y="738504"/>
                  </a:lnTo>
                  <a:lnTo>
                    <a:pt x="482854" y="704214"/>
                  </a:lnTo>
                  <a:lnTo>
                    <a:pt x="512318" y="670560"/>
                  </a:lnTo>
                  <a:lnTo>
                    <a:pt x="542544" y="637539"/>
                  </a:lnTo>
                  <a:lnTo>
                    <a:pt x="573532" y="605154"/>
                  </a:lnTo>
                  <a:lnTo>
                    <a:pt x="605155" y="573532"/>
                  </a:lnTo>
                  <a:lnTo>
                    <a:pt x="637540" y="542544"/>
                  </a:lnTo>
                  <a:lnTo>
                    <a:pt x="670560" y="512317"/>
                  </a:lnTo>
                  <a:lnTo>
                    <a:pt x="704215" y="482853"/>
                  </a:lnTo>
                  <a:lnTo>
                    <a:pt x="738505" y="454025"/>
                  </a:lnTo>
                  <a:lnTo>
                    <a:pt x="773557" y="426085"/>
                  </a:lnTo>
                  <a:lnTo>
                    <a:pt x="809244" y="398779"/>
                  </a:lnTo>
                  <a:lnTo>
                    <a:pt x="845439" y="372363"/>
                  </a:lnTo>
                  <a:lnTo>
                    <a:pt x="882269" y="346710"/>
                  </a:lnTo>
                  <a:lnTo>
                    <a:pt x="919733" y="321817"/>
                  </a:lnTo>
                  <a:lnTo>
                    <a:pt x="957707" y="297814"/>
                  </a:lnTo>
                  <a:lnTo>
                    <a:pt x="996315" y="274700"/>
                  </a:lnTo>
                  <a:lnTo>
                    <a:pt x="1035557" y="252349"/>
                  </a:lnTo>
                  <a:lnTo>
                    <a:pt x="1075182" y="230759"/>
                  </a:lnTo>
                  <a:lnTo>
                    <a:pt x="1115441" y="210185"/>
                  </a:lnTo>
                  <a:lnTo>
                    <a:pt x="1156208" y="190500"/>
                  </a:lnTo>
                  <a:lnTo>
                    <a:pt x="1197356" y="171576"/>
                  </a:lnTo>
                  <a:lnTo>
                    <a:pt x="1239139" y="153670"/>
                  </a:lnTo>
                  <a:lnTo>
                    <a:pt x="1281303" y="136651"/>
                  </a:lnTo>
                  <a:lnTo>
                    <a:pt x="1323975" y="120650"/>
                  </a:lnTo>
                  <a:lnTo>
                    <a:pt x="1367155" y="105410"/>
                  </a:lnTo>
                  <a:lnTo>
                    <a:pt x="1410716" y="91312"/>
                  </a:lnTo>
                  <a:lnTo>
                    <a:pt x="1454784" y="78104"/>
                  </a:lnTo>
                  <a:lnTo>
                    <a:pt x="1499108" y="65912"/>
                  </a:lnTo>
                  <a:lnTo>
                    <a:pt x="1543939" y="54610"/>
                  </a:lnTo>
                  <a:lnTo>
                    <a:pt x="1589151" y="44450"/>
                  </a:lnTo>
                  <a:lnTo>
                    <a:pt x="1634744" y="35306"/>
                  </a:lnTo>
                  <a:lnTo>
                    <a:pt x="1680718" y="27050"/>
                  </a:lnTo>
                  <a:lnTo>
                    <a:pt x="1727072" y="19938"/>
                  </a:lnTo>
                  <a:lnTo>
                    <a:pt x="1773682" y="13970"/>
                  </a:lnTo>
                  <a:lnTo>
                    <a:pt x="1820671" y="8889"/>
                  </a:lnTo>
                  <a:lnTo>
                    <a:pt x="1868043" y="5079"/>
                  </a:lnTo>
                  <a:lnTo>
                    <a:pt x="1915668" y="2286"/>
                  </a:lnTo>
                  <a:lnTo>
                    <a:pt x="1963546" y="508"/>
                  </a:lnTo>
                  <a:lnTo>
                    <a:pt x="2011680" y="0"/>
                  </a:lnTo>
                  <a:lnTo>
                    <a:pt x="2059813" y="508"/>
                  </a:lnTo>
                  <a:lnTo>
                    <a:pt x="2107692" y="2286"/>
                  </a:lnTo>
                  <a:lnTo>
                    <a:pt x="2155317" y="5079"/>
                  </a:lnTo>
                  <a:lnTo>
                    <a:pt x="2202688" y="8889"/>
                  </a:lnTo>
                  <a:lnTo>
                    <a:pt x="2249678" y="13970"/>
                  </a:lnTo>
                  <a:lnTo>
                    <a:pt x="2296287" y="19938"/>
                  </a:lnTo>
                  <a:lnTo>
                    <a:pt x="2342642" y="27050"/>
                  </a:lnTo>
                  <a:lnTo>
                    <a:pt x="2388616" y="35306"/>
                  </a:lnTo>
                  <a:lnTo>
                    <a:pt x="2434209" y="44450"/>
                  </a:lnTo>
                  <a:lnTo>
                    <a:pt x="2479421" y="54610"/>
                  </a:lnTo>
                  <a:lnTo>
                    <a:pt x="2524252" y="65912"/>
                  </a:lnTo>
                  <a:lnTo>
                    <a:pt x="2568575" y="78104"/>
                  </a:lnTo>
                  <a:lnTo>
                    <a:pt x="2612644" y="91312"/>
                  </a:lnTo>
                  <a:lnTo>
                    <a:pt x="2656205" y="105410"/>
                  </a:lnTo>
                  <a:lnTo>
                    <a:pt x="2699385" y="120650"/>
                  </a:lnTo>
                  <a:lnTo>
                    <a:pt x="2742057" y="136651"/>
                  </a:lnTo>
                  <a:lnTo>
                    <a:pt x="2784221" y="153670"/>
                  </a:lnTo>
                  <a:lnTo>
                    <a:pt x="2826004" y="171576"/>
                  </a:lnTo>
                  <a:lnTo>
                    <a:pt x="2867152" y="190500"/>
                  </a:lnTo>
                  <a:lnTo>
                    <a:pt x="2907919" y="210185"/>
                  </a:lnTo>
                  <a:lnTo>
                    <a:pt x="2948178" y="230759"/>
                  </a:lnTo>
                  <a:lnTo>
                    <a:pt x="2987802" y="252349"/>
                  </a:lnTo>
                  <a:lnTo>
                    <a:pt x="3027045" y="274700"/>
                  </a:lnTo>
                  <a:lnTo>
                    <a:pt x="3065653" y="297814"/>
                  </a:lnTo>
                  <a:lnTo>
                    <a:pt x="3103626" y="321817"/>
                  </a:lnTo>
                  <a:lnTo>
                    <a:pt x="3141091" y="346710"/>
                  </a:lnTo>
                  <a:lnTo>
                    <a:pt x="3177921" y="372363"/>
                  </a:lnTo>
                  <a:lnTo>
                    <a:pt x="3214116" y="398779"/>
                  </a:lnTo>
                  <a:lnTo>
                    <a:pt x="3249803" y="426085"/>
                  </a:lnTo>
                  <a:lnTo>
                    <a:pt x="3284854" y="454025"/>
                  </a:lnTo>
                  <a:lnTo>
                    <a:pt x="3319145" y="482853"/>
                  </a:lnTo>
                  <a:lnTo>
                    <a:pt x="3352800" y="512317"/>
                  </a:lnTo>
                  <a:lnTo>
                    <a:pt x="3385820" y="542544"/>
                  </a:lnTo>
                  <a:lnTo>
                    <a:pt x="3418204" y="573532"/>
                  </a:lnTo>
                  <a:lnTo>
                    <a:pt x="3449828" y="605154"/>
                  </a:lnTo>
                  <a:lnTo>
                    <a:pt x="3480816" y="637539"/>
                  </a:lnTo>
                  <a:lnTo>
                    <a:pt x="3511042" y="670560"/>
                  </a:lnTo>
                  <a:lnTo>
                    <a:pt x="3540505" y="704214"/>
                  </a:lnTo>
                  <a:lnTo>
                    <a:pt x="3569334" y="738504"/>
                  </a:lnTo>
                  <a:lnTo>
                    <a:pt x="3597275" y="773557"/>
                  </a:lnTo>
                  <a:lnTo>
                    <a:pt x="3624579" y="809244"/>
                  </a:lnTo>
                  <a:lnTo>
                    <a:pt x="3650996" y="845438"/>
                  </a:lnTo>
                  <a:lnTo>
                    <a:pt x="3676650" y="882269"/>
                  </a:lnTo>
                  <a:lnTo>
                    <a:pt x="3701542" y="919734"/>
                  </a:lnTo>
                  <a:lnTo>
                    <a:pt x="3725545" y="957707"/>
                  </a:lnTo>
                  <a:lnTo>
                    <a:pt x="3748658" y="996314"/>
                  </a:lnTo>
                  <a:lnTo>
                    <a:pt x="3771010" y="1035558"/>
                  </a:lnTo>
                  <a:lnTo>
                    <a:pt x="3792601" y="1075182"/>
                  </a:lnTo>
                  <a:lnTo>
                    <a:pt x="3813175" y="1115440"/>
                  </a:lnTo>
                  <a:lnTo>
                    <a:pt x="3832859" y="1156208"/>
                  </a:lnTo>
                  <a:lnTo>
                    <a:pt x="3851782" y="1197356"/>
                  </a:lnTo>
                  <a:lnTo>
                    <a:pt x="3869690" y="1239139"/>
                  </a:lnTo>
                  <a:lnTo>
                    <a:pt x="3886707" y="1281302"/>
                  </a:lnTo>
                  <a:lnTo>
                    <a:pt x="3902709" y="1323975"/>
                  </a:lnTo>
                  <a:lnTo>
                    <a:pt x="3917950" y="1367154"/>
                  </a:lnTo>
                  <a:lnTo>
                    <a:pt x="3932047" y="1410715"/>
                  </a:lnTo>
                  <a:lnTo>
                    <a:pt x="3945254" y="1454785"/>
                  </a:lnTo>
                  <a:lnTo>
                    <a:pt x="3957447" y="1499108"/>
                  </a:lnTo>
                  <a:lnTo>
                    <a:pt x="3968750" y="1543939"/>
                  </a:lnTo>
                  <a:lnTo>
                    <a:pt x="3978909" y="1589151"/>
                  </a:lnTo>
                  <a:lnTo>
                    <a:pt x="3988054" y="1634744"/>
                  </a:lnTo>
                  <a:lnTo>
                    <a:pt x="3996308" y="1680718"/>
                  </a:lnTo>
                  <a:lnTo>
                    <a:pt x="4003421" y="1727073"/>
                  </a:lnTo>
                  <a:lnTo>
                    <a:pt x="4009389" y="1773682"/>
                  </a:lnTo>
                  <a:lnTo>
                    <a:pt x="4014470" y="1820672"/>
                  </a:lnTo>
                  <a:lnTo>
                    <a:pt x="4018279" y="1868043"/>
                  </a:lnTo>
                  <a:lnTo>
                    <a:pt x="4021074" y="1915668"/>
                  </a:lnTo>
                  <a:lnTo>
                    <a:pt x="4022852" y="1963547"/>
                  </a:lnTo>
                  <a:lnTo>
                    <a:pt x="4023359" y="2011680"/>
                  </a:lnTo>
                  <a:lnTo>
                    <a:pt x="4022852" y="2059813"/>
                  </a:lnTo>
                  <a:lnTo>
                    <a:pt x="4021074" y="2107692"/>
                  </a:lnTo>
                  <a:lnTo>
                    <a:pt x="4018279" y="2155317"/>
                  </a:lnTo>
                  <a:lnTo>
                    <a:pt x="4014470" y="2202688"/>
                  </a:lnTo>
                  <a:lnTo>
                    <a:pt x="4009389" y="2249678"/>
                  </a:lnTo>
                  <a:lnTo>
                    <a:pt x="4003421" y="2296287"/>
                  </a:lnTo>
                  <a:lnTo>
                    <a:pt x="3996308" y="2342642"/>
                  </a:lnTo>
                  <a:lnTo>
                    <a:pt x="3988054" y="2388616"/>
                  </a:lnTo>
                  <a:lnTo>
                    <a:pt x="3978909" y="2434209"/>
                  </a:lnTo>
                  <a:lnTo>
                    <a:pt x="3968750" y="2479421"/>
                  </a:lnTo>
                  <a:lnTo>
                    <a:pt x="3957447" y="2524252"/>
                  </a:lnTo>
                  <a:lnTo>
                    <a:pt x="3945254" y="2568575"/>
                  </a:lnTo>
                  <a:lnTo>
                    <a:pt x="3932047" y="2612644"/>
                  </a:lnTo>
                  <a:lnTo>
                    <a:pt x="3917950" y="2656205"/>
                  </a:lnTo>
                  <a:lnTo>
                    <a:pt x="3902709" y="2699385"/>
                  </a:lnTo>
                  <a:lnTo>
                    <a:pt x="3886707" y="2742057"/>
                  </a:lnTo>
                  <a:lnTo>
                    <a:pt x="3869690" y="2784221"/>
                  </a:lnTo>
                  <a:lnTo>
                    <a:pt x="3851782" y="2826004"/>
                  </a:lnTo>
                  <a:lnTo>
                    <a:pt x="3832859" y="2867152"/>
                  </a:lnTo>
                  <a:lnTo>
                    <a:pt x="3813175" y="2907919"/>
                  </a:lnTo>
                  <a:lnTo>
                    <a:pt x="3792601" y="2948178"/>
                  </a:lnTo>
                  <a:lnTo>
                    <a:pt x="3771010" y="2987802"/>
                  </a:lnTo>
                  <a:lnTo>
                    <a:pt x="3748658" y="3027045"/>
                  </a:lnTo>
                  <a:lnTo>
                    <a:pt x="3725545" y="3065653"/>
                  </a:lnTo>
                  <a:lnTo>
                    <a:pt x="3701542" y="3103626"/>
                  </a:lnTo>
                  <a:lnTo>
                    <a:pt x="3676650" y="3141091"/>
                  </a:lnTo>
                  <a:lnTo>
                    <a:pt x="3650996" y="3177921"/>
                  </a:lnTo>
                  <a:lnTo>
                    <a:pt x="3624579" y="3214116"/>
                  </a:lnTo>
                  <a:lnTo>
                    <a:pt x="3597275" y="3249803"/>
                  </a:lnTo>
                  <a:lnTo>
                    <a:pt x="3569334" y="3284854"/>
                  </a:lnTo>
                  <a:lnTo>
                    <a:pt x="3540505" y="3319145"/>
                  </a:lnTo>
                  <a:lnTo>
                    <a:pt x="3511042" y="3352800"/>
                  </a:lnTo>
                  <a:lnTo>
                    <a:pt x="3480816" y="3385820"/>
                  </a:lnTo>
                  <a:lnTo>
                    <a:pt x="3449828" y="3418204"/>
                  </a:lnTo>
                  <a:lnTo>
                    <a:pt x="3418204" y="3449828"/>
                  </a:lnTo>
                  <a:lnTo>
                    <a:pt x="3385820" y="3480816"/>
                  </a:lnTo>
                  <a:lnTo>
                    <a:pt x="3352800" y="3511042"/>
                  </a:lnTo>
                  <a:lnTo>
                    <a:pt x="3319145" y="3540556"/>
                  </a:lnTo>
                  <a:lnTo>
                    <a:pt x="3284854" y="3569309"/>
                  </a:lnTo>
                  <a:lnTo>
                    <a:pt x="3249803" y="3597313"/>
                  </a:lnTo>
                  <a:lnTo>
                    <a:pt x="3214116" y="3624541"/>
                  </a:lnTo>
                  <a:lnTo>
                    <a:pt x="3177921" y="3650983"/>
                  </a:lnTo>
                  <a:lnTo>
                    <a:pt x="3141091" y="3676637"/>
                  </a:lnTo>
                  <a:lnTo>
                    <a:pt x="3103626" y="3701478"/>
                  </a:lnTo>
                  <a:lnTo>
                    <a:pt x="3065653" y="3725506"/>
                  </a:lnTo>
                  <a:lnTo>
                    <a:pt x="3027045" y="3748697"/>
                  </a:lnTo>
                  <a:lnTo>
                    <a:pt x="2987802" y="3771049"/>
                  </a:lnTo>
                  <a:lnTo>
                    <a:pt x="2948178" y="3792537"/>
                  </a:lnTo>
                  <a:lnTo>
                    <a:pt x="2907919" y="3813149"/>
                  </a:lnTo>
                  <a:lnTo>
                    <a:pt x="2867152" y="3832885"/>
                  </a:lnTo>
                  <a:lnTo>
                    <a:pt x="2826004" y="3851732"/>
                  </a:lnTo>
                  <a:lnTo>
                    <a:pt x="2784221" y="3869664"/>
                  </a:lnTo>
                  <a:lnTo>
                    <a:pt x="2742057" y="3886682"/>
                  </a:lnTo>
                  <a:lnTo>
                    <a:pt x="2699385" y="3902760"/>
                  </a:lnTo>
                  <a:lnTo>
                    <a:pt x="2656205" y="3917886"/>
                  </a:lnTo>
                  <a:lnTo>
                    <a:pt x="2612644" y="3932059"/>
                  </a:lnTo>
                  <a:lnTo>
                    <a:pt x="2568575" y="3945267"/>
                  </a:lnTo>
                  <a:lnTo>
                    <a:pt x="2524252" y="3957485"/>
                  </a:lnTo>
                  <a:lnTo>
                    <a:pt x="2479421" y="3968711"/>
                  </a:lnTo>
                  <a:lnTo>
                    <a:pt x="2434209" y="3978922"/>
                  </a:lnTo>
                  <a:lnTo>
                    <a:pt x="2388616" y="3988117"/>
                  </a:lnTo>
                  <a:lnTo>
                    <a:pt x="2342642" y="3996270"/>
                  </a:lnTo>
                  <a:lnTo>
                    <a:pt x="2296287" y="4003382"/>
                  </a:lnTo>
                  <a:lnTo>
                    <a:pt x="2249678" y="4009428"/>
                  </a:lnTo>
                  <a:lnTo>
                    <a:pt x="2202688" y="4014406"/>
                  </a:lnTo>
                  <a:lnTo>
                    <a:pt x="2155317" y="4018305"/>
                  </a:lnTo>
                  <a:lnTo>
                    <a:pt x="2107692" y="4021112"/>
                  </a:lnTo>
                  <a:lnTo>
                    <a:pt x="2059813" y="4022788"/>
                  </a:lnTo>
                  <a:lnTo>
                    <a:pt x="2011680" y="4023360"/>
                  </a:lnTo>
                  <a:lnTo>
                    <a:pt x="1963546" y="4022788"/>
                  </a:lnTo>
                  <a:lnTo>
                    <a:pt x="1915668" y="4021112"/>
                  </a:lnTo>
                  <a:lnTo>
                    <a:pt x="1868043" y="4018305"/>
                  </a:lnTo>
                  <a:lnTo>
                    <a:pt x="1820671" y="4014406"/>
                  </a:lnTo>
                  <a:lnTo>
                    <a:pt x="1773682" y="4009428"/>
                  </a:lnTo>
                  <a:lnTo>
                    <a:pt x="1727072" y="4003382"/>
                  </a:lnTo>
                  <a:lnTo>
                    <a:pt x="1680718" y="3996270"/>
                  </a:lnTo>
                  <a:lnTo>
                    <a:pt x="1634744" y="3988117"/>
                  </a:lnTo>
                  <a:lnTo>
                    <a:pt x="1589151" y="3978922"/>
                  </a:lnTo>
                  <a:lnTo>
                    <a:pt x="1543939" y="3968711"/>
                  </a:lnTo>
                  <a:lnTo>
                    <a:pt x="1499108" y="3957485"/>
                  </a:lnTo>
                  <a:lnTo>
                    <a:pt x="1454784" y="3945267"/>
                  </a:lnTo>
                  <a:lnTo>
                    <a:pt x="1410716" y="3932059"/>
                  </a:lnTo>
                  <a:lnTo>
                    <a:pt x="1367155" y="3917886"/>
                  </a:lnTo>
                  <a:lnTo>
                    <a:pt x="1323975" y="3902760"/>
                  </a:lnTo>
                  <a:lnTo>
                    <a:pt x="1281303" y="3886682"/>
                  </a:lnTo>
                  <a:lnTo>
                    <a:pt x="1239139" y="3869664"/>
                  </a:lnTo>
                  <a:lnTo>
                    <a:pt x="1197356" y="3851732"/>
                  </a:lnTo>
                  <a:lnTo>
                    <a:pt x="1156208" y="3832885"/>
                  </a:lnTo>
                  <a:lnTo>
                    <a:pt x="1115441" y="3813149"/>
                  </a:lnTo>
                  <a:lnTo>
                    <a:pt x="1075182" y="3792537"/>
                  </a:lnTo>
                  <a:lnTo>
                    <a:pt x="1035557" y="3771049"/>
                  </a:lnTo>
                  <a:lnTo>
                    <a:pt x="996315" y="3748697"/>
                  </a:lnTo>
                  <a:lnTo>
                    <a:pt x="957707" y="3725506"/>
                  </a:lnTo>
                  <a:lnTo>
                    <a:pt x="919733" y="3701478"/>
                  </a:lnTo>
                  <a:lnTo>
                    <a:pt x="882269" y="3676637"/>
                  </a:lnTo>
                  <a:lnTo>
                    <a:pt x="845439" y="3650983"/>
                  </a:lnTo>
                  <a:lnTo>
                    <a:pt x="809244" y="3624541"/>
                  </a:lnTo>
                  <a:lnTo>
                    <a:pt x="773557" y="3597313"/>
                  </a:lnTo>
                  <a:lnTo>
                    <a:pt x="738505" y="3569309"/>
                  </a:lnTo>
                  <a:lnTo>
                    <a:pt x="704215" y="3540556"/>
                  </a:lnTo>
                  <a:lnTo>
                    <a:pt x="670560" y="3511042"/>
                  </a:lnTo>
                  <a:lnTo>
                    <a:pt x="637540" y="3480816"/>
                  </a:lnTo>
                  <a:lnTo>
                    <a:pt x="605155" y="3449828"/>
                  </a:lnTo>
                  <a:lnTo>
                    <a:pt x="573532" y="3418204"/>
                  </a:lnTo>
                  <a:lnTo>
                    <a:pt x="542544" y="3385820"/>
                  </a:lnTo>
                  <a:lnTo>
                    <a:pt x="512318" y="3352800"/>
                  </a:lnTo>
                  <a:lnTo>
                    <a:pt x="482854" y="3319145"/>
                  </a:lnTo>
                  <a:lnTo>
                    <a:pt x="454025" y="3284854"/>
                  </a:lnTo>
                  <a:lnTo>
                    <a:pt x="426085" y="3249803"/>
                  </a:lnTo>
                  <a:lnTo>
                    <a:pt x="398780" y="3214116"/>
                  </a:lnTo>
                  <a:lnTo>
                    <a:pt x="372363" y="3177921"/>
                  </a:lnTo>
                  <a:lnTo>
                    <a:pt x="346710" y="3141091"/>
                  </a:lnTo>
                  <a:lnTo>
                    <a:pt x="321818" y="3103626"/>
                  </a:lnTo>
                  <a:lnTo>
                    <a:pt x="297815" y="3065653"/>
                  </a:lnTo>
                  <a:lnTo>
                    <a:pt x="274700" y="3027045"/>
                  </a:lnTo>
                  <a:lnTo>
                    <a:pt x="252349" y="2987802"/>
                  </a:lnTo>
                  <a:lnTo>
                    <a:pt x="230759" y="2948178"/>
                  </a:lnTo>
                  <a:lnTo>
                    <a:pt x="210185" y="2907919"/>
                  </a:lnTo>
                  <a:lnTo>
                    <a:pt x="190500" y="2867152"/>
                  </a:lnTo>
                  <a:lnTo>
                    <a:pt x="171577" y="2826004"/>
                  </a:lnTo>
                  <a:lnTo>
                    <a:pt x="153669" y="2784221"/>
                  </a:lnTo>
                  <a:lnTo>
                    <a:pt x="136652" y="2742057"/>
                  </a:lnTo>
                  <a:lnTo>
                    <a:pt x="120650" y="2699385"/>
                  </a:lnTo>
                  <a:lnTo>
                    <a:pt x="105410" y="2656205"/>
                  </a:lnTo>
                  <a:lnTo>
                    <a:pt x="91312" y="2612644"/>
                  </a:lnTo>
                  <a:lnTo>
                    <a:pt x="78105" y="2568575"/>
                  </a:lnTo>
                  <a:lnTo>
                    <a:pt x="65912" y="2524252"/>
                  </a:lnTo>
                  <a:lnTo>
                    <a:pt x="54610" y="2479421"/>
                  </a:lnTo>
                  <a:lnTo>
                    <a:pt x="44450" y="2434209"/>
                  </a:lnTo>
                  <a:lnTo>
                    <a:pt x="35306" y="2388616"/>
                  </a:lnTo>
                  <a:lnTo>
                    <a:pt x="27050" y="2342642"/>
                  </a:lnTo>
                  <a:lnTo>
                    <a:pt x="19938" y="2296287"/>
                  </a:lnTo>
                  <a:lnTo>
                    <a:pt x="13969" y="2249678"/>
                  </a:lnTo>
                  <a:lnTo>
                    <a:pt x="8890" y="2202688"/>
                  </a:lnTo>
                  <a:lnTo>
                    <a:pt x="5080" y="2155317"/>
                  </a:lnTo>
                  <a:lnTo>
                    <a:pt x="2286" y="2107692"/>
                  </a:lnTo>
                  <a:lnTo>
                    <a:pt x="507" y="2059813"/>
                  </a:lnTo>
                  <a:lnTo>
                    <a:pt x="0" y="2011680"/>
                  </a:lnTo>
                  <a:close/>
                </a:path>
              </a:pathLst>
            </a:custGeom>
            <a:ln w="12700">
              <a:solidFill>
                <a:srgbClr val="0891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45054" y="1237615"/>
            <a:ext cx="34461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dirty="0">
                <a:solidFill>
                  <a:srgbClr val="FFFFFF"/>
                </a:solidFill>
              </a:rPr>
              <a:t>Thank</a:t>
            </a:r>
            <a:r>
              <a:rPr sz="5200" spc="-30" dirty="0">
                <a:solidFill>
                  <a:srgbClr val="FFFFFF"/>
                </a:solidFill>
              </a:rPr>
              <a:t> </a:t>
            </a:r>
            <a:r>
              <a:rPr sz="5200" spc="-20" dirty="0">
                <a:solidFill>
                  <a:srgbClr val="FFFFFF"/>
                </a:solidFill>
              </a:rPr>
              <a:t>You!</a:t>
            </a:r>
            <a:endParaRPr sz="5200"/>
          </a:p>
        </p:txBody>
      </p:sp>
      <p:sp>
        <p:nvSpPr>
          <p:cNvPr id="11" name="object 11"/>
          <p:cNvSpPr txBox="1"/>
          <p:nvPr/>
        </p:nvSpPr>
        <p:spPr>
          <a:xfrm>
            <a:off x="2839339" y="2276297"/>
            <a:ext cx="3442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4B6D2"/>
                </a:solidFill>
                <a:latin typeface="Times New Roman"/>
                <a:cs typeface="Times New Roman"/>
              </a:rPr>
              <a:t>Enterprise</a:t>
            </a:r>
            <a:r>
              <a:rPr sz="1600" spc="-5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4B6D2"/>
                </a:solidFill>
                <a:latin typeface="Times New Roman"/>
                <a:cs typeface="Times New Roman"/>
              </a:rPr>
              <a:t>Inventory</a:t>
            </a:r>
            <a:r>
              <a:rPr sz="1600" spc="-80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4B6D2"/>
                </a:solidFill>
                <a:latin typeface="Times New Roman"/>
                <a:cs typeface="Times New Roman"/>
              </a:rPr>
              <a:t>Management</a:t>
            </a:r>
            <a:r>
              <a:rPr sz="1600" spc="5" dirty="0">
                <a:solidFill>
                  <a:srgbClr val="04B6D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4B6D2"/>
                </a:solidFill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94050" y="2874010"/>
            <a:ext cx="2755900" cy="58419"/>
            <a:chOff x="3194050" y="2874010"/>
            <a:chExt cx="2755900" cy="58419"/>
          </a:xfrm>
        </p:grpSpPr>
        <p:sp>
          <p:nvSpPr>
            <p:cNvPr id="13" name="object 13"/>
            <p:cNvSpPr/>
            <p:nvPr/>
          </p:nvSpPr>
          <p:spPr>
            <a:xfrm>
              <a:off x="3200400" y="2880360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27432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2743200" y="45719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59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400" y="2880360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0" y="45719"/>
                  </a:moveTo>
                  <a:lnTo>
                    <a:pt x="2743200" y="4571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59E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03575" y="3245866"/>
            <a:ext cx="271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9E09"/>
                </a:solidFill>
                <a:latin typeface="Times New Roman"/>
                <a:cs typeface="Times New Roman"/>
              </a:rPr>
              <a:t>Questions</a:t>
            </a:r>
            <a:r>
              <a:rPr sz="1500" b="1" spc="-65" dirty="0">
                <a:solidFill>
                  <a:srgbClr val="F59E09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59E09"/>
                </a:solidFill>
                <a:latin typeface="Times New Roman"/>
                <a:cs typeface="Times New Roman"/>
              </a:rPr>
              <a:t>&amp;</a:t>
            </a:r>
            <a:r>
              <a:rPr sz="1500" b="1" spc="-25" dirty="0">
                <a:solidFill>
                  <a:srgbClr val="F59E09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Discussion</a:t>
            </a:r>
            <a:r>
              <a:rPr sz="1500" b="1" spc="-50" dirty="0">
                <a:solidFill>
                  <a:srgbClr val="F59E09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59E09"/>
                </a:solidFill>
                <a:latin typeface="Times New Roman"/>
                <a:cs typeface="Times New Roman"/>
              </a:rPr>
              <a:t>Welcome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2191</Words>
  <Application>Microsoft Office PowerPoint</Application>
  <PresentationFormat>On-screen Show (16:9)</PresentationFormat>
  <Paragraphs>445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Calibri</vt:lpstr>
      <vt:lpstr>Times New Roman</vt:lpstr>
      <vt:lpstr>Office Theme</vt:lpstr>
      <vt:lpstr>Inventory Management System</vt:lpstr>
      <vt:lpstr>Table of Contents</vt:lpstr>
      <vt:lpstr>Introduction</vt:lpstr>
      <vt:lpstr>Problem Statement</vt:lpstr>
      <vt:lpstr>Why Build This Project?</vt:lpstr>
      <vt:lpstr>Technology Stack Tools, Frameworks &amp; Libraries Used</vt:lpstr>
      <vt:lpstr>Role of Each Technology</vt:lpstr>
      <vt:lpstr>Architecture Type</vt:lpstr>
      <vt:lpstr>System Architecture Diagram End-to-End System Communication Flow</vt:lpstr>
      <vt:lpstr>Layered Architecture</vt:lpstr>
      <vt:lpstr>Controller Layer</vt:lpstr>
      <vt:lpstr>Service Layer</vt:lpstr>
      <vt:lpstr>Transaction Service Module ACID Compliance, @Transactional Behavior &amp; Rollback Strategy</vt:lpstr>
      <vt:lpstr>Execution Flow Step-by-Step Request → Response Journey Through the System</vt:lpstr>
      <vt:lpstr>Why This Approach?</vt:lpstr>
      <vt:lpstr>Project Achievements &amp; Outcomes What Was Delivered &amp; What Was Learned</vt:lpstr>
      <vt:lpstr>Real-World Applications</vt:lpstr>
      <vt:lpstr>Conclusion Summary, Learnings &amp; Future Roadmap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Inventory Management System</dc:title>
  <dc:subject>Inventory Presentation</dc:subject>
  <dc:creator>Vikram Kumar</dc:creator>
  <cp:lastModifiedBy>SAI KUMAR</cp:lastModifiedBy>
  <cp:revision>1</cp:revision>
  <dcterms:created xsi:type="dcterms:W3CDTF">2026-03-26T16:12:51Z</dcterms:created>
  <dcterms:modified xsi:type="dcterms:W3CDTF">2026-03-26T16:14:35Z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2026-03-26T00:00:00Z</vt:filetime>
  </property>
  <property fmtid="{D5CDD505-2E9C-101B-9397-08002B2CF9AE}" pid="5" name="Producer">
    <vt:lpwstr>Microsoft® PowerPoint® 2019</vt:lpwstr>
  </property>
</Properties>
</file>